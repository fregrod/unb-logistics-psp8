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9601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UNIVERSIDADE DE BRASÍLIA • ENGENHARIA DE PRODUÇÃO • PSP8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98755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Sistema de Apoio à Decisão para</a:t>
            </a:r>
            <a:br/>
            <a:r>
              <a:t>Otimização Logística no E-Commerce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93192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Arial"/>
              </a:defRPr>
            </a:pPr>
            <a:r>
              <a:t>Diagnóstico de Lead Time, Custos de Frete e Nível de Serviço (CSAT)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663440"/>
            <a:ext cx="99669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937760"/>
            <a:ext cx="96012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Autor: Rodrigo Fregonasse  |  Professor: Dr. André Luiz Marques Serrano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Faculdade de Tecnologia • Campus Darcy Ribeiro • Brasília, 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CONTEXTO &amp; JUSTIFICATIVA DE ENGENHARIA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O Desafio Crítico do Last-Mile Delivery no Brasil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11680"/>
            <a:ext cx="2688336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4400" b="1">
                <a:solidFill>
                  <a:srgbClr val="2563EB"/>
                </a:solidFill>
                <a:latin typeface="Arial"/>
              </a:defRPr>
            </a:pPr>
            <a:r>
              <a:t>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34640"/>
            <a:ext cx="2688336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Custo Logístico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291840"/>
            <a:ext cx="2688336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A entrega final ao consumidor consome de 40% a 53% do custo logístico de toda a cadeia de e-commerce.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28416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011680"/>
            <a:ext cx="2688336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4400" b="1">
                <a:solidFill>
                  <a:srgbClr val="2563EB"/>
                </a:solidFill>
                <a:latin typeface="Arial"/>
              </a:defRPr>
            </a:pPr>
            <a:r>
              <a:t>70%+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834640"/>
            <a:ext cx="2688336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Concentração Geográfica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291840"/>
            <a:ext cx="2688336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A imensa maioria dos centros de distribuição e vendedores está concentrada no eixo Sul-Sudeste.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28416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011680"/>
            <a:ext cx="2688336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4400" b="1">
                <a:solidFill>
                  <a:srgbClr val="2563EB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34640"/>
            <a:ext cx="2688336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Malha Rodoviária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291840"/>
            <a:ext cx="2688336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Dependência quase exclusiva do modal rodoviário para cobrir distâncias continentais em malha vulnerável.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12080"/>
            <a:ext cx="10698480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49240"/>
            <a:ext cx="10149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Dor Gerencial: Prazos inflacionados ou estourados provocam cancelamentos, sobrecarga no SAC e destruição imediata da reputação (churn de clientes).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METODOLOGIA &amp; DIRETRIZES DO EDITAL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As Três Dimensões do MVP de Apoio à Decisão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65960"/>
            <a:ext cx="2688336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423160"/>
            <a:ext cx="2688336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Viabilidade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34640"/>
            <a:ext cx="268833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A solução pode ser construída?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37560"/>
            <a:ext cx="2688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Arial"/>
              </a:defRPr>
            </a:pPr>
            <a:r>
              <a:t>• Databricks Lakehouse na nuvem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Arial"/>
              </a:defRPr>
            </a:pPr>
            <a:r>
              <a:t>• Processamento distribuído PySpark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Arial"/>
              </a:defRPr>
            </a:pPr>
            <a:r>
              <a:t>• Delta Lake com transações ACID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Arial"/>
              </a:defRPr>
            </a:pPr>
            <a:r>
              <a:t>• Modelagem Estrela de Ralph Kimball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965960"/>
            <a:ext cx="2688336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423160"/>
            <a:ext cx="2688336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Viabilidade Financeira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834640"/>
            <a:ext cx="268833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A solução é sustentável?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337560"/>
            <a:ext cx="2688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Arial"/>
              </a:defRPr>
            </a:pPr>
            <a:r>
              <a:t>• Custo zero no Databricks Community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Arial"/>
              </a:defRPr>
            </a:pPr>
            <a:r>
              <a:t>• ~US$ 3,00 / mês em nuvem corporativa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Arial"/>
              </a:defRPr>
            </a:pPr>
            <a:r>
              <a:t>• Cluster spot em micro-lotes diários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Arial"/>
              </a:defRPr>
            </a:pPr>
            <a:r>
              <a:t>• ROI comprovado na retenção de clientes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965960"/>
            <a:ext cx="2688336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423160"/>
            <a:ext cx="2688336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Desejabilidade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834640"/>
            <a:ext cx="268833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Resolve o problema real?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337560"/>
            <a:ext cx="2688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Arial"/>
              </a:defRPr>
            </a:pPr>
            <a:r>
              <a:t>• 5 perguntas formuladas a priori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Arial"/>
              </a:defRPr>
            </a:pPr>
            <a:r>
              <a:t>• Decisões práticas de Engenharia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Arial"/>
              </a:defRPr>
            </a:pPr>
            <a:r>
              <a:t>• Foco na satisfação do consumidor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Arial"/>
              </a:defRPr>
            </a:pPr>
            <a:r>
              <a:t>• Simulação matemática de CSAT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ENGENHARIA DE DADOS &amp; NUVEM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Arquitetura Lakehouse Medalhão &amp; Esquema Estrela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Camada Bronze (Raw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Ingestão bruta dos microdados da Olist (112k itens) via kagglehub no DBFS / Workspace do Databricks em formato Delta original.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512064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Camada Silver (Conformed)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Limpeza rigorosa de timestamps, tipagem de datas, filtro de pedidos entregues (96.470 ordens) e deduplicação de avaliações pelo registro mais recente.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512064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4632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Camada Gold (Star Schema)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16636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Tabela Fato Entregas (110.189 itens) pré-calculando Lead Time real, desvios e frete + 5 Dimensões Conformes (Clientes, Vendedores, Produtos, Rotas e Tempo).</a:t>
            </a:r>
          </a:p>
        </p:txBody>
      </p:sp>
      <p:pic>
        <p:nvPicPr>
          <p:cNvPr id="13" name="Picture 12" descr="02_execucao_pipeline_etl_nuv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303520" cy="2915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PERGUNTA DE NEGÓCIO 1 • DISPARIDADE REGIONAL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O Abismo Logístico no Tempo de Entrega entre Regiões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35661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Arial"/>
              </a:defRPr>
            </a:pPr>
            <a:r>
              <a:t>10,7 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Sudeste: Menor Lead Time: Mediana de 8,7 dias e taxa de atraso de 7,2% graças à proximidade com os hubs de distribuição.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41148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35661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22,6 dias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0332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Norte: Mais que o Dobro: Mediana de 20,1 dias; malha com restrições severas de transporte e dependência fluvial/aérea.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41148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00600"/>
            <a:ext cx="35661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DC2626"/>
                </a:solidFill>
                <a:latin typeface="Arial"/>
              </a:defRPr>
            </a:pPr>
            <a:r>
              <a:t>14,3%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Nordeste: Gargalo Crítico: Maior taxa de atraso do Brasil: 1 em cada 7 pedidos para o Nordeste chega fora do prazo prometido.</a:t>
            </a:r>
          </a:p>
        </p:txBody>
      </p:sp>
      <p:pic>
        <p:nvPicPr>
          <p:cNvPr id="13" name="Picture 12" descr="01_disparidade_regional_lead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24943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PERGUNTA DE NEGÓCIO 2 • CUSTO RELATIVO DE FRETE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Frete Desproporcional Dobra a Insatisfação do Cliente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35661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DC2626"/>
                </a:solidFill>
                <a:latin typeface="Arial"/>
              </a:defRPr>
            </a:pPr>
            <a:r>
              <a:t>19,5%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Detratores com Frete Alto: Quando o frete ultrapassa 100% do preço do produto, a taxa de notas 1 e 2 quase dobra.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41148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35661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Arial"/>
              </a:defRPr>
            </a:pPr>
            <a:r>
              <a:t>2x mais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0332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Intolerância do Consumidor: Quem paga caro no frete torna-se altamente intolerante a qualquer atraso de entrega.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41148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00600"/>
            <a:ext cx="35661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3,89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Queda na Nota Média: O score médio cai de 4,14 (frete leve &lt;10%) para 3,89 (quando frete supera o preço).</a:t>
            </a:r>
          </a:p>
        </p:txBody>
      </p:sp>
      <p:pic>
        <p:nvPicPr>
          <p:cNvPr id="13" name="Picture 12" descr="03_burden_frete_vs_satisf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37360"/>
            <a:ext cx="6309360" cy="31202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PERGUNTA DE NEGÓCIO 3 • CARACTERÍSTICAS DA CARGA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Cargas Pesadas e Volumosas Lideram os Atrasos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35661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DC2626"/>
                </a:solidFill>
                <a:latin typeface="Arial"/>
              </a:defRPr>
            </a:pPr>
            <a:r>
              <a:t>8,9%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Móveis de Escritório: Liderança em atrasos operacionais com peso médio de 11,3 kg por item expedido.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41148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35661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Arial"/>
              </a:defRPr>
            </a:pPr>
            <a:r>
              <a:t>Carga Pesada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0332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Gargalo Estrutural: Transportadoras comuns de e-commerce falham no manuseio de carga fracionada pesada.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41148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00600"/>
            <a:ext cx="35661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+14 dias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Penalidade de Peso: Itens muito pesados (&gt;15kg) levam em média 14 dias a mais que itens leves (&lt;1kg).</a:t>
            </a:r>
          </a:p>
        </p:txBody>
      </p:sp>
      <p:pic>
        <p:nvPicPr>
          <p:cNvPr id="13" name="Picture 12" descr="04_top_categorias_atra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36674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PERGUNTA DE NEGÓCIO 4 • MALHA DE TRANSPORTE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A Fronteira Interestadual Dobra o Risco de Atrasos Críticos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35661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16A34A"/>
                </a:solidFill>
                <a:latin typeface="Arial"/>
              </a:defRPr>
            </a:pPr>
            <a:r>
              <a:t>3,7%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Rotas Intraestaduais: Apenas 3,7% de atrasos graves (&gt;48h) com frete médio baixo de R$ 13,50.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41148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35661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DC2626"/>
                </a:solidFill>
                <a:latin typeface="Arial"/>
              </a:defRPr>
            </a:pPr>
            <a:r>
              <a:t>7,7%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0332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Rotas Interestaduais: Atrasos graves dobram ao cruzar fronteiras estaduais, com frete saltando para R$ 26,00.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41148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00600"/>
            <a:ext cx="35661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Arial"/>
              </a:defRPr>
            </a:pPr>
            <a:r>
              <a:t>2x Risco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Fragilidade de Malha: Inter-regionais sofrem com retenções em postos fiscais, transbordo e malha rodoviária precária.</a:t>
            </a:r>
          </a:p>
        </p:txBody>
      </p:sp>
      <p:pic>
        <p:nvPicPr>
          <p:cNvPr id="13" name="Picture 12" descr="05_matriz_rotas_taxa_atra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645920"/>
            <a:ext cx="506960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PERGUNTA DE NEGÓCIO 5 • SATISFAÇÃO DO CONSUMIDOR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Atraso: O Maior Gatilho Isolado de Detratação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35661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DC2626"/>
                </a:solidFill>
                <a:latin typeface="Arial"/>
              </a:defRPr>
            </a:pPr>
            <a:r>
              <a:t>5,8x mais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Detratação Explosiva: Clientes com pedidos atrasados tornam-se detratores em 54,1% dos casos (vs. 9,2% no prazo).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41148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35661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2,56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0332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Queda Drástica de Score: A nota média cai de 4,21 estrelas para 2,56 quando a entrega atrasa.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41148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00600"/>
            <a:ext cx="35661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Arial"/>
              </a:defRPr>
            </a:pPr>
            <a:r>
              <a:t>Alavanca 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Retenção de Clientes: Entregar no prazo prometido é o fator mais decisivo para a sustentabilidade da marca.</a:t>
            </a:r>
          </a:p>
        </p:txBody>
      </p:sp>
      <p:pic>
        <p:nvPicPr>
          <p:cNvPr id="13" name="Picture 12" descr="06_impacto_atraso_cs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25008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MODELO MATEMÁTICO • SIMULAÇÃO DE SENSIBILIDADE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O Retorno da Redução de 50% dos Atrasos no CSAT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  <a:latin typeface="Arial"/>
              </a:defRPr>
            </a:pPr>
            <a:r>
              <a:t>+0,064 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Ganho no CSAT Médio Geral: Eleva a pontuação da plataforma de 4,082 para 4,146 com metade dos atrasos eliminados.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6A34A"/>
                </a:solidFill>
                <a:latin typeface="Arial"/>
              </a:defRPr>
            </a:pPr>
            <a:r>
              <a:t>~1.950 clientes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743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Consumidores Resgatados da Detratação: Evita cancelamentos e avaliações destrutivas na base da Olist.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6052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FORMULAÇÃO MATEMÁTICA CONTRAFACTUAL PONDERADA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ourier New"/>
              </a:defRPr>
            </a:pPr>
            <a:r>
              <a:t>S_sim = [ (N_pontuais + 0.5 * N_atrasados) * Score_pontual + (0.5 * N_atrasados) * Score_atrasado ] / N_total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21208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Justificativa para Tomada de Decisão: O modelo prova aos tomadores de decisão que investimentos em descentralização de estoque e SLAs dedicados possuem retorno tangível em retenção de valor da base de clientes.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EXTENSÃO PREDITIVA • INTELIGÊNCIA ARTIFICIAL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Prevenção no Checkout: Classificação de Risco &amp; Dynamic ETA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35661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Arial"/>
              </a:defRPr>
            </a:pPr>
            <a:r>
              <a:t>0,714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ROC-AUC Preditivo: Modelos Random Forest e Gradient Boosting superam o baseline aleatório (0,497) com forte poder discriminatório.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41148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35661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4,96 dias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0332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MAE em Lead Time: Modelo de regressão estima o prazo dinâmico de entrega com erro médio de menos de 5 dias.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41148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00600"/>
            <a:ext cx="35661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16A34A"/>
                </a:solidFill>
                <a:latin typeface="Arial"/>
              </a:defRPr>
            </a:pPr>
            <a:r>
              <a:t>60%+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Atrasos Antecipados: Calibração de threshold (t=0,45) intercepta mais de 60% dos atrasos antes mesmo da expedição.</a:t>
            </a:r>
          </a:p>
        </p:txBody>
      </p:sp>
      <p:pic>
        <p:nvPicPr>
          <p:cNvPr id="13" name="Picture 12" descr="07_comparativo_modelos_ml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920240"/>
            <a:ext cx="6309360" cy="22203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ENGENHARIA DE PRODUÇÃO • DIRETRIZES PRESCRITIVAS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Três Decisões Estratégicas para a Gestão de Operações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11680"/>
            <a:ext cx="26883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26883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Descentralização de Estoques (Fulfillment)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74720"/>
            <a:ext cx="268833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Instalar Centros de Distribuição e incentivar polos expedidores no Nordeste para transformar rotas inter-regionais lentas (20 dias) em intraestaduais ágeis (10 dias).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011680"/>
            <a:ext cx="26883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560320"/>
            <a:ext cx="26883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Operadores Dedicados por Cubagem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474720"/>
            <a:ext cx="268833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Separar produtos pesados (&gt;5 kg) dos fluxos convencionais de correio, contratando transportadoras com frota dedicada a carga fracionada volumosa.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011680"/>
            <a:ext cx="26883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560320"/>
            <a:ext cx="26883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Calibragem Dinâmica de Prazos (ML)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474720"/>
            <a:ext cx="268833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Alimentar o checkout com o modelo preditivo para exibir prazos realistas e alocar modal aéreo preventivo quando o risco de atraso ultrapassar 45%.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ENCERRAMENTO &amp; REPRODUTIBILIDADE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Conclusão e Entrega do MVP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966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✔  Tese Validada com Rigor Científico: Atraso físico é o vetor destrutivo nº 1 da reputação no e-commerce brasileiro (5,8x mais detratores), com severo estrangulamento no Nordeste.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✔  Arquitetura Moderna e Econômica: Pipeline Lakehouse completo no Databricks com Delta Lake, com custo operacional validado em menos de R$ 20/mês para uso produtivo.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✔  Sistema Integrado de Apoio à Decisão: Da ingestão bruta à prescrição com simulação matemática contrafactual e inteligência preditiva no checkout.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9966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Repositório Público no GitHub:</a:t>
            </a:r>
          </a:p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https://github.com/fregrod/unb-logistics-psp8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Universidade de Brasília (UnB) • Departamento de Engenharia de Produção •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