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02EC400-F448-D959-D01F-7D6D3A28F54A}">
          <p14:sldIdLst>
            <p14:sldId id="256"/>
          </p14:sldIdLst>
        </p14:section>
        <p14:section name="Módulo 1 – Fundamentos" id="{2F63424A-BAC6-2C3A-72D4-FF8AB80BEB2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Módulo 2 – Qualidade" id="{5A7788F6-C53E-99CD-B65B-7339CE4DE806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Módulo 3 – Segurança e ética" id="{908AADD8-DF3A-3E92-6544-5A84AEA1A98B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Encerramento" id="{73F61EB0-685A-2F5A-07E4-553776C8FD4A}">
          <p14:sldIdLst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D5DBE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23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Tempo de contratação</c:v>
                </c:pt>
                <c:pt idx="1">
                  <c:v>Retenção 12m</c:v>
                </c:pt>
                <c:pt idx="2">
                  <c:v>Horas de treino</c:v>
                </c:pt>
                <c:pt idx="3">
                  <c:v>Clima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85</c:v>
                </c:pt>
                <c:pt idx="2">
                  <c:v>70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6-4B6D-9A93-6A9AADAAB1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00A9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23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Tempo de contratação</c:v>
                </c:pt>
                <c:pt idx="1">
                  <c:v>Retenção 12m</c:v>
                </c:pt>
                <c:pt idx="2">
                  <c:v>Horas de treino</c:v>
                </c:pt>
                <c:pt idx="3">
                  <c:v>Clima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</c:v>
                </c:pt>
                <c:pt idx="1">
                  <c:v>88</c:v>
                </c:pt>
                <c:pt idx="2">
                  <c:v>55</c:v>
                </c:pt>
                <c:pt idx="3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66-4B6D-9A93-6A9AADAAB1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02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apresentação percorre três aulas: (1) fundamentos de gestão e governança de dados; (2) qualidade de dados; (3) segurança e aspectos éticos. Os anéis da capa representam os três eixos que orbitam o ativo central: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1. Ênfase: termos parecidos, papéis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passagem de 'dado como subproduto de sistema' para 'dado como ativo'. Isso justifica toda a disciplina de gestão e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RH como ponte: os alunos já entendem intuitivamente o que um gerente de RH faz. Depois transferimos o raciocínio para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nasce a governança: a alta direção não executa recrutamento; ela verifica, periodicamente e por indicadores, se o RH apoia a operação e contribui para a estratégia. O gráfico é ilustrativo.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Tabela-resumo. Peça aos alunos exemplos de sua organização para cada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A→B→atividades do material original. A recursividade e a separação de papéis são observações do professor que ajudam a conectar com auditoria 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exemplos do texto-base para gestão: backup e disponibilidade. Para governança, destaque as duas lentes: operação do dia a dia e evolução da maturidade.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do tempo conceitual. O argumento: o aumento de uso dos dados (compartilhamento, fontes externas, self-service BI) multiplicou riscos e responsabilidades.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normas são complementares ao DMBOK: 27000 para segurança, 27701 para privacidade, 25012 para qualidade de dados e 38500 para governança de 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de rigor: a 1ª edição do DAMA-DMBOK é de 2009; o DMBOK2 é de 2017; a DMBOK2 revisada (DMBOK2R) saiu em 2024. Recomende que os alunos citem a edição efetivamente consultada.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é tradicional e iterativo. Destaque o descarte, frequentemente esquecido, e que hoje tem implicação legal (LGPD: término do tratamento, art. 15-16).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Conexão com a prática do cientista da computação: CI/CD de pipelines de dados (DataOps) e de modelos (MLOps: versionamento de dados e modelos, monitoramento de drift).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roda do DMBOK: governança no centro, dez áreas ao redor. Os Módulos 2 e 3 aprofundam qualidade (com metadados e dados de referência/mestre) 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Definições sintéticas, alinhadas ao DAMA-DMBOK2 (o material original remete ao vídeo da aula para esse detalhamento).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Definições sintéticas, alinhadas ao DAMA-DMBOK2 (o material original remete ao vídeo da aula para esse detalhamento).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crítico de muitos projetos de dados: tratar GGD como projeto de ferramenta. É mudança de comportamento e de estrutura.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Releitura do diagrama 'Passos para implementação de GGD'. O ciclo é contínuo: mudanças na estratégia disparam novo alinhamento.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aspecto da implementação. A cascata mostra a propagação: estratégia → áreas → TI → GGD. Quando a estratégia muda, refaz-se o alinhamento.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Análise de gap clássica. Modelos de maturidade (ex.: DAMA DMM, CMMI DMM) podem apoiar a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Distinção essencial para gestão: projetos encerram; processos permanecem. Um projeto bem-sucedido entrega um processo novo ou melhorado.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Mensagem-chave do módulo: ferramenta não é estratégia. As três condições para efetividade estão no rodapé.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pergunta final para debate em pequenos grupos (5 minutos).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2. Três áreas do DMBOK conectadas à qualidade: dados de referência e mestre, metadados e qualidade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2 é provocativa: volume não corrige viés nem erro sistemático; pode até amplificá-los (garbage in, garbage out em escala).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fictícia para ilustrar. Peça que os alunos encontrem os problemas antes de mostrar os critérios.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critérios aparecem em um elemento interativo do material original, não reproduzido no PDF. Esta é uma formulação técnica plausível. Mostre o algoritmo de DV do CPF como exercício de programação.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o elo com o próximo tema: a validação da cidade depende de um dado de referência externo (IBGE).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Enriquecimento acadêmico: o material original fala em critérios; as dimensões são a forma padrão de organizá-los. Atualidade (timeliness) foi incluída como extensão.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de referência externos garantem interoperabilidade. Exemplos do material: classificação de cor/raça do IBGE e códigos ISO de países (alfa-2 e alfa-3).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do material: dados de referência contribuem para a qualidade dos dados-mestre. A camada transacional (abaixo) é acréscimo do professor para situar o conceito.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Slide-âncora: sem metadados não há referência de qualidade. Retome o exemplo do CPF.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Benefício dos metadados de negócio: um glossário único evita que áreas tomem decisões sobre 'o mesmo' dado com significados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elementos aparecem em portais como o dados.gov.br. Relacione chaves aos conceitos do modelo relacional.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Granularidade: uma mesma planilha pode misturar níveis; nesse caso, inclua uma coluna indicando o nível de cada linha. Licença e transformações conectam-se à linhagem.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dos campos da ficha: autor, mantenedor, cobertura temporal, granularidade, periodicidade e vocabulário controlado (VCGE). Sugira que os alunos explorem a página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 central: fitness for use — qualidade é relativa ao uso pretendido pelo consumidor do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de atividades do DMBOK. A analogia com PDCA é do professor e ajuda a fixar o caráter cíclico.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árvore lê-se de baixo para cima no diagnóstico: um número estranho no painel é rastreado até a base integrada, depois até cada origem.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Elementos básicos do PROV: Entidade (documentos, planilhas, tabelas), Atividade (o que transformou) e Agente (quem é responsável). As setas apontam do mais novo para o mais antigo, convenção do PROV. Exemplo construído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Tripé organizacional. Observe que o material classifica pessoas como 'estrutura', processos como 'gestão' e métricas como 'governança'.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de cobertura (percentual definido) e de conhecimento (cultura). Uma extensão natural: métricas de qualidade propriamente ditas, por dimensão (% de CPFs válidos, por exemplo).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do 'Reflita' do material original. Peça respostas em termos de pessoas, processos e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com a tríade CIA (confidencialidade, integridade, disponibilidade): vazamento fere C; sequestro fere D; alteração não autorizada fere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ISO/IEC 27002:2013 (seção 5) enfatiza alinhamento estratégico (governança) e compliance. As três fontes de requisitos são: estratégia, regulação/contratos e ameaças atuais e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domínio agrupa objetivos de controle com definição e diretrizes; são norteadores da PSI. Atualização: na versão 2022 a estrutura mudou para 4 temas e 93 controles — conferir a versão adotada pela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4 'As' da segurança de dados. Corrigimos um lapso do texto-base, que nomeia a área como 'qualidade'.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Muitos destes princípios foram incorporados à LGPD. Exemplo da portaria: perguntar se a pessoa é casada é desnecessário para controle de acesso — viola a minimização.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cientista de dados: anonimização mal feita permite reidentificação (ataques de ligação). Técnicas como k-anonimato e privacidade diferencial são tópicos de aprofundamento.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Datas: promulgada em 14/08/2018; vigência em setembro de 2020; sanções administrativas aplicáveis a partir de agosto de 2021 (complemento do professor). Controlador e operador são os 'agentes de tratamento'.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sensíveis exigem bases legais mais restritas. Os dez princípios do art. 6º ecoam os princípios éticos vistos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50 é o elo entre LGPD e governança de dados: programas de governança em privacidade são reconhecidos pela lei e podem atenuar sanções.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material: complementar vendas com o IDHM do Ipea via dados.gov.br. Características usuais de dados abertos: disponíveis, reutilizáveis, legíveis por máquina, com licença aberta.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tripé do Módulo 2, agora para segurança. O comitê de segurança é a instância de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integrador. O tripé pessoas–processos–métricas aparece em todos os módulos; o dado como ativo é o centro.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do material original, complementadas pela citação do próprio material didático.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Abra para perguntas e retome as reflexões dos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</a:rPr>
              <a:t>Gestão e Governança de Dados  |  Prof. Dr. André Serrano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D"/>
                </a:solidFill>
              </a:rPr>
              <a:t>Gestão e Governança de Dados  |  Prof. Dr. André Serrano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49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45.png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7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19.png"/><Relationship Id="rId10" Type="http://schemas.openxmlformats.org/officeDocument/2006/relationships/image" Target="../media/image76.png"/><Relationship Id="rId4" Type="http://schemas.openxmlformats.org/officeDocument/2006/relationships/image" Target="../media/image6.png"/><Relationship Id="rId9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3.png"/><Relationship Id="rId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3.png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731520"/>
            <a:ext cx="5120640" cy="5120640"/>
          </a:xfrm>
          <a:prstGeom prst="ellipse">
            <a:avLst/>
          </a:prstGeom>
          <a:solidFill>
            <a:srgbClr val="0F1B2D"/>
          </a:solidFill>
          <a:ln w="19050">
            <a:solidFill>
              <a:srgbClr val="00A99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223760" y="1280160"/>
            <a:ext cx="4023360" cy="4023360"/>
          </a:xfrm>
          <a:prstGeom prst="ellipse">
            <a:avLst/>
          </a:prstGeom>
          <a:solidFill>
            <a:srgbClr val="0F1B2D"/>
          </a:solidFill>
          <a:ln w="19050">
            <a:solidFill>
              <a:srgbClr val="F2711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0" y="1828800"/>
            <a:ext cx="2926080" cy="2926080"/>
          </a:xfrm>
          <a:prstGeom prst="ellipse">
            <a:avLst/>
          </a:prstGeom>
          <a:solidFill>
            <a:srgbClr val="0F1B2D"/>
          </a:solidFill>
          <a:ln w="19050">
            <a:solidFill>
              <a:srgbClr val="7B61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321040" y="2377440"/>
            <a:ext cx="1828800" cy="182880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8346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417320"/>
            <a:ext cx="685800" cy="68580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890" y="1588770"/>
            <a:ext cx="342900" cy="342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018520" y="2103120"/>
            <a:ext cx="685800" cy="6858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9970" y="2274570"/>
            <a:ext cx="342900" cy="3429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269480" y="4937760"/>
            <a:ext cx="685800" cy="6858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930" y="5109210"/>
            <a:ext cx="342900" cy="3429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744200" y="4983480"/>
            <a:ext cx="685800" cy="68580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5650" y="5154930"/>
            <a:ext cx="342900" cy="3429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400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PÓS-GRADUAÇÃO · CIÊNCIA E GESTÃO DE DADOS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640080" y="150876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Governança de Dados</a:t>
            </a:r>
            <a:endParaRPr lang="en-US" sz="4400" dirty="0"/>
          </a:p>
        </p:txBody>
      </p:sp>
      <p:sp>
        <p:nvSpPr>
          <p:cNvPr id="17" name="Text 10"/>
          <p:cNvSpPr txBox="1"/>
          <p:nvPr/>
        </p:nvSpPr>
        <p:spPr>
          <a:xfrm>
            <a:off x="640080" y="3749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Fundamentos, qualidade, segurança e ética à luz do DAMA-DMBOK, das normas ISO/IEC e da LGPD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40080" y="489204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2"/>
          <p:cNvSpPr txBox="1"/>
          <p:nvPr/>
        </p:nvSpPr>
        <p:spPr>
          <a:xfrm>
            <a:off x="868680" y="4937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Elaborado por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André Serrano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 gestão e à governança de 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frameworks, ciclo de vida, áreas do DMBOK e estratégias de implementação.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1C2B44"/>
          </a:solidFill>
          <a:ln w="9525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29400" y="1051560"/>
            <a:ext cx="640080" cy="64008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211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módulo, você será capaz 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gestão de governança de dados.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os principais frameworks e modelos de referência.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ciclo de vida dos dados.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as 11 áreas de conhecimento do DMBOK.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Refletir sobre estratégias de implementação de GGD nas organizações.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são ativos que produzem valor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gerados por sistemas internos, somados a dados adquiridos do mercado, permitem gerar insights: novas tendências e até novos mercados.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operacional: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das atividades da organização.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estratégico: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das atividades futuras.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são recursos organizacionais — e todo recurso precisa ser administrado.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dado é um ativo, ele exige o mesmo rigor que dinheiro, pessoas e infraestrutura.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8368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1" y="199522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269480" y="1691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internos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006840" y="1691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18972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19952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0" y="1691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externos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589520" y="2651760"/>
            <a:ext cx="1005840" cy="502920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 flipH="1">
            <a:off x="9372600" y="2651760"/>
            <a:ext cx="822960" cy="502920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7699248" y="324612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882128" y="3429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829" y="354970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67928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e processamento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162288" y="4206240"/>
            <a:ext cx="91" cy="502920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7699248" y="47548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7882128" y="49377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2829" y="505846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567928" y="4754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para gestão e estratégia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analogia: como se gere a área de RH?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de um recurso é o controle das atividades realizadas sobre ele. No RH, quem conduz a gestão é o gerente da área, responsável por executar os processos necessários para que ela funcione conforme os objetivos estratégicos da empresa.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= execução e controle operacional do dia a dia.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típicos de gestão do RH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040880" y="1965960"/>
            <a:ext cx="777240" cy="7772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2160270"/>
            <a:ext cx="388620" cy="3886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35508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 seleção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915400" y="16916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784080" y="1965960"/>
            <a:ext cx="777240" cy="7772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390" y="216027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09828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 e salários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72200" y="39319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7040880" y="4206240"/>
            <a:ext cx="777240" cy="7772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190" y="440055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5120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desenvolvimento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915400" y="39319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9784080" y="4206240"/>
            <a:ext cx="777240" cy="7772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8390" y="440055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98280" y="5120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da área executa os processos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quem garante que o RH está alinhado à estratégia?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da governança
</a:t>
            </a: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se o RH contribui para o funcionamento da empresa e para seus objetivos estratégicos? Como mitigar desalinhamentos entre o que a empresa precisa e o que o RH faz?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alta direção da empresa.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parâmetros de funcionamento e políticas (ex.: contratação de terceiros).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indicadores-chave em reuniões periódicas.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85232" cy="4389120"/>
          </a:xfrm>
          <a:prstGeom prst="roundRect">
            <a:avLst>
              <a:gd name="adj" fmla="val 208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629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ilustrativo: painel de KPIs do RH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92240" y="224028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62940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fictícios (% de atingimento), apenas para ilustrar o acompanhamento por indicadores.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× governança: termos parecidos, papéis distintos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operacional do dia a 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 periódico de uma área ou tema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Pergunta-chave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atividades estão sendo feitas com eficácia e eficiência?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área é coerente com missão e valores, atua com riscos aceitáveis e contribui para a estratégia?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exerce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da área (ex.: gerente de RH)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direção ou seus representantes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Processos, rotinas, procedimentos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Políticas, parâmetros, indicadores-chave, reuniões regulares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Curto prazo, execução contínua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 e longo prazo, alinhamento e evolução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a gestão faz a coisa certa acontecer; a governança garante que a coisa feita é a coisa certa.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hierarquia em níveis que separa governança e gestão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058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direção / instância de governança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761488"/>
            <a:ext cx="91" cy="46634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06324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A99D"/>
          </a:solidFill>
          <a:ln w="95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1005840" y="3246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responsável (ex.: área de dados)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4270248"/>
            <a:ext cx="91" cy="46634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06324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1005840" y="4754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de B
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executadas pela equipe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737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 o diagrama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28600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 B: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periodicamente se B está alinhada à missão, aos valores e aos objetivos estratégicos.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gere suas atividades: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planeja, executa e controla o trabalho operacional.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Recursividade: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se repete — B pode, por sua vez, exercer governança sobre subáreas.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papéis: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 não deveria ser quem avalia o alinhamento — evita conflito de interesse.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Transpondo para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1168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65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dados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do dia a dia relacionadas aos dados da organização.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backup dos dados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a disponibilidade dos dados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bancos de dados e acessos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cargas e integrações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519672" y="19659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21168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88352" y="1965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dados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880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acompanhar as atividades de gestão de dados para verificar sua coerência com os objetivos da empresa.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38404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operações: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a dia atende ao negócio?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evolução: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maturidade das práticas está aumentando?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risco: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riscos estão em nível aceitável?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gestão de dados ficou mais complexa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31750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115568" y="219456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" y="24917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presos ao sistema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251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de informação gerava dados que serviam apenas a ele.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219456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49174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6352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Chegada dos SGBDs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862072" y="4251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foco nos dados, ainda atrelados aos sistemas que os criavam e mantinham.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50992" y="2194560"/>
            <a:ext cx="1188720" cy="11887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249174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84064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Compartilhamento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129784" y="4251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Percebe-se o valor de compartilhar dados entre sistemas: clientes, produtos.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918704" y="2194560"/>
            <a:ext cx="1188720" cy="11887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249174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51776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externos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97496" y="4251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como redes sociais ampliam a disponibilidade de dados de interesse.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10186416" y="2194560"/>
            <a:ext cx="1188720" cy="11887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3596" y="2491740"/>
            <a:ext cx="594360" cy="5943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19488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ad hoc e BI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665208" y="42519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não especialistas em TI consomem dados com ferramentas próprias.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1024128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→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 txBox="1"/>
          <p:nvPr/>
        </p:nvSpPr>
        <p:spPr>
          <a:xfrm>
            <a:off x="822960" y="55778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compartilhamento + mais fontes + mais usuários = gestão e governança mais complexas.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Frameworks: normas ISO/IEC para aspectos específicos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disciplina de gestão e governança de dados não é recente. Há arcabouços para desenvolvimento de sistemas, para aspectos específicos e frameworks dedicados a dados. Alguns aspectos são sistematizados por normas ISO/IEC: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87752" cy="2743200"/>
          </a:xfrm>
          <a:prstGeom prst="roundRect">
            <a:avLst>
              <a:gd name="adj" fmla="val 353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417320" y="2926080"/>
            <a:ext cx="822960" cy="82296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3131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886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27000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89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 de normas de segurança da informação.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64992" y="2697480"/>
            <a:ext cx="2587752" cy="2743200"/>
          </a:xfrm>
          <a:prstGeom prst="roundRect">
            <a:avLst>
              <a:gd name="adj" fmla="val 353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233672" y="292608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31318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2152" y="3886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27701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4389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para gestão da privacidade da informação.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81344" y="2697480"/>
            <a:ext cx="2587752" cy="2743200"/>
          </a:xfrm>
          <a:prstGeom prst="roundRect">
            <a:avLst>
              <a:gd name="adj" fmla="val 353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7050024" y="2926080"/>
            <a:ext cx="822960" cy="82296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31318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18504" y="3886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25012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4389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qualidade de dados.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997696" y="2697480"/>
            <a:ext cx="2587752" cy="2743200"/>
          </a:xfrm>
          <a:prstGeom prst="roundRect">
            <a:avLst>
              <a:gd name="adj" fmla="val 353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9866376" y="292608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116" y="31318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34856" y="3886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38500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180576" y="4389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corporativa de TI.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 txBox="1"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tratam partes do problema; um corpo de conhecimento integrado é o que faltava — o DMBOK.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DAMA-DMBOK: a principal referência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DMBOK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Body of Knowledge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pela DAMA International (Data Management Association): associação global, sem fins lucrativos e independente de fornecedores, de profissionais técnicos e de negócios dedicada ao avanço das práticas de gestão de informações e dados.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edição (DMBOK2): 2017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65392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204094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251192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65392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vocabulário comum, áreas de conhecimento, papéis, atividades e métricas — um mapa para estruturar a função de dados na organização.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36792" y="397764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565392" y="4206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093" y="432694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51192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do professor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565392" y="4846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texto-base data a criação do DMBOK em 2015. A 1ª edição foi publicada em 2009; a 2ª, em 2017. Em 2024 a DAMA lançou a revisão DMBOK2R. Vale sempre conferir a edição citada.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de vida dos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38354" y="2403466"/>
            <a:ext cx="676481" cy="290847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107070" y="3593592"/>
            <a:ext cx="91" cy="310896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3838354" y="4803766"/>
            <a:ext cx="676481" cy="290847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H="1" flipV="1">
            <a:off x="1977404" y="4803766"/>
            <a:ext cx="676481" cy="290847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 flipH="1" flipV="1">
            <a:off x="1385170" y="3593592"/>
            <a:ext cx="0" cy="310896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 flipV="1">
            <a:off x="1977404" y="2403466"/>
            <a:ext cx="676481" cy="290847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674620" y="157734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720340" y="1577340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5570" y="237744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581290" y="2377440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35570" y="397764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581290" y="3977640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ou obter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74620" y="4777740"/>
            <a:ext cx="1143000" cy="114300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2720340" y="4777740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e manter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670" y="397764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59390" y="3977640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670" y="237744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59390" y="2377440"/>
            <a:ext cx="1051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63340" y="5349240"/>
            <a:ext cx="1851660" cy="91"/>
          </a:xfrm>
          <a:prstGeom prst="line">
            <a:avLst/>
          </a:prstGeom>
          <a:noFill/>
          <a:ln w="25400">
            <a:solidFill>
              <a:srgbClr val="F2711C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760720" y="4777740"/>
            <a:ext cx="1143000" cy="114300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760720" y="47777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1691640"/>
            <a:ext cx="4462272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7406640" y="1874520"/>
            <a:ext cx="4069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dados a empresa precisa?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os dados.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ou obter: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ou adquirir.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e manter: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disponibilidade e prontos para uso.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para operação e análise.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e novas demandas retroalimentam o planejamento.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possível, adequado nem salutar guardar dados para sempre.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dados segundo o DMBOK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ágeis: de DevOps a DataOps e MLOps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Práticas, processos e tecnologias que agilizam e integram o desenvolvimento de software à sua operação, de forma contínua e com qualidade.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96512" y="3474720"/>
            <a:ext cx="210312" cy="91"/>
          </a:xfrm>
          <a:prstGeom prst="line">
            <a:avLst/>
          </a:prstGeom>
          <a:noFill/>
          <a:ln w="317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334256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608576" y="1920240"/>
            <a:ext cx="822960" cy="82296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16" y="21259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14416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DataOps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29260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aplicada aos dados: fluxos automatizados e comunicação intensa entre engenheiros, cientistas e analistas de dados, para gerar valor rápido a partir de dados confiáveis.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882128" y="3474720"/>
            <a:ext cx="210312" cy="91"/>
          </a:xfrm>
          <a:prstGeom prst="line">
            <a:avLst/>
          </a:prstGeom>
          <a:noFill/>
          <a:ln w="317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8394192" y="1920240"/>
            <a:ext cx="822960" cy="82296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21259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400032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260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Agiliza e simplifica o ciclo de vida de modelos de aprendizado de máquina, em sincronia com os dados gerados por DataOps.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 txBox="1"/>
          <p:nvPr/>
        </p:nvSpPr>
        <p:spPr>
          <a:xfrm>
            <a:off x="822960" y="54864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comum: agilidade e integração contínua, diante do crescente volume de dados disponíveis.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11 áreas de conhecimento do DMBOK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212080" cy="3931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BE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651760" y="1810512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2670048" y="181051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dados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76058" y="2151050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094346" y="2151050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projeto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56322" y="3042590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974610" y="3042590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operações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6322" y="4144594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974610" y="414459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76058" y="5036134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094346" y="503613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interoperabilidade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5376672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2670048" y="537667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 conteúdo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27462" y="5036134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1245750" y="503613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 e mestre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198" y="4144594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365486" y="414459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e BI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198" y="3042590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365486" y="3042590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27462" y="2151050"/>
            <a:ext cx="1554480" cy="585216"/>
          </a:xfrm>
          <a:prstGeom prst="roundRect">
            <a:avLst>
              <a:gd name="adj" fmla="val 23438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1245750" y="2151050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0" y="3017520"/>
            <a:ext cx="1737360" cy="17373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2606040" y="30175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dados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área central + 10 áreas de gestão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implementadas, as áreas definem a estrutura organizacional, os processos e as métricas adequadas à gestão de dados.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547872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7178040" y="34747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Governança: centro que orienta todas as demais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66560" y="4096512"/>
            <a:ext cx="274320" cy="27432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7178040" y="40233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Aprofundadas no Módulo 2 (qualidade)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66560" y="4645152"/>
            <a:ext cx="274320" cy="2743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7178040" y="45720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Aprofundada no Módulo 3 (segurança)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66560" y="5193792"/>
            <a:ext cx="274320" cy="2743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7178040" y="51206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áreas de gestão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5760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inspirada na "roda" do DAMA-DMBOK2.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áreas de conhecimento em detalhe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146280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dados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677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autoridade e controle (planejamento, monitoramento e cumprimento) sobre a gestão dos ativos de dados.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0488" y="1691640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19088" y="1993392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976" y="2146280"/>
            <a:ext cx="389169" cy="3891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3488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dados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33488" y="22677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projeto (blueprint) dos dados alinhado à estratégia do negócio.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172968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77240" y="3474720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3627608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e projeto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3749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Descobre, analisa e representa requisitos de dados em modelos (conceitual, lógico, físico).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90488" y="3172968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19088" y="3474720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76" y="3627608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3488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 e operações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33488" y="3749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Projeta, implementa e suporta dados armazenados ao longo do ciclo de vida.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777240" y="495604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28" y="5108936"/>
            <a:ext cx="389169" cy="3891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91640" y="4818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dados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691640" y="52303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privacidade, confidencialidade e acesso apropriado.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90488" y="4654296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6419088" y="495604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976" y="5108936"/>
            <a:ext cx="389169" cy="38916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33488" y="4818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 interoperabilidade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7333488" y="52303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e consolidação de dados entre aplicações e organizações.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áreas de conhecimento em detalhe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146280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e conteúdo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677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ciclo de vida de dados não estruturados (documentos, mídia).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0488" y="1691640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19088" y="1993392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976" y="2146280"/>
            <a:ext cx="389169" cy="3891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3488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referência e mestre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33488" y="22677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dados compartilhados e consistentes (clientes, produtos, códigos).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172968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77240" y="3474720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3627608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warehousing e BI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3749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dados analíticos para apoio à decisão.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90488" y="3172968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19088" y="3474720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76" y="3627608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3488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Metadados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33488" y="3749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Coleta, categorização e disponibilização das definições dos dados.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777240" y="495604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28" y="5108936"/>
            <a:ext cx="389169" cy="3891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91640" y="4818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dados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691640" y="52303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controle de práticas que garantem dados aptos ao uso.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90488" y="4654296"/>
            <a:ext cx="5449824" cy="1298448"/>
          </a:xfrm>
          <a:prstGeom prst="roundRect">
            <a:avLst>
              <a:gd name="adj" fmla="val 7042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 txBox="1"/>
          <p:nvPr/>
        </p:nvSpPr>
        <p:spPr>
          <a:xfrm>
            <a:off x="6464808" y="4654296"/>
            <a:ext cx="4901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próximas aulas aprofundam qualidade de dados e segurança de dados.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GGD é promover mudança organizacional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implementação de gestão e governança de dados (GGD) implica necessariamente mudança: novas funções podem ser criadas ou funções existentes precisam ser alteradas. Algo novo será feito ou melhorado.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precisa ser planejada e dotada dos recursos necessários para atingir seu objetivo.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necessários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868680" cy="86868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2503170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8952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2715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e capacitação da equipe.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92240" y="3566160"/>
            <a:ext cx="868680" cy="86868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378333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89520" y="3584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589520" y="39959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para a transformação.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92240" y="4846320"/>
            <a:ext cx="868680" cy="8686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410" y="506349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89520" y="4864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589520" y="5276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ou assinatura de ferramentas de software.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777240" y="50749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" y="525597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28800" y="484632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atividades são executadas por pessoas, não por programas. Seus efeitos podem atravessar toda a empresa, com novos controles em todas as áreas.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para implementar gestão e governança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2225">
            <a:solidFill>
              <a:srgbClr val="00A99D"/>
            </a:solidFill>
            <a:prstDash val="dash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planejamento estratégico (corporativo)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22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566160" y="1965960"/>
            <a:ext cx="502920" cy="5029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566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alinhamento estratégico para GGD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22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as atividades existentes de GGD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22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235440" y="1965960"/>
            <a:ext cx="502920" cy="5029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9235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maturidade das atividades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38404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22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235440" y="4023360"/>
            <a:ext cx="502920" cy="5029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92354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a mudança em GGD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22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4008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 recursos para a mudança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83280" y="38404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0F1B2D"/>
          </a:solidFill>
          <a:ln w="22225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566160" y="4023360"/>
            <a:ext cx="502920" cy="5029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35661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GGD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154680" y="2487168"/>
            <a:ext cx="210312" cy="91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5989320" y="2487168"/>
            <a:ext cx="210312" cy="91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8823960" y="2487168"/>
            <a:ext cx="210312" cy="91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0351008" y="3218688"/>
            <a:ext cx="91" cy="603504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 flipH="1">
            <a:off x="8823960" y="4544568"/>
            <a:ext cx="210312" cy="91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 flipH="1">
            <a:off x="5989320" y="4544568"/>
            <a:ext cx="210312" cy="91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48640" y="3840480"/>
            <a:ext cx="2587752" cy="1417320"/>
          </a:xfrm>
          <a:prstGeom prst="roundRect">
            <a:avLst>
              <a:gd name="adj" fmla="val 7742"/>
            </a:avLst>
          </a:prstGeom>
          <a:solidFill>
            <a:srgbClr val="ECE8FF"/>
          </a:solidFill>
          <a:ln w="19050">
            <a:solidFill>
              <a:srgbClr val="7B61FF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731520" y="39319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
</a:t>
            </a: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Aportar conhecimento de GGD (modelo de referência, ex.: DMBOK)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 flipV="1">
            <a:off x="1828800" y="3246120"/>
            <a:ext cx="4754880" cy="576072"/>
          </a:xfrm>
          <a:prstGeom prst="line">
            <a:avLst/>
          </a:prstGeom>
          <a:noFill/>
          <a:ln w="19050">
            <a:solidFill>
              <a:srgbClr val="7B61FF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tracejada: etapas ou insumos externos ao ciclo de GGD. Após a implementação, o ciclo reinicia a partir do planejamento estratégico.</a:t>
            </a:r>
            <a:endParaRPr lang="en-US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estratégico: a estratégia em cascata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estratégicos da organização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9509760" cy="640080"/>
          </a:xfrm>
          <a:prstGeom prst="roundRect">
            <a:avLst>
              <a:gd name="adj" fmla="val 14286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248716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das áreas da empresa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36976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323697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área de TI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986784"/>
            <a:ext cx="6217920" cy="640080"/>
          </a:xfrm>
          <a:prstGeom prst="roundRect">
            <a:avLst>
              <a:gd name="adj" fmla="val 14286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22960" y="398678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gestão e governança de dados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alinhada é aquela em que todas as atividades contribuem, direta ou indiretamente, para os objetivos estratégicos.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deve ser intencional, documentada e divulgada — responsabilidade da alta administração.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4434840"/>
            <a:ext cx="4553712" cy="1691640"/>
          </a:xfrm>
          <a:prstGeom prst="roundRect">
            <a:avLst>
              <a:gd name="adj" fmla="val 5405"/>
            </a:avLst>
          </a:prstGeom>
          <a:solidFill>
            <a:srgbClr val="FDEBDD"/>
          </a:solidFill>
          <a:ln w="9525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315200" y="46634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959" y="4794199"/>
            <a:ext cx="332842" cy="33284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092440" y="4663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muda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53035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externos (mercado, concorrentes) ou internos (visão, missão) exigem novo alinhamento.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cenário atual à visão de futuro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atual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de GGD mapeadas e caracterizadas, com sua maturidade avaliada.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DDF4F1"/>
          </a:solidFill>
          <a:ln w="9525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90288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8803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atividades devem ter a maturidade aumentada?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novas atividades devem ser implantadas, e em que nível?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4152" y="16916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348472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de futuro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8803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área de GGD deverá poder realizar em um futuro próximo, com prazo consonante aos objetivos estratégicos.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0" y="3337560"/>
            <a:ext cx="182880" cy="91"/>
          </a:xfrm>
          <a:prstGeom prst="line">
            <a:avLst/>
          </a:prstGeom>
          <a:noFill/>
          <a:ln w="3175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882128" y="3337560"/>
            <a:ext cx="182880" cy="91"/>
          </a:xfrm>
          <a:prstGeom prst="line">
            <a:avLst/>
          </a:prstGeom>
          <a:noFill/>
          <a:ln w="31750">
            <a:solidFill>
              <a:srgbClr val="00A99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ponto temos clareza das políticas alinhadas à estratégia, do modelo de referência escolhido, da caracterização atual das atividades e do futuro esperado.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× processos: não confunda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1005840" cy="100584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2174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00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rotineiras e contínuas. As atividades de gestão e governança de dados são processos.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7091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diário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periódica de governança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qualidade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0488" y="1691640"/>
            <a:ext cx="5449824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510528" y="1965960"/>
            <a:ext cx="1005840" cy="100584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22174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44968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510528" y="3200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Esforços com escopo, início, meio e fim. A transformação do cenário atual para o futuro gera vários projetos.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510528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10528" y="47091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catálogo de dados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comitê de dados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para nova plataforma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280160" cy="128016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2860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alerta importante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realista imaginar que uma transformação organizacional desse porte aconteça instantaneamente, ou apenas pela aquisição de tecnologia.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43891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9525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005840" y="47091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" y="4870094"/>
            <a:ext cx="409651" cy="4096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4389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correto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43400" y="43891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9525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4617720" y="47091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654" y="487009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32120" y="4389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suficientes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7955280" y="43891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9525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8229600" y="47091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4870094"/>
            <a:ext cx="409651" cy="40965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4000" y="4389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engajadas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FUNDAMENTOS DE GESTÃO E GOVERNANÇA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Módulo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faz; governança acompanha e alinha.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34256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62856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21982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5816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DMBOK é a referência integradora; ISO cobre aspectos específicos.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19872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8348472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219821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71432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têm ciclo de vida — incluindo o descarte.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77240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3798418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 e MLOps trazem agilidade ao ciclo.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34256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4562856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3798418"/>
            <a:ext cx="358445" cy="35844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85816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áreas de conhecimento, com governança no centro.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19872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8348472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9290" y="3798418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71432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GGD é mudança organizacional planejada.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discutir: na sua organização, quem exerce a governança dos dados? Ela está separada da gestão?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Critérios, dados de referência e mestre, metadados, linhagem e o tripé pessoas–processos–métricas.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1C2B44"/>
          </a:solidFill>
          <a:ln w="9525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29400" y="1051560"/>
            <a:ext cx="640080" cy="64008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211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módulo, você será capaz 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área "Dados mestre e de referência" do DMBOK.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área "Metadados" do DMBOK.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área "Qualidade de dados" do DMBOK.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linhagem de dados (proveniência).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Exemplificar pessoas, processos e métricas para qualidade.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qualidade de dados importa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sobre estoque de materiais e produção dos colaboradores dependem de dados dos sistemas internos.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62856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57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48656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6060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Municípios, estados e União precisam de dados de qualidade para prestar serviços e definir políticas públicas.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48472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0409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342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6060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com qualidade não há pesquisa empírica válida.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 txBox="1"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 que guiam o módulo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983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que é qualidade de dados?     2. Um grande volume de dados compensa problemas de qualidade?     3. Como avaliar se um conjunto de dados tem qualidade?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caso: a base de clientes de uma rede de lojas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lojas com operação em várias cidades do Brasil. Cada consumidor tem o próprio CPF. A base, entregue como planilha, tem 10 mil linhas e 4 colunas.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× 4 atributos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 w="9525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proposta: avaliar a qualidade coluna a coluna.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783080"/>
          <a:ext cx="5971032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Nascimento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 última compra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123.456.789-09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Souza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12/03/1988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Brasília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111.111.111-11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João P. Lima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05/07/1975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987.654.321-00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M4ria Silva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30/02/2031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Curitiba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 Reis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21/11/1990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Brasilândia do Sul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456.789.123-11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Lúcia Mendes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02/09/1965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669280" y="4983480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fictícios. Em vermelho, valores que violariam critérios de qualidade (veja os próximos slides).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valores esperar da coluna CPF?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original apresenta cinco critérios esperados para a coluna CPF. Uma formulação técnica coerente com o exemplo: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075688" cy="301752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92808" y="26974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509" y="28181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8620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estar vazio: todo cliente tem CPF.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07208" y="2468880"/>
            <a:ext cx="2075688" cy="301752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2990088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4151376" y="26974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077" y="28181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90088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90088" y="388620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11 dígitos.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65776" y="2468880"/>
            <a:ext cx="2075688" cy="301752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5248656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6409944" y="26974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645" y="281818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48656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48656" y="388620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caracteres numéricos (após remover a máscara).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24344" y="2468880"/>
            <a:ext cx="2075688" cy="301752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 txBox="1"/>
          <p:nvPr/>
        </p:nvSpPr>
        <p:spPr>
          <a:xfrm>
            <a:off x="7507224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Shape 20"/>
          <p:cNvSpPr/>
          <p:nvPr/>
        </p:nvSpPr>
        <p:spPr>
          <a:xfrm>
            <a:off x="8668512" y="26974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9213" y="281818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07224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507224" y="388620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verificadores corretos (módulo 11); rejeitar sequências repetidas.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582912" y="2468880"/>
            <a:ext cx="2075688" cy="301752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 txBox="1"/>
          <p:nvPr/>
        </p:nvSpPr>
        <p:spPr>
          <a:xfrm>
            <a:off x="976579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31" name="Shape 25"/>
          <p:cNvSpPr/>
          <p:nvPr/>
        </p:nvSpPr>
        <p:spPr>
          <a:xfrm>
            <a:off x="10927080" y="26974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7781" y="2818181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65792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765792" y="388620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CPF por cliente: sem duplicatas na base.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EBDD"/>
          </a:solidFill>
          <a:ln w="9525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29"/>
          <p:cNvSpPr txBox="1"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critério vira uma regra testável — e, portanto, automatizável num pipeline de dados.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para as demais colunas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conter dígitos numéricos.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777240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inválido: M4ria Silva ✗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4256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562856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57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48656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nascimento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26060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uma data válida e respeitar limites — por exemplo, não pode estar no futuro.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34256" y="461772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 txBox="1"/>
          <p:nvPr/>
        </p:nvSpPr>
        <p:spPr>
          <a:xfrm>
            <a:off x="4562856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inválido: 30/02/2031 ✗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19872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8348472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0409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342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 da última compra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48472" y="26060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pertencer à lista oficial de municípios brasileiros.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119872" y="461772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 txBox="1"/>
          <p:nvPr/>
        </p:nvSpPr>
        <p:spPr>
          <a:xfrm>
            <a:off x="8348472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inválido: Brasilândia do Sul ✗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5.570 municípios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lista do IBGE funciona como dado de referência para validar a coluna cidade.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critérios às dimensões de qualidade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critérios do estudo de caso são instâncias de dimensões consagradas na literatura (DMBOK2; ISO/IEC 25012):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estudo de caso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7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valor está presente?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CPF não pode estar vazio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7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Respeita formato e domínio?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CPF com 11 dígitos; nome sem números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7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registros duplicados?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CPF por cliente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7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 corretamente a realidade?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Dígito verificador; cidade existente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7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Consistência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coerente entre fontes e regras?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Nascimento não pode estar no futuro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7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 atualizado para o uso?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 da última compra é recente?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referência: classificar e categorizar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 são usados para classificar ou categorizar outros dados. Podem ser definidos internamente ou externamente à empresa.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3211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medida dos produtos; classificação de fornecedores.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77240" y="4846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967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4846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Externos (preferíveis quando possível)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532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comparar e combinar dados de várias fontes que usem os mesmos critérios.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45352" y="16916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6519672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externos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cor ou raça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19672" y="2880360"/>
            <a:ext cx="886968" cy="457200"/>
          </a:xfrm>
          <a:prstGeom prst="roundRect">
            <a:avLst>
              <a:gd name="adj" fmla="val 20000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6519672" y="2880360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498080" y="2880360"/>
            <a:ext cx="886968" cy="457200"/>
          </a:xfrm>
          <a:prstGeom prst="roundRect">
            <a:avLst>
              <a:gd name="adj" fmla="val 20000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 txBox="1"/>
          <p:nvPr/>
        </p:nvSpPr>
        <p:spPr>
          <a:xfrm>
            <a:off x="7498080" y="2880360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Branca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476488" y="2880360"/>
            <a:ext cx="886968" cy="457200"/>
          </a:xfrm>
          <a:prstGeom prst="roundRect">
            <a:avLst>
              <a:gd name="adj" fmla="val 20000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8476488" y="2880360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Indígena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454896" y="2880360"/>
            <a:ext cx="886968" cy="457200"/>
          </a:xfrm>
          <a:prstGeom prst="roundRect">
            <a:avLst>
              <a:gd name="adj" fmla="val 20000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 txBox="1"/>
          <p:nvPr/>
        </p:nvSpPr>
        <p:spPr>
          <a:xfrm>
            <a:off x="9454896" y="2880360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Parda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0433304" y="2880360"/>
            <a:ext cx="886968" cy="457200"/>
          </a:xfrm>
          <a:prstGeom prst="roundRect">
            <a:avLst>
              <a:gd name="adj" fmla="val 20000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 txBox="1"/>
          <p:nvPr/>
        </p:nvSpPr>
        <p:spPr>
          <a:xfrm>
            <a:off x="10433304" y="2880360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Preta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519672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3166 — códigos de países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519672" y="411480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6"/>
          <p:cNvSpPr txBox="1"/>
          <p:nvPr/>
        </p:nvSpPr>
        <p:spPr>
          <a:xfrm>
            <a:off x="6519672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7525512" y="411480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8"/>
          <p:cNvSpPr txBox="1"/>
          <p:nvPr/>
        </p:nvSpPr>
        <p:spPr>
          <a:xfrm>
            <a:off x="7525512" y="41148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714232" y="41148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0"/>
          <p:cNvSpPr txBox="1"/>
          <p:nvPr/>
        </p:nvSpPr>
        <p:spPr>
          <a:xfrm>
            <a:off x="8714232" y="41148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519672" y="466344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2"/>
          <p:cNvSpPr txBox="1"/>
          <p:nvPr/>
        </p:nvSpPr>
        <p:spPr>
          <a:xfrm>
            <a:off x="6519672" y="4663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7525512" y="466344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4"/>
          <p:cNvSpPr txBox="1"/>
          <p:nvPr/>
        </p:nvSpPr>
        <p:spPr>
          <a:xfrm>
            <a:off x="7525512" y="4663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8714232" y="466344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6"/>
          <p:cNvSpPr txBox="1"/>
          <p:nvPr/>
        </p:nvSpPr>
        <p:spPr>
          <a:xfrm>
            <a:off x="8714232" y="4663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519672" y="521208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8"/>
          <p:cNvSpPr txBox="1"/>
          <p:nvPr/>
        </p:nvSpPr>
        <p:spPr>
          <a:xfrm>
            <a:off x="6519672" y="52120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7525512" y="521208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0"/>
          <p:cNvSpPr txBox="1"/>
          <p:nvPr/>
        </p:nvSpPr>
        <p:spPr>
          <a:xfrm>
            <a:off x="7525512" y="5212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8714232" y="521208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C2B44"/>
          </a:solidFill>
          <a:ln w="12700">
            <a:solidFill>
              <a:srgbClr val="3B4C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2"/>
          <p:cNvSpPr txBox="1"/>
          <p:nvPr/>
        </p:nvSpPr>
        <p:spPr>
          <a:xfrm>
            <a:off x="8714232" y="5212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3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Dados-mestre e sua relação com os de referência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Dados-mestre representam os objetos, as entidades e as atividades de uma empresa em particular.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9264" y="2880360"/>
            <a:ext cx="731520" cy="73152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033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04288" y="27432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2724912" y="2880360"/>
            <a:ext cx="731520" cy="73152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3063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04288" y="37033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059936" y="2743200"/>
            <a:ext cx="1572768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4480560" y="2880360"/>
            <a:ext cx="731520" cy="73152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63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9936" y="37033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48056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DEBDD"/>
          </a:solidFill>
          <a:ln w="9525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 txBox="1"/>
          <p:nvPr/>
        </p:nvSpPr>
        <p:spPr>
          <a:xfrm>
            <a:off x="822960" y="45720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gestão (DMBOK)
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o compartilhamento de ativos de informação na organização, com orientações precisas e confiáveis para novos conjuntos de dados.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45352" y="169164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 txBox="1"/>
          <p:nvPr/>
        </p:nvSpPr>
        <p:spPr>
          <a:xfrm>
            <a:off x="6519672" y="16916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Classificações: UF, município, país, unidade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942832" y="3017520"/>
            <a:ext cx="91" cy="502920"/>
          </a:xfrm>
          <a:prstGeom prst="line">
            <a:avLst/>
          </a:prstGeom>
          <a:noFill/>
          <a:ln w="31750">
            <a:solidFill>
              <a:srgbClr val="F2711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 txBox="1"/>
          <p:nvPr/>
        </p:nvSpPr>
        <p:spPr>
          <a:xfrm>
            <a:off x="90982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classificam e validam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45352" y="35661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2711C"/>
          </a:solidFill>
          <a:ln w="9525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 txBox="1"/>
          <p:nvPr/>
        </p:nvSpPr>
        <p:spPr>
          <a:xfrm>
            <a:off x="6519672" y="35661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Dados-mestre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#4521: Ana Souza · Brasília/DF · BR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942832" y="4892040"/>
            <a:ext cx="91" cy="45720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6245352" y="539496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 txBox="1"/>
          <p:nvPr/>
        </p:nvSpPr>
        <p:spPr>
          <a:xfrm>
            <a:off x="6519672" y="5394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transacionais: vendas, pedidos, pagamentos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que descrevem dados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melhor e mais completa for essa descrição, melhores serão os critérios para verificar a qualidade.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F2711C"/>
          </a:solidFill>
          <a:ln w="9525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097280" y="3657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avaliar a qualidade de um conjunto de dados sem conhecer seus metadados.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57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critérios do CPF só existem porque alguém descreveu o que a coluna CPF deve conter — isso é metadado.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Metadados criam uma definição compartilhada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campo pode significar coisas diferentes para áreas diferentes: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23360" y="2377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023360" y="2377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endereco_cliente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flipH="1">
            <a:off x="2560320" y="3429000"/>
            <a:ext cx="2011680" cy="411480"/>
          </a:xfrm>
          <a:prstGeom prst="line">
            <a:avLst/>
          </a:prstGeom>
          <a:noFill/>
          <a:ln w="25400">
            <a:solidFill>
              <a:srgbClr val="F2711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0" y="3429000"/>
            <a:ext cx="2011680" cy="411480"/>
          </a:xfrm>
          <a:prstGeom prst="line">
            <a:avLst/>
          </a:prstGeom>
          <a:noFill/>
          <a:ln w="25400">
            <a:solidFill>
              <a:srgbClr val="F2711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77240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630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800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de entrega dos produtos adquiridos.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19672" y="38862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748272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3" y="42355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34072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a receber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748272" y="4800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para envio do boleto de cobrança.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vale para indicadores: "índice de produtividade" e "taxa de rotatividade" têm várias fórmulas possíveis — precisam ser definidos de forma única.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 metadados (1/2): identificação e estrutura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brevemente o conteúdo dos dados.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62856" y="1920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615" y="20509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0096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de dados pode ter várias versões.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48472" y="1920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231" y="20509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detalhada do conjunto de dados.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77240" y="4160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2912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interna; ex.: várias planilhas relacionadas entre si.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34256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562856" y="4160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615" y="42912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0096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62856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existentes, seus tipos e domínios.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19872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8348472" y="4160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9231" y="429127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25712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identificadoras e de ligação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48472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linhas (≈ chave primária) e ligam conjuntos (≈ chave estrangeira).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 metadados (2/2): contexto e uso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agregação: município, estado ou região.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62856" y="1920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615" y="20509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0096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Temporalidade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 que os dados se referem.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48472" y="1920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231" y="20509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primária ou serviço de informação adquirido.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77240" y="4160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2912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de uso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uso, como citação obrigatória da fonte.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34256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562856" y="4160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615" y="42912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0096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realizadas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62856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Agregações, preenchimento de ausentes e outros tratamentos.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19872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8348472" y="4160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9231" y="429127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25712" y="4114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48472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 conversacional, livre, para quem usará os dados.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Metadados na prática: o portal dados.gov.br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 DMBOK, a gestão de metadados é responsável pela criação, manutenção, difusão e disponibilização das definições dos dados. Em dados abertos, metadados são essenciais.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4937760" cy="1188720"/>
          </a:xfrm>
          <a:prstGeom prst="roundRect">
            <a:avLst>
              <a:gd name="adj" fmla="val 7692"/>
            </a:avLst>
          </a:prstGeom>
          <a:solidFill>
            <a:srgbClr val="FDEBDD"/>
          </a:solidFill>
          <a:ln w="9525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material: conjunto "Sistema BR-Brasil — Boletim de ocorrências em rodovias federais" (dados.gov.br).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reconstituída a partir da imagem do material original; consulte o portal para a versão vigente.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83080"/>
          <a:ext cx="578815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 de Polícia Rodoviária Federal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Ministério da Justiça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temporal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 a 2014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Granularidade geográfica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(VCGE)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 rodoviário; Segurança pública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dados segundo o DMBOK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Planejamento, implementação e controle de atividades que aplicam técnicas de gestão da qualidade aos dados, a fim de garantir que estejam aptos ao consumo e atendam às necessidades de seus consumidores (DAMA, 2017, p. 451).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gestão da qualidade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40690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1998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4754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Adequar os dados à finalidade, com base nos requisitos dos consumidores.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64992" y="3840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593592" y="40690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351" y="41998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3592" y="4754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padrões, requisitos e especificações de controle no ciclo de vida.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81344" y="3840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409944" y="40690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703" y="41998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9944" y="4754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Medir, monitorar e relatar os níveis de qualidade.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97696" y="3840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226296" y="40690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7055" y="41998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4754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melhorias por meio de processos e sistemas.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 para atingir os objetivos de qualidade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1188720"/>
          </a:xfrm>
          <a:prstGeom prst="chevron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29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dados de alta qualidade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32304" y="2011680"/>
            <a:ext cx="1965960" cy="1188720"/>
          </a:xfrm>
          <a:prstGeom prst="chevron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843784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3429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estratégia de qualidade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2011680"/>
            <a:ext cx="1965960" cy="1188720"/>
          </a:xfrm>
          <a:prstGeom prst="chevron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72744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361688" y="3429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escopo da avaliação inicial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9632" y="2011680"/>
            <a:ext cx="1965960" cy="1188720"/>
          </a:xfrm>
          <a:prstGeom prst="chevron">
            <a:avLst/>
          </a:prstGeom>
          <a:solidFill>
            <a:srgbClr val="F271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611112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3429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 avaliação inicial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2011680"/>
            <a:ext cx="1965960" cy="1188720"/>
          </a:xfrm>
          <a:prstGeom prst="chevron">
            <a:avLst/>
          </a:prstGeom>
          <a:solidFill>
            <a:srgbClr val="F271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494776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129016" y="3429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priorizar melhorias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66960" y="2011680"/>
            <a:ext cx="1965960" cy="1188720"/>
          </a:xfrm>
          <a:prstGeom prst="chevron">
            <a:avLst/>
          </a:prstGeom>
          <a:solidFill>
            <a:srgbClr val="F2711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1037844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0012680" y="34290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implantar operações de qualidade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 OPERAR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FDEBDD"/>
          </a:solidFill>
          <a:ln w="9525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77240" y="512064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5271516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691640" y="480060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operações de qualidade alimentam um ciclo de melhoria contínua: medir, analisar a causa raiz, corrigir processos e voltar a medir — no espírito do PDCA.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Linhagem de dados: a árvore genealógica do dado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sentido amplo, linhagem indica a relação entre gerações de indivíduos — como uma árvore genealógica. Para dados, registra toda a história percorrida por um conjunto, da origem à versão mais atual, e o conjunto de transformações que explica seu conteúdo.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anteriores podem ser auditadas para localizar a origem de um erro.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duvidosos, sem linhagem conhecida, levam a conclusões e decisões incorretas.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30936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vendas (origem)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26880" y="17830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932688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clientes (origem)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06324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0936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bruta v1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0" y="306324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932688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deduplicado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43434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2711C"/>
          </a:solidFill>
          <a:ln w="9525">
            <a:solidFill>
              <a:srgbClr val="F2711C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818120" y="4343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integrada v2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4406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0A99D"/>
          </a:solidFill>
          <a:ln w="9525">
            <a:solidFill>
              <a:srgbClr val="00A99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818120" y="5440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BI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0920" y="2487168"/>
            <a:ext cx="91" cy="55778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378440" y="2487168"/>
            <a:ext cx="91" cy="55778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60920" y="3767328"/>
            <a:ext cx="1051560" cy="55778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 flipH="1">
            <a:off x="9326880" y="3767328"/>
            <a:ext cx="1051560" cy="55778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869680" y="5047488"/>
            <a:ext cx="91" cy="37490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960120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junção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PROV: um padrão para descrever proveniência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do W3C. Para fins dessa descrição, proveniência e linhagem são conceitos idênticos. Segundo Groth e Moreau (2013), proveniência reúne informações sobre entidades, atividades e pessoas envolvidas na produção de um dado, úteis para avaliar sua qualidade e confiabilidade.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2286000" cy="960120"/>
          </a:xfrm>
          <a:prstGeom prst="ellipse">
            <a:avLst/>
          </a:prstGeom>
          <a:solidFill>
            <a:srgbClr val="FFF2B3"/>
          </a:solidFill>
          <a:ln w="19050">
            <a:solidFill>
              <a:srgbClr val="C9A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planilha_bruta.csv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3429000"/>
            <a:ext cx="2286000" cy="960120"/>
          </a:xfrm>
          <a:prstGeom prst="ellipse">
            <a:avLst/>
          </a:prstGeom>
          <a:solidFill>
            <a:srgbClr val="FFF2B3"/>
          </a:solidFill>
          <a:ln w="19050">
            <a:solidFill>
              <a:srgbClr val="C9A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315200" y="3429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planilha_tratada.csv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3429000"/>
            <a:ext cx="2286000" cy="960120"/>
          </a:xfrm>
          <a:prstGeom prst="rect">
            <a:avLst/>
          </a:prstGeom>
          <a:solidFill>
            <a:srgbClr val="CFDCFF"/>
          </a:solidFill>
          <a:ln w="19050">
            <a:solidFill>
              <a:srgbClr val="4F6B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023360" y="3429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dados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5074920"/>
            <a:ext cx="2286000" cy="960120"/>
          </a:xfrm>
          <a:prstGeom prst="homePlate">
            <a:avLst/>
          </a:prstGeom>
          <a:solidFill>
            <a:srgbClr val="FFD8B8"/>
          </a:solidFill>
          <a:ln w="1905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023360" y="5074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3035808" y="3904488"/>
            <a:ext cx="969264" cy="91"/>
          </a:xfrm>
          <a:prstGeom prst="line">
            <a:avLst/>
          </a:prstGeom>
          <a:noFill/>
          <a:ln w="22225">
            <a:solidFill>
              <a:srgbClr val="0F1B2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06324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6327648" y="3904488"/>
            <a:ext cx="969264" cy="91"/>
          </a:xfrm>
          <a:prstGeom prst="line">
            <a:avLst/>
          </a:prstGeom>
          <a:noFill/>
          <a:ln w="22225">
            <a:solidFill>
              <a:srgbClr val="0F1B2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17220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wasGeneratedBy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4407408"/>
            <a:ext cx="91" cy="649224"/>
          </a:xfrm>
          <a:prstGeom prst="line">
            <a:avLst/>
          </a:prstGeom>
          <a:noFill/>
          <a:ln w="22225">
            <a:solidFill>
              <a:srgbClr val="0F1B2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5257800" y="4553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wasAssociatedWith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2971800"/>
            <a:ext cx="658368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58200" y="2971800"/>
            <a:ext cx="0" cy="438912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874520" y="2971800"/>
            <a:ext cx="91" cy="438912"/>
          </a:xfrm>
          <a:prstGeom prst="line">
            <a:avLst/>
          </a:prstGeom>
          <a:noFill/>
          <a:ln w="22225">
            <a:solidFill>
              <a:srgbClr val="0F1B2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389120" y="26517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wasDerivedFrom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6327648" y="4343400"/>
            <a:ext cx="1536192" cy="1005840"/>
          </a:xfrm>
          <a:prstGeom prst="line">
            <a:avLst/>
          </a:prstGeom>
          <a:noFill/>
          <a:ln w="22225">
            <a:solidFill>
              <a:srgbClr val="0F1B2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7040880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wasAttributedTo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29800" y="3017520"/>
            <a:ext cx="1810512" cy="3017520"/>
          </a:xfrm>
          <a:prstGeom prst="roundRect">
            <a:avLst>
              <a:gd name="adj" fmla="val 505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012680" y="3246120"/>
            <a:ext cx="502920" cy="365760"/>
          </a:xfrm>
          <a:prstGeom prst="ellipse">
            <a:avLst/>
          </a:prstGeom>
          <a:solidFill>
            <a:srgbClr val="FFF2B3"/>
          </a:solidFill>
          <a:ln w="12700">
            <a:solidFill>
              <a:srgbClr val="C9A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1060704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12680" y="4160520"/>
            <a:ext cx="502920" cy="365760"/>
          </a:xfrm>
          <a:prstGeom prst="rect">
            <a:avLst/>
          </a:prstGeom>
          <a:solidFill>
            <a:srgbClr val="CFDCFF"/>
          </a:solidFill>
          <a:ln w="12700">
            <a:solidFill>
              <a:srgbClr val="4F6B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1060704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012680" y="5074920"/>
            <a:ext cx="502920" cy="365760"/>
          </a:xfrm>
          <a:prstGeom prst="homePlate">
            <a:avLst/>
          </a:prstGeom>
          <a:solidFill>
            <a:srgbClr val="FFD8B8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10607040" y="5029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dados: pessoas, processos e métricas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Pré-requisito: alinhamento estratégico em vários níveis — diretrizes de qualidade alinhadas às da TI, que se alinham às da empresa.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7367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(estrutura)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2900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área responsável é pouco realista: muitas áreas usam dados internos e externos.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repositórios corporativos (ex.: data lake), a TI pode fazer controle de qualidade.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quem adquire, captura, gere, armazena e divulga dados, em todas as áreas.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4256" y="23774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62856" y="26060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615" y="27367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0096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(gestão)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62856" y="342900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dos processos é determinante.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com metadados contribui decisivamente.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verificados periodicamente, em melhoria contínua.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manuseio por sistemas e aplicações.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19872" y="23774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348472" y="26060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231" y="273679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25712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48472" y="342900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regulares com a alta direção ou seus representantes.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das atividades planejadas.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mostrem o avanço e os efeitos das 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 medir antes para provar depois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feita antes do início das atividades, para que se possa avaliar o resultado das ações.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 devem ser adequadas às iniciativas em desenvolvimento.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691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Sugestões de métricas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6976872" cy="1115568"/>
          </a:xfrm>
          <a:prstGeom prst="roundRect">
            <a:avLst>
              <a:gd name="adj" fmla="val 81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892040" y="228600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25877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082" y="2698394"/>
            <a:ext cx="281635" cy="28163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43800" y="2286000"/>
            <a:ext cx="1783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definido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372600" y="25877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242" y="2698394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966960" y="2286000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conhecimento dos colaboradores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63440" y="3584448"/>
            <a:ext cx="6976872" cy="1115568"/>
          </a:xfrm>
          <a:prstGeom prst="roundRect">
            <a:avLst>
              <a:gd name="adj" fmla="val 81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4892040" y="3584448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Dados-mestre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949440" y="3886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082" y="399684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43800" y="3584448"/>
            <a:ext cx="1783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definido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372600" y="3886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242" y="399684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966960" y="3584448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conhecimento dos colaboradores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663440" y="4882896"/>
            <a:ext cx="6976872" cy="1115568"/>
          </a:xfrm>
          <a:prstGeom prst="roundRect">
            <a:avLst>
              <a:gd name="adj" fmla="val 81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 txBox="1"/>
          <p:nvPr/>
        </p:nvSpPr>
        <p:spPr>
          <a:xfrm>
            <a:off x="4892040" y="4882896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949440" y="518464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082" y="529529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43800" y="4882896"/>
            <a:ext cx="1783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dados com metadados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9372600" y="518464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242" y="5295290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966960" y="4882896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conhecimento dos colaboradores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7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QUALIDADE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Módulo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se verifica com critérios testáveis por coluna.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34256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62856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21982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5816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 dão qualidade aos dados-mestre.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19872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8348472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219821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71432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metadados, não há referência de qualidade.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77240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3798418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DMBOK define objetivos e atividades de qualidade.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34256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4562856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3798418"/>
            <a:ext cx="358445" cy="35844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85816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 permite achar a causa raiz; W3C PROV a descreve.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19872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8348472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9290" y="3798418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71432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Pessoas, processos e métricas, partindo de um baseline.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Reflita: como você pode garantir que, na sua empresa, os dados usados para tomada de decisão são confiáveis?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aspectos éticos de 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Ameaças, ISO/IEC 27000, segurança no DMBOK, ética, LGPD e dados abertos.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1C2B44"/>
          </a:solidFill>
          <a:ln w="9525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29400" y="1051560"/>
            <a:ext cx="640080" cy="6400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211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módulo, você será capaz 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área "Segurança de dados" do DMBOK.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os aspectos éticos de dados.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que é a LGPD.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que são dados abertos.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Exemplificar pessoas, processos e métricas para segurança.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Hiperconectividade: benefícios tangíveis, ameaças reais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Diferentemente da memória humana, acessível só a nós, os dados das empresas estão digitalizados em arquivos e bancos. Só pessoas autorizadas deveriam inserir, ver, alterar e descartar esses dados — cabe à TI operacionalizar essa segurança e orientar os usuários.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empresa é uma ilha: pessoas, empresas e governos estão todos digitalmente conectados.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Portaria, portas e alarmes não bastam para proteger dados em arquivos e bancos de dados.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65392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20409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251192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2606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divulgados amplamente de forma não autorizada. Fere a confidencialidade.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36792" y="40233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565392" y="42519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093" y="437266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51192" y="4251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Sequestro (ransomware)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65392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criptografados e tornados indisponíveis para uso. Fere a disponibilidade.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27000 e a Política de Segurança da Informação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7373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e vocabulário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2852928"/>
            <a:ext cx="91" cy="23774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7B61FF"/>
          </a:solidFill>
          <a:ln w="9525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1089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gestão da segurança da informação — requisitos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4224528"/>
            <a:ext cx="91" cy="237744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22960" y="4480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44805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prática para controles de segurança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Referencial mundial para definir políticas e procedimentos e para elaborar e acompanhar uma PSI.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ISO/IEC 27002 orienta sobre a PSI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2860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e aprovada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direção, no mais alto nível da organização.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 comunicada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todos os funcionários e partes externas relevantes.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a abordagem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gerenciar os objetivos de segurança.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4297680"/>
            <a:ext cx="5513832" cy="1828800"/>
          </a:xfrm>
          <a:prstGeom prst="roundRect">
            <a:avLst>
              <a:gd name="adj" fmla="val 500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da PSI vêm de três fontes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4892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5002682"/>
            <a:ext cx="281635" cy="28163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400800" y="5440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do negócio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138160" y="4892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802" y="5002682"/>
            <a:ext cx="281635" cy="28163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138160" y="5440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Leis, regulamentos e contratos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9875520" y="4892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162" y="5002682"/>
            <a:ext cx="281635" cy="28163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75520" y="5440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ameaças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14 domínios de controle da ISO/IEC 27001:2013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segurança da informação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2860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segurança da informação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8862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gestão de pessoas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492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4864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589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ativos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496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86868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593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49840" y="169164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02870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025956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física e do ambiente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858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nas operações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488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22860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22585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nas comunicações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38862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38587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Aquisição, desenvolvimento e manutenção de sistemas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492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54864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4589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na cadeia de suprimento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70866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incidentes de segurança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496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86868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86593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 continuidade do negócio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149840" y="338328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 txBox="1"/>
          <p:nvPr/>
        </p:nvSpPr>
        <p:spPr>
          <a:xfrm>
            <a:off x="102870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10259568" y="393192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77240" y="534924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5479999"/>
            <a:ext cx="332842" cy="332842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600200" y="5166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 professor: a revisão ISO/IEC 27002:2022 reorganizou os controles em 4 temas — organizacionais, pessoas, físicos e tecnológicos — totalizando 93 controles.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dados segundo o DMBOK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planejamento, desenvolvimento e execução de políticas e procedimentos de segurança para prover autenticação, autorização, acesso e auditoria adequados dos ativos de dados e informações (DAMA, 2017, p. 219).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3429000"/>
            <a:ext cx="731520" cy="7315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33172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você? Confirmar a identidade do usuário.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64992" y="320040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593592" y="3429000"/>
            <a:ext cx="731520" cy="7315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36118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48072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3593592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93592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fazer? Conceder permissões conforme o papel.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81344" y="320040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6409944" y="3429000"/>
            <a:ext cx="731520" cy="7315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6118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964424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6409944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409944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os dados a quem está autorizado, quando necessário.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997696" y="320040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9226296" y="3429000"/>
            <a:ext cx="731520" cy="7315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36118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780776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28" name="Text 22"/>
          <p:cNvSpPr txBox="1"/>
          <p:nvPr/>
        </p:nvSpPr>
        <p:spPr>
          <a:xfrm>
            <a:off x="9226296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6296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feito? Registrar e revisar ações e acessos.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o material original atribui esta definição à "gestão da qualidade de dados"; trata-se da área de segurança de dados.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de dados: princípios para dados pessoais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= dados usados de forma correta, para o bem e em prol da sociedade. Como buscar, armazenar, gerir, interpretar, analisar, usar e descartar dados de forma ética?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280812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Legalidade e transparência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19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Obtidos dentro da lei, com clareza sobre a coleta.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4992" y="25146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547872" y="2697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514" y="280812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9664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 e minimização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319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necessário; ex.: portaria não deve perguntar estado civil.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81344" y="25146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364224" y="2697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866" y="280812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86016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3319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 de forma precisa, sem prejuízo ao titular.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97696" y="25146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9180576" y="2697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218" y="280812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02368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do armazenamento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180576" y="3319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Guardados só enquanto necessários; depois, descartados.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3434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731520" y="4526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" y="463692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53312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 e integridade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51480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usados nem alterados por pessoas não autorizadas.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364992" y="43434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3547872" y="4526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8514" y="4636922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169664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3547872" y="51480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permite explicitamente o uso dos seus dados.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181344" y="43434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28"/>
          <p:cNvSpPr/>
          <p:nvPr/>
        </p:nvSpPr>
        <p:spPr>
          <a:xfrm>
            <a:off x="6364224" y="4526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4866" y="4636922"/>
            <a:ext cx="281635" cy="28163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986016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364224" y="51480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responde por prejuízos ao titular.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8997696" y="434340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2"/>
          <p:cNvSpPr/>
          <p:nvPr/>
        </p:nvSpPr>
        <p:spPr>
          <a:xfrm>
            <a:off x="9180576" y="4526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1218" y="4636922"/>
            <a:ext cx="281635" cy="28163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802368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Salvaguardas auditáveis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9180576" y="51480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Garantem que o tratamento segue os princípios.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éticos ainda podem gerar análises erradas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coleta e tratamento éticos, o uso analítico inadequado leva a conclusões incorretas. Quatro cuidados: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914400" cy="9144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0358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precisas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30815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especificados sem ambiguidade: o que o dado representa e se é comparável.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0488" y="242316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464808" y="2807208"/>
            <a:ext cx="914400" cy="9144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0358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viés amostral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53528" y="30815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definida com rigor para não carregar tendência.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22960" y="4681728"/>
            <a:ext cx="914400" cy="9144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9103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011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antes da análise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2011680" y="49560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fidedignos: procedimentos de qualidade antes do uso.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190488" y="429768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6464808" y="4681728"/>
            <a:ext cx="914400" cy="9144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91032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653528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653528" y="49560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anonimizados para que nenhuma análise exponha um indivíduo.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LGPD: Lei nº 13.709/2018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205740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5303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1º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Dispõe sobre o tratamento de dados pessoais, inclusive nos meios digitais, por pessoa natural ou jurídica de direito público ou privado, para proteger os direitos fundamentais de liberdade e de privacidade e o livre desenvolvimento da personalidade da pessoa natural.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3931920" cy="0"/>
          </a:xfrm>
          <a:prstGeom prst="line">
            <a:avLst/>
          </a:prstGeom>
          <a:noFill/>
          <a:ln w="31750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4206240"/>
            <a:ext cx="274320" cy="274320"/>
          </a:xfrm>
          <a:prstGeom prst="ellipse">
            <a:avLst/>
          </a:prstGeom>
          <a:solidFill>
            <a:srgbClr val="7B61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Promulgação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4206240"/>
            <a:ext cx="274320" cy="274320"/>
          </a:xfrm>
          <a:prstGeom prst="ellipse">
            <a:avLst/>
          </a:prstGeom>
          <a:solidFill>
            <a:srgbClr val="7B61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42316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em vigor (setembro)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4206240"/>
            <a:ext cx="274320" cy="274320"/>
          </a:xfrm>
          <a:prstGeom prst="ellipse">
            <a:avLst/>
          </a:prstGeom>
          <a:solidFill>
            <a:srgbClr val="7B61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38912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Sanções aplicáveis (agosto)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 no GDPR europeu.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Partes interessadas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766560" y="2240280"/>
            <a:ext cx="4873752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903720" y="2368296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468" y="2497044"/>
            <a:ext cx="327721" cy="327721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635240" y="224028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24028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quem se referem os dados pessoais.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66560" y="3218688"/>
            <a:ext cx="4873752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6903720" y="3346704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468" y="3475452"/>
            <a:ext cx="327721" cy="327721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635240" y="3218688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9052560" y="321868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como será o tratamento.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766560" y="4197096"/>
            <a:ext cx="4873752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5"/>
          <p:cNvSpPr/>
          <p:nvPr/>
        </p:nvSpPr>
        <p:spPr>
          <a:xfrm>
            <a:off x="6903720" y="4325112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468" y="4453860"/>
            <a:ext cx="327721" cy="327721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635240" y="419709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9052560" y="419709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o tratamento.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766560" y="5175504"/>
            <a:ext cx="4873752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9"/>
          <p:cNvSpPr/>
          <p:nvPr/>
        </p:nvSpPr>
        <p:spPr>
          <a:xfrm>
            <a:off x="6903720" y="5303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468" y="5432268"/>
            <a:ext cx="327721" cy="327721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635240" y="5175504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9052560" y="51755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Nacional de Proteção de Dados.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sensíveis e os princípios do art. 6º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2174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sensíveis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Revelam: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racial ou étnica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Convicção religiosa ou filosófica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Opinião política e filiação sindical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genéticos ou biométricos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ou vida sexual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adolescentes: em regra, exige-se o consentimento de pelo menos um dos pais.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691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do tratamento (art. 6º)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2240280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138928" y="2368296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13892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240280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informada ao titular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2240280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476488" y="2368296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47648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240280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contexto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026664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138928" y="3154680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138928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026664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necessário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66760" y="3026664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476488" y="3154680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8476488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026664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acesso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titular aos dados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3813048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138928" y="3941064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5138928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381304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dados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66760" y="3813048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8476488" y="3941064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8476488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381304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tratamento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0" y="4599432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138928" y="4727448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5138928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459943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acessos indevidos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4599432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8476488" y="4727448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8476488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459943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danos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029200" y="5385816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5138928" y="5513832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 txBox="1"/>
          <p:nvPr/>
        </p:nvSpPr>
        <p:spPr>
          <a:xfrm>
            <a:off x="5138928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538581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discriminação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fins ilícitos ou abusivos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366760" y="5385816"/>
            <a:ext cx="3200400" cy="676656"/>
          </a:xfrm>
          <a:prstGeom prst="roundRect">
            <a:avLst>
              <a:gd name="adj" fmla="val 1351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8476488" y="5513832"/>
            <a:ext cx="420624" cy="4206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 txBox="1"/>
          <p:nvPr/>
        </p:nvSpPr>
        <p:spPr>
          <a:xfrm>
            <a:off x="8476488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538581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prestação de contas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Segurança, boas práticas e governança na LGPD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 do GDPR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protege o titular e, ao tratar de ética, também trata de segurança: vazamentos são de responsabilidade dos agentes de tratamento (controlador e operador).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81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48463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Dedicado à segurança e às boas práticas para garantir a proteção dos dados e a governança.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71032" y="169164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 txBox="1"/>
          <p:nvPr/>
        </p:nvSpPr>
        <p:spPr>
          <a:xfrm>
            <a:off x="6245352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50 — boas práticas e governança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245352" y="2331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e operadores podem formular regras que estabeleçam: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245352" y="29260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organização e regime de funcionamento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Procedimentos, incluindo reclamações e petições de titulares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 segurança e padrões técnicos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Obrigações específicas dos envolvidos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educativas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internos de supervisão e mitigação de riscos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abertos: o outro lado da moeda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contrário dos dados pessoais, que precisam ser protegidos, dados abertos podem ser usados, reutilizados e redistribuídos gratuitamente — desde que preservados os aspectos de linhagem e acesso.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572768" y="2926080"/>
            <a:ext cx="786384" cy="786384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364" y="3122676"/>
            <a:ext cx="393192" cy="3931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da empresa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região metropolitana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29718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4251960" y="2788920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276088" y="2926080"/>
            <a:ext cx="786384" cy="78638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3122676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IDHM (Ipea)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dados.gov.br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29718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7" name="Shape 13"/>
          <p:cNvSpPr/>
          <p:nvPr/>
        </p:nvSpPr>
        <p:spPr>
          <a:xfrm>
            <a:off x="7955280" y="2788920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979408" y="2926080"/>
            <a:ext cx="786384" cy="786384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004" y="3122676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4672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enriquecida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04672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× desenvolvimento humano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 txBox="1"/>
          <p:nvPr/>
        </p:nvSpPr>
        <p:spPr>
          <a:xfrm>
            <a:off x="822960" y="51206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enriquecem conjuntos de dados internos. O Banco Mundial (Open Data Essentials) sistematiza sua definição e características.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dados: pessoas, processos e métricas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PSI deve ser divulgada a toda a empresa: depende do comportamento de colaboradores e fornecedores.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quem adquire, captura, gere, armazena e divulga dados — muitos dados vivem em planilhas departamentais.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62856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57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4376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651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PSI não há referência de quais processos implementar, nem com que maturidade.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PSI deve ser reavaliada periodicamente para mitigar novos riscos.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48472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0409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79992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651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segurança com reuniões regulares e extraordinárias.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incidentes graves e decide mudanças na PSI.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direção acompanha implementação e métricas com a TI e o comitê.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sugeridas (a partir de um baseline)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303520"/>
            <a:ext cx="2633472" cy="822960"/>
          </a:xfrm>
          <a:prstGeom prst="roundRect">
            <a:avLst>
              <a:gd name="adj" fmla="val 11111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 txBox="1"/>
          <p:nvPr/>
        </p:nvSpPr>
        <p:spPr>
          <a:xfrm>
            <a:off x="685800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políticas da PSI implementadas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364992" y="5303520"/>
            <a:ext cx="2633472" cy="822960"/>
          </a:xfrm>
          <a:prstGeom prst="roundRect">
            <a:avLst>
              <a:gd name="adj" fmla="val 11111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 txBox="1"/>
          <p:nvPr/>
        </p:nvSpPr>
        <p:spPr>
          <a:xfrm>
            <a:off x="3502152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dos colaboradores sobre a PSI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81344" y="5303520"/>
            <a:ext cx="2633472" cy="822960"/>
          </a:xfrm>
          <a:prstGeom prst="roundRect">
            <a:avLst>
              <a:gd name="adj" fmla="val 11111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 txBox="1"/>
          <p:nvPr/>
        </p:nvSpPr>
        <p:spPr>
          <a:xfrm>
            <a:off x="6318504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por grau de gravidade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997696" y="5303520"/>
            <a:ext cx="2633472" cy="822960"/>
          </a:xfrm>
          <a:prstGeom prst="roundRect">
            <a:avLst>
              <a:gd name="adj" fmla="val 11111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 txBox="1"/>
          <p:nvPr/>
        </p:nvSpPr>
        <p:spPr>
          <a:xfrm>
            <a:off x="9134856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Regularidade das reuniões do comitê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SEGURANÇA E ÉTICA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integrada: tudo gira em torno do dado como ativo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governança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executa; governança alinha à estratégia via DMBOK.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82712" y="17373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211312" y="1965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071" y="20967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988552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651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Critérios, referência, mestre, metadados e linhagem.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77240" y="44805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6113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480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ética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51663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ISO/IEC 27000, AAAA e princípios éticos.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982712" y="425196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8211312" y="44805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071" y="46113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88552" y="4480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11312" y="51663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ANPD e dados abertos com linhagem preservada.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636008" y="2423160"/>
            <a:ext cx="2926080" cy="2926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2880360"/>
            <a:ext cx="822960" cy="8229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818888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como ativo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818888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· processos · métricas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224528" y="2697480"/>
            <a:ext cx="530352" cy="32004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 flipH="1">
            <a:off x="7434072" y="2697480"/>
            <a:ext cx="530352" cy="32004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 flipV="1">
            <a:off x="4224528" y="4800600"/>
            <a:ext cx="530352" cy="36576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 flipH="1" flipV="1">
            <a:off x="7434072" y="4800600"/>
            <a:ext cx="530352" cy="36576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GOVERNANÇA DE DADOS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BRASILEIRA DE NORMAS TÉCNICAS. NBR ISO/IEC 27002:2013: código de prática para a gestão da segurança da informação. Rio de Janeiro: ABNT, 2013.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ATWAL, H. Practical DataOps: delivering agile data science at scale. Apress, 2019.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BARBIERI, C. Governança de dados: práticas, conceitos e novos caminhos. Rio de Janeiro: Alta Books, 2020.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13.709, de 14 de agosto de 2018. Lei Geral de Proteção de Dados Pessoais (LGPD).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 INTERNATIONAL. DAMA-DMBOK: data management body of knowledge. 2. ed. Technics Publications, 2017.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ERYUREK, E. et al. Data governance: the definitive guide. O'Reilly Media, 2021.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45352" y="169164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GIL, Y. et al. PROV model primer. World Wide Web Consortium, 2013.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GROTH, P.; MOREAU, L. (ed.). PROV-overview. World Wide Web Consortium, 2013.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LADLEY, J. Data governance: how to design, deploy, and sustain an effective data governance program. Academic Press, 2019.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RÊGO, B. L. Gestão e governança de dados: promovendo dados como ativo de valor nas empresas. Brasport, 2013.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BANK. Open data essentials. Open Data Toolkit, c2019.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VILLAS, M. V.; BARBIERI, C. Gestão e governança de dados, Aulas 1–3. PUC-Rio, material didático.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097280"/>
            <a:ext cx="4572000" cy="4572000"/>
          </a:xfrm>
          <a:prstGeom prst="ellipse">
            <a:avLst/>
          </a:prstGeom>
          <a:solidFill>
            <a:srgbClr val="0F1B2D"/>
          </a:solidFill>
          <a:ln w="1905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680960" y="1645920"/>
            <a:ext cx="3474720" cy="3474720"/>
          </a:xfrm>
          <a:prstGeom prst="ellipse">
            <a:avLst/>
          </a:prstGeom>
          <a:solidFill>
            <a:srgbClr val="0F1B2D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503920" y="2468880"/>
            <a:ext cx="1828800" cy="1828800"/>
          </a:xfrm>
          <a:prstGeom prst="ellipse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926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comentários e debate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“Dados de qualidade, seguros e usados com ética não são um projeto: são um processo permanente da organização.”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8006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96012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Elaborado por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André Serrano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vernanca de Dados">
  <a:themeElements>
    <a:clrScheme name="Governanca de Dados">
      <a:dk1>
        <a:srgbClr val="1A2238"/>
      </a:dk1>
      <a:lt1>
        <a:srgbClr val="FFFFFF"/>
      </a:lt1>
      <a:dk2>
        <a:srgbClr val="0F1B2D"/>
      </a:dk2>
      <a:lt2>
        <a:srgbClr val="F1F4F9"/>
      </a:lt2>
      <a:accent1>
        <a:srgbClr val="00A99D"/>
      </a:accent1>
      <a:accent2>
        <a:srgbClr val="F2711C"/>
      </a:accent2>
      <a:accent3>
        <a:srgbClr val="7B61FF"/>
      </a:accent3>
      <a:accent4>
        <a:srgbClr val="FFB627"/>
      </a:accent4>
      <a:accent5>
        <a:srgbClr val="2D7FF9"/>
      </a:accent5>
      <a:accent6>
        <a:srgbClr val="E84393"/>
      </a:accent6>
      <a:hlink>
        <a:srgbClr val="2D7FF9"/>
      </a:hlink>
      <a:folHlink>
        <a:srgbClr val="7B61FF"/>
      </a:folHlink>
    </a:clrScheme>
    <a:fontScheme name="Governanca de Dad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7633</Words>
  <Application>Microsoft Office PowerPoint</Application>
  <PresentationFormat>Widescreen</PresentationFormat>
  <Paragraphs>997</Paragraphs>
  <Slides>58</Slides>
  <Notes>58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2" baseType="lpstr">
      <vt:lpstr>Arial</vt:lpstr>
      <vt:lpstr>Calibri</vt:lpstr>
      <vt:lpstr>Courier New</vt:lpstr>
      <vt:lpstr>Governanca de Dados</vt:lpstr>
      <vt:lpstr>Apresentação do PowerPoint</vt:lpstr>
      <vt:lpstr>Apresentação do PowerPoint</vt:lpstr>
      <vt:lpstr>Dados são ativos que produzem valor</vt:lpstr>
      <vt:lpstr>Uma analogia: como se gere a área de RH?</vt:lpstr>
      <vt:lpstr>E quem garante que o RH está alinhado à estratégia?</vt:lpstr>
      <vt:lpstr>Gestão × governança: termos parecidos, papéis distintos</vt:lpstr>
      <vt:lpstr>A hierarquia em níveis que separa governança e gestão</vt:lpstr>
      <vt:lpstr>Transpondo para dados</vt:lpstr>
      <vt:lpstr>Por que a gestão de dados ficou mais complexa</vt:lpstr>
      <vt:lpstr>Frameworks: normas ISO/IEC para aspectos específicos</vt:lpstr>
      <vt:lpstr>DAMA-DMBOK: a principal referência</vt:lpstr>
      <vt:lpstr>O ciclo de vida dos dados</vt:lpstr>
      <vt:lpstr>Ciclos ágeis: de DevOps a DataOps e MLOps</vt:lpstr>
      <vt:lpstr>As 11 áreas de conhecimento do DMBOK</vt:lpstr>
      <vt:lpstr>As áreas de conhecimento em detalhe (1/2)</vt:lpstr>
      <vt:lpstr>As áreas de conhecimento em detalhe (2/2)</vt:lpstr>
      <vt:lpstr>Implementar GGD é promover mudança organizacional</vt:lpstr>
      <vt:lpstr>Passos para implementar gestão e governança de dados</vt:lpstr>
      <vt:lpstr>Alinhamento estratégico: a estratégia em cascata</vt:lpstr>
      <vt:lpstr>Do cenário atual à visão de futuro</vt:lpstr>
      <vt:lpstr>Projetos × processos: não confunda</vt:lpstr>
      <vt:lpstr>Apresentação do PowerPoint</vt:lpstr>
      <vt:lpstr>Síntese do Módulo 1</vt:lpstr>
      <vt:lpstr>Apresentação do PowerPoint</vt:lpstr>
      <vt:lpstr>Por que a qualidade de dados importa</vt:lpstr>
      <vt:lpstr>Estudo de caso: a base de clientes de uma rede de lojas</vt:lpstr>
      <vt:lpstr>Que valores esperar da coluna CPF?</vt:lpstr>
      <vt:lpstr>Critérios para as demais colunas</vt:lpstr>
      <vt:lpstr>Dos critérios às dimensões de qualidade</vt:lpstr>
      <vt:lpstr>Dados de referência: classificar e categorizar</vt:lpstr>
      <vt:lpstr>Dados-mestre e sua relação com os de referência</vt:lpstr>
      <vt:lpstr>Apresentação do PowerPoint</vt:lpstr>
      <vt:lpstr>Metadados criam uma definição compartilhada</vt:lpstr>
      <vt:lpstr>Elementos de metadados (1/2): identificação e estrutura</vt:lpstr>
      <vt:lpstr>Elementos de metadados (2/2): contexto e uso</vt:lpstr>
      <vt:lpstr>Metadados na prática: o portal dados.gov.br</vt:lpstr>
      <vt:lpstr>Qualidade de dados segundo o DMBOK</vt:lpstr>
      <vt:lpstr>Atividades para atingir os objetivos de qualidade</vt:lpstr>
      <vt:lpstr>Linhagem de dados: a árvore genealógica do dado</vt:lpstr>
      <vt:lpstr>W3C PROV: um padrão para descrever proveniência</vt:lpstr>
      <vt:lpstr>Qualidade de dados: pessoas, processos e métricas</vt:lpstr>
      <vt:lpstr>Métricas: medir antes para provar depois</vt:lpstr>
      <vt:lpstr>Síntese do Módulo 2</vt:lpstr>
      <vt:lpstr>Apresentação do PowerPoint</vt:lpstr>
      <vt:lpstr>Hiperconectividade: benefícios tangíveis, ameaças reais</vt:lpstr>
      <vt:lpstr>ISO/IEC 27000 e a Política de Segurança da Informação</vt:lpstr>
      <vt:lpstr>Os 14 domínios de controle da ISO/IEC 27001:2013</vt:lpstr>
      <vt:lpstr>Segurança de dados segundo o DMBOK</vt:lpstr>
      <vt:lpstr>Ética de dados: princípios para dados pessoais</vt:lpstr>
      <vt:lpstr>Dados éticos ainda podem gerar análises erradas</vt:lpstr>
      <vt:lpstr>LGPD: Lei nº 13.709/2018</vt:lpstr>
      <vt:lpstr>Dados sensíveis e os princípios do art. 6º</vt:lpstr>
      <vt:lpstr>Segurança, boas práticas e governança na LGPD</vt:lpstr>
      <vt:lpstr>Dados abertos: o outro lado da moeda</vt:lpstr>
      <vt:lpstr>Segurança de dados: pessoas, processos e métricas</vt:lpstr>
      <vt:lpstr>Visão integrada: tudo gira em torno do dado como ativo</vt:lpstr>
      <vt:lpstr>Referências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e Governança de Dados</dc:title>
  <dc:subject>PptxGenJS Presentation</dc:subject>
  <dc:creator>Prof. Dr. André Serrano</dc:creator>
  <cp:lastModifiedBy>andre serrano</cp:lastModifiedBy>
  <cp:revision>3</cp:revision>
  <dcterms:created xsi:type="dcterms:W3CDTF">2026-10-16T17:37:27Z</dcterms:created>
  <dcterms:modified xsi:type="dcterms:W3CDTF">2026-10-16T18:02:56Z</dcterms:modified>
</cp:coreProperties>
</file>