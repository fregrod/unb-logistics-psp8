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5F6D392-7EC8-9EFD-78F9-ACFB10326467}">
          <p14:sldIdLst>
            <p14:sldId id="256"/>
            <p14:sldId id="259"/>
            <p14:sldId id="260"/>
          </p14:sldIdLst>
        </p14:section>
        <p14:section name="Módulo 1 – Data warehouse" id="{F1951F9B-2051-D6FC-0E01-EF8DE75F5378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Módulo 2 – NoSQL" id="{EB323C47-FEEC-1DF1-4F83-BF950CC55F46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Módulo 3 – Data lakes" id="{B882DDF5-6342-0517-0CAB-BC51B743960C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Encerramento" id="{5474B667-828B-BF1C-7134-E9328969A3CB}">
          <p14:sldIdLst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788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Três aulas: (1) data warehouse e inteligência de negócio; (2) sistemas NoSQL e big data; (3) data lakes, ingestão e ETL. O armazém no centro representa o repositório integrado; os satélites, cubos, grafos, lagos e velocidade.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Glossário de referência. Peça aos alunos que voltem a ele sempre que encontrarem uma sigla. Outras siglas (CSV, PDF, API, I/O, CRUD, KPI) são traduzidas no próprio slide em que aparecem.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Glossário de referência. Peça aos alunos que voltem a ele sempre que encontrarem uma sigla. Outras siglas (CSV, PDF, API, I/O, CRUD, KPI) são traduzidas no próprio slide em que aparecem.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Módulo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3 Vs tornam o suporte à decisão complexo. O desafio duplo: ferramentas que lidem com os 3 Vs e perguntas de negócio relevantes que dirijam o pipeline de dados (coleta, integração, armazenamento, cruzamento, processamento).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ambientes de BI modernos viraram ecossistemas que suportam os quatro níveis. Mensagem do material: iniciativas de ciência de dados são idealmente suportadas por ambientes de Inteligência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crítico de todo ambiente de BI é construir o repositório integrado. A literatura descreve sete níveis possíveis de integração (vídeo da aula original).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fatores de complexidade, segundo o material. A estatística de 70% é atribuída à Forrester no texto-base; cite-a como 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mart é subconjunto do DW; data lake guarda o dado em formato nativo. Em ambientes modernos os três coexistem.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distinção origina os dois tipos de processamento: OLTP e OLAP, comparados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o versionamento: no ambiente analítico um cliente pode ter vários endereços ao longo do tempo, o que permite rastrear mudanças de comportamento de compra.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quatro desafios orientam a evolução das arquiteturas (BI 2.0, 3.0,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componentes essenciais: repositório integrado (DW e/ou data marts), ETL, ferramentas de análise e repositório de metadados.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Inmon dá a definição conceitual; Kimball, a visão pragmática. As quatro características vêm da definição de Inmon (o detalhamento de cada uma está num elemento interativo do original; aqui seguimos a literatura clássica).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processo deve ser automatizado e monitorado pelo DBA (Administrador de Banco de Dados). O exemplo de conversão de unidades segue a ideia do material; os valores são ilustrativos.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ROLAP domina o mercado pela presença dos SGBDs relacionais em empresas de todos os portes. Existe ainda a abordagem híbrida HOLAP (Hybrid OLAP), que combina as duas.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material define slice como filtrar registros ou colunas e dice como filtrar registros e colunas. Na literatura, slice fixa uma dimensão e dice seleciona um subcubo. Exemplos de vendas são ilustrativos.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exemplo do material usa o software AG MashZone. Ressalte que o aprendizado de máquina passa a escrever de volta no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etapas seguem o material. O texto original menciona três princípios de projeto num elemento interativo não reproduzido no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requisitos são levantados com os gestores (futuros usuários). Granularidade é a decisão mais crítica: não se recupera detalhe que não foi armazenado.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Ambas as abordagens são incrementais e iterativas. Historicamente, top-down associa-se a Inmon e bottom-up (com dimensões conformadas) a Kimball.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Paradigma multidimensional: o modo como gestores pensam. Cada dimensão é uma categoria com elementos distintos; há exatamente um valor por cruzamento.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cubo é uma metáfora cognitiva. Como só enxergamos três dimensões, hipercubos são visualizados como composições de cubos.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 do professor: o material afirma que fatos são obrigatoriamente aditivos. Kimball também reconhece fatos semiaditivos (ex.: saldo, somável em contas mas não no tempo) e não aditivos (ex.: razões), tratados com cuidado na agregação.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Dimensões ortogonais com vários níveis permitem combinar agregações (ex.: vendas por mês e por estado). A dimensão tempo é a mais rica em atributos.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MOLAP, o fato vira um vetor cujos elementos são as medidas e as referências às dimensões.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versionamento com janela de validade corresponde à técnica conhecida como dimensão de mudança lenta do tipo 2 (Slowly Changing Dimension, SCD tipo 2). Use um modelo conceitual ou ontologia de referência para padronizar termos.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Esquema estrela: o mais usado na prática. Exemplo com quatro dimensões construído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texto-base apresenta os três tipos e detalha o estrela; floco de neve e constelação seguem a literatura (Kimball e Ross). Dimensões compartilhadas entre fatos são as dimensões conformadas.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do 'Reflita' do material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Módulo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 do relacional para novas aplicações: esquema predefinido, dificuldade de escala horizontal e adequação a novos tipos de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categorias estavam num elemento interativo; os exemplos de colunas (HBase, Cassandra) são acréscimo do professor — HBase reaparece no Módulo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de sessão Redis construído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de documento inspirado no do material (livro com autores estruturados e categorias).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equivale a SELECT com critério de busca e projeção (name, address), como na álgebra relacional; limit(5) retorna os cinco primeiros.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Modelagem do problema de Königsberg: regiões são nós, pontes são arestas. O material traz o tema em podcast e no artigo de Teo Paoletti.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Atualização: a GQL foi publicada como norma ISO/IEC 39075 em 2024 — confirme a situação ao apresentar. W3C = World Wide Web Consortium.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aspectos a considerar estavam num elemento interativo do original; aqui sintetizamos desempenho e expressividade. Bancos sem esquema transferem a interpretação para a aplicação.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de exemplo de filmes do Neo4j, usada no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Correção: o exemplo do material 'MATCH (p1:Person)-[r]-&gt;(p1:Person) RETURN p1, r, p2' tem erro de digitação; o correto é (p1:Person)-[r]-&gt;(p2:Person).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exemplo do material com CREATE, MERGE, CREATE do mesmo nó: sem restrição de unicidade, nada falha e surgem duplicatas; com restrição de unicidade em name, o terceiro comando (CREATE) é que falharia, pois o MERGE apenas encontra o nó existente.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material encerra com o depoimento de mercado de Antony Seabra (vídeo).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Módulo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Além dos 3 Vs, outros Vs (veracidade, valor, variabilidade) aparecem na literatura, sem consenso. HTML = HyperText Markup Language (Linguagem de Marcação de Hipertexto).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comparação original estava num interativo de seis imagens; esta tabela segue a literatura. Shared-nothing: cada nó tem disco, memória e processador próprios.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de infraestrutura apresentada pelo convidado. Hadoop é a arquitetura mais comum para data lakes, sozinho ou com Spark e SGBDs NoSQL (Couto, 2022).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ano de 2006 para o Hadoop é complemento do professor. O artigo do MapReduce é de 2004 (OSDI); a versão citada no material, na Communications of the ACM, é de 2008.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clássico de contagem de palavras, na mesma estrutura do material (fonte original: IntelliPaat).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simplificado a partir de Ghemawat, Gobioff e Leung (2003). MB = megabyte; KB = kilobyte.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Atualização: o append em arquivos HDFS foi incorporado em versões posteriores; o bloco padrão passou de 64 MB (Hadoop 1) para 128 MB (Hadoop 2+).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material cita os três componentes do Hadoop 2.0 num elemento interativo; apresentamos os componentes do YARN conforme a documentação Apache. Spark estende o MapReduce para o interativo e o tempo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Ecossistema vivo. Clusters Hadoop–Spark sustentam exploração de dados, integração de fontes heterogêneas e treino de modelos de IA em larga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abordagens do original estavam num interativo de imagens; esta é uma reconstrução com as ferramentas usuais do ecossistema. Sqoop foi movido para o Apache Attic em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vídeo final de Antony Seabra apresenta as atividades práticas (Técnica Aplicada).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integrador: o lago acolhe tudo; o DW organiza o que é estruturado; as ferramentas transformam em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Seleção das referências do material original, mais o próprio material didático.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</a:rPr>
              <a:t>Data Warehouse, NoSQL e Data Lakes  |  Prof. Dr. André Serrano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D"/>
                </a:solidFill>
              </a:rPr>
              <a:t>Data Warehouse, NoSQL e Data Lakes  |  Prof. Dr. André Serrano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6.png"/><Relationship Id="rId5" Type="http://schemas.openxmlformats.org/officeDocument/2006/relationships/image" Target="../media/image17.png"/><Relationship Id="rId10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16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29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4.png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28.png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3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8.png"/><Relationship Id="rId4" Type="http://schemas.openxmlformats.org/officeDocument/2006/relationships/image" Target="../media/image4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5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731520"/>
            <a:ext cx="5120640" cy="5120640"/>
          </a:xfrm>
          <a:prstGeom prst="ellipse">
            <a:avLst/>
          </a:prstGeom>
          <a:solidFill>
            <a:srgbClr val="14123A"/>
          </a:solidFill>
          <a:ln w="1905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223760" y="1280160"/>
            <a:ext cx="4023360" cy="4023360"/>
          </a:xfrm>
          <a:prstGeom prst="ellipse">
            <a:avLst/>
          </a:prstGeom>
          <a:solidFill>
            <a:srgbClr val="14123A"/>
          </a:solidFill>
          <a:ln w="190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0" y="1828800"/>
            <a:ext cx="2926080" cy="2926080"/>
          </a:xfrm>
          <a:prstGeom prst="ellipse">
            <a:avLst/>
          </a:prstGeom>
          <a:solidFill>
            <a:srgbClr val="14123A"/>
          </a:solidFill>
          <a:ln w="1905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321040" y="2377440"/>
            <a:ext cx="1828800" cy="1828800"/>
          </a:xfrm>
          <a:prstGeom prst="ellipse">
            <a:avLst/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83464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417320"/>
            <a:ext cx="685800" cy="68580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890" y="1588770"/>
            <a:ext cx="342900" cy="3429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018520" y="2103120"/>
            <a:ext cx="685800" cy="68580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9970" y="2274570"/>
            <a:ext cx="342900" cy="3429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269480" y="4937760"/>
            <a:ext cx="685800" cy="685800"/>
          </a:xfrm>
          <a:prstGeom prst="ellipse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0930" y="5109210"/>
            <a:ext cx="342900" cy="3429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0744200" y="4983480"/>
            <a:ext cx="685800" cy="68580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5650" y="5154930"/>
            <a:ext cx="342900" cy="3429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40080" y="1005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PÓS-GRADUAÇÃO · CIÊNCIA E ENGENHARIA DE DADOS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640080" y="146304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Warehouse, NoSQL e Data Lakes</a:t>
            </a:r>
            <a:endParaRPr lang="en-US" sz="4400" dirty="0"/>
          </a:p>
        </p:txBody>
      </p:sp>
      <p:sp>
        <p:nvSpPr>
          <p:cNvPr id="17" name="Text 10"/>
          <p:cNvSpPr txBox="1"/>
          <p:nvPr/>
        </p:nvSpPr>
        <p:spPr>
          <a:xfrm>
            <a:off x="640080" y="36576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B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dimensional, bancos não relacionais, ecossistema Hadoop–Spark e ingestão de dados para Inteligência de Negócio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640080" y="4937760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242150"/>
          </a:solidFill>
          <a:ln w="12700">
            <a:solidFill>
              <a:srgbClr val="2421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2"/>
          <p:cNvSpPr txBox="1"/>
          <p:nvPr/>
        </p:nvSpPr>
        <p:spPr>
          <a:xfrm>
            <a:off x="868680" y="4983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Elaborado por</a:t>
            </a:r>
            <a:endParaRPr lang="en-US" sz="12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André Serrano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A5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WAREHOUSE, NOSQL E DATA LAKES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Glossário de siglas (1/2)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39826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Expansão 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Intelligence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Inteligência de Negócio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Warehouse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Armazém de 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Lago de 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Extract, Transform, 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Extração, Transformação e Carga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ELT / ETLT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Extract, Load, Transform / Extract, Transform, Load, Transform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da ordem das etapas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On-Line Transaction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Processamento Transacional On-line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On-Line Analytical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Processamento Analítico On-line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ROLAP / MOLAP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OLAP / Multidimensional OLAP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 Relacional / OLAP Multidimensional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SGBD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Management System (DBMS)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Gerenciador de Banco de 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 de Banco de 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Support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Suporte à Decisão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Resource 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Planejamento de Recursos Empresariais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A5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WAREHOUSE, NOSQL E DATA LAKES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Glossário de siglas (2/2)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439826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Expansão original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Data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Repositório de Dados Operacionais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Activity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Monitoramento de Atividades de Negócio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Query 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 de Consulta Estruturada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only SQL / Non-SQL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apenas SQL (não relacional)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Atomicity, Consistency, Isolation, Durability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Atomicidade, Consistência, Isolamento, Durabilidade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/ XML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Object Notation / eXtensible Markup 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Notação de Objetos JavaScript / Linguagem de Marcação Extensível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LPG / RDF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Labeled Property Graph / Resource Description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 de Propriedades Rotuladas / Estrutura de Descrição de Recursos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GQL / SPARQL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Query Language / SPARQL Protocol and RDF Query 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 de Consulta a Grafos / Protocolo e Linguagem de Consulta RDF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GFS / HDFS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File System / Hadoop Distributed File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Arquivos do Google / Sistema de Arquivos Distribuído do Hadoop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 Another Resource Negotiator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"Mais um Negociador de Recursos" (gerenciador do cluster)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Massively Parallel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Processamento Massivamente Paralelo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7A5C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Resilient Distributed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de Dados Distribuído Resiliente (Spark)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0" b="1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7472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Modelagem, projeto e implementação de data warehouses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29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Negócio, ambientes transacional e analítico, arquitetura e modelagem dimensional.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731520"/>
            <a:ext cx="5330952" cy="5394960"/>
          </a:xfrm>
          <a:prstGeom prst="roundRect">
            <a:avLst>
              <a:gd name="adj" fmla="val 1715"/>
            </a:avLst>
          </a:prstGeom>
          <a:solidFill>
            <a:srgbClr val="242150"/>
          </a:solidFill>
          <a:ln w="9525">
            <a:solidFill>
              <a:srgbClr val="2421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629400" y="1051560"/>
            <a:ext cx="640080" cy="64008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12115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051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aprendizagem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deste módulo, você será capaz 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ambiente de Inteligência de Negócio e o papel de DW, data marts e data lakes.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Contrastar ambientes transacional (OLTP) e analítico (OLAP).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abordagens de projeto de DW e data marts.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esquemas estrela pela modelagem dimensional.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operadores analíticos nas gerações do BI (BI n.0).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data, desempenho e Inteligência de Negócio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1847088"/>
            <a:ext cx="731520" cy="73152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299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1671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de dados sem precedentes.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731520" y="3035808"/>
            <a:ext cx="731520" cy="73152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186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2971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3558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Bancos, web, XML, PDF, planilhas CSV, registros (logs) e redes sociais.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31520" y="4224528"/>
            <a:ext cx="731520" cy="73152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074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160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5445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disponibilizados continuamente.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49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= Comma-Separated Values (valores separados por vírgula); XML = Linguagem de Marcação Extensível; PDF = Portable Document Format (formato de documento portátil).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71032" y="1691640"/>
            <a:ext cx="5669280" cy="4434840"/>
          </a:xfrm>
          <a:prstGeom prst="roundRect">
            <a:avLst>
              <a:gd name="adj" fmla="val 2062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 txBox="1"/>
          <p:nvPr/>
        </p:nvSpPr>
        <p:spPr>
          <a:xfrm>
            <a:off x="6245352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desempenho organizacional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245352" y="23774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processos gerenciais e analíticos, suportados por tecnologia, que permitem definir objetivos estratégicos e medir e monitorar o desempenho por meio de indicadores.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245352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Escopos possíveis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245352" y="42519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organização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área funcional (departamento)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de negócio — ações inter-relacionadas que agregam valor a pelo menos um cliente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níveis de análise de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40526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Descritiva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029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64992" y="3063240"/>
            <a:ext cx="2633472" cy="2423160"/>
          </a:xfrm>
          <a:prstGeom prst="roundRect">
            <a:avLst>
              <a:gd name="adj" fmla="val 3774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547872" y="32461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573" y="33668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7872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Diagnóstica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aconteceu?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1344" y="2377440"/>
            <a:ext cx="2633472" cy="3108960"/>
          </a:xfrm>
          <a:prstGeom prst="roundRect">
            <a:avLst>
              <a:gd name="adj" fmla="val 3472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364224" y="2560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925" y="26810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64224" y="3246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Preditiva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6364224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vai acontecer?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97696" y="1691640"/>
            <a:ext cx="2633472" cy="3794760"/>
          </a:xfrm>
          <a:prstGeom prst="roundRect">
            <a:avLst>
              <a:gd name="adj" fmla="val 3472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9180576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1277" y="19952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0576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Prescritiva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9180576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devemos fazer?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623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clássico: ETL + repositório integrado + ferramentas OLAP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181344" y="5623560"/>
            <a:ext cx="5458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dados: + aprendizado de máquina (machine learning)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 complexidade crescem →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inteligência do negócio reside nos dados integrados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dados: combinar dados de várias fontes, oferecendo aos usuários uma visão unificada e logicamente consistente.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integrar não é centralizar. Repositórios integrados podem estar fisicamente distribuídos — como na nuvem.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distribuição favorece a localidade dos dados (dados mais acessados ficam próximos de quem os usa) e o processamento paralelo.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691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integração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239512" cy="822960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537960" y="24231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1" y="254386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269480" y="228600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o acesso e o reúso dos dados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0" y="3246120"/>
            <a:ext cx="5239512" cy="822960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537960" y="33832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350398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69480" y="324612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mais agilidade ao acesso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400800" y="4206240"/>
            <a:ext cx="5239512" cy="822960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6537960" y="43434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661" y="446410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269480" y="420624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diante de mudanças de esquema nas fontes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400800" y="5166360"/>
            <a:ext cx="5239512" cy="822960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6537960" y="5303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661" y="542422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69480" y="51663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versão da verdade quando há cópias divergentes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98348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0"/>
          <p:cNvSpPr txBox="1"/>
          <p:nvPr/>
        </p:nvSpPr>
        <p:spPr>
          <a:xfrm>
            <a:off x="822960" y="49834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mais comum em BI: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comum de dados (common data storage) — um repositório com dados compartilhados.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integrar dados é tão difícil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tempo das equipes de gestão de dados é gasto preparando e direcionando dados externos no processo de integração (pesquisa Forrester citada no material).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691640"/>
            <a:ext cx="6885432" cy="1325880"/>
          </a:xfrm>
          <a:prstGeom prst="roundRect">
            <a:avLst>
              <a:gd name="adj" fmla="val 68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937760" y="1965960"/>
            <a:ext cx="777240" cy="777240"/>
          </a:xfrm>
          <a:prstGeom prst="ellipse">
            <a:avLst/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070" y="2160270"/>
            <a:ext cx="388620" cy="3886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0" y="1801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dos dados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219456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ausentes, cópias inconsistentes, representações diferentes, múltiplas versões da verdade.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3200400"/>
            <a:ext cx="6885432" cy="1325880"/>
          </a:xfrm>
          <a:prstGeom prst="roundRect">
            <a:avLst>
              <a:gd name="adj" fmla="val 68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937760" y="3474720"/>
            <a:ext cx="777240" cy="777240"/>
          </a:xfrm>
          <a:prstGeom prst="ellipse">
            <a:avLst/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070" y="366903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943600" y="33101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contínuo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943600" y="370332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dados chegam o tempo todo — característica da era big data.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754880" y="4709160"/>
            <a:ext cx="6885432" cy="1325880"/>
          </a:xfrm>
          <a:prstGeom prst="roundRect">
            <a:avLst>
              <a:gd name="adj" fmla="val 68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4937760" y="4983480"/>
            <a:ext cx="777240" cy="777240"/>
          </a:xfrm>
          <a:prstGeom prst="ellipse">
            <a:avLst/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070" y="517779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943600" y="48188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internas e externas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943600" y="521208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corporativas, sistemas legados, planilhas; índices econômicos, cotações, clima, boletins epidemiológicos, notícias, redes sociais e fluxos (streams) de sensores.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repositórios: data warehouse, data mart e data lake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805940" y="1874520"/>
            <a:ext cx="1005840" cy="100584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21259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74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Armazém de Dados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que armazena dados em modelo estruturado (tabelas em SGBD relacional ou vetores em SGBD multidimensional).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4256" y="16916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591556" y="1874520"/>
            <a:ext cx="1005840" cy="1005840"/>
          </a:xfrm>
          <a:prstGeom prst="ellipse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21259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17136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mart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4517136" y="3474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B0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Dados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608576" y="39319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Subconjunto do DW, desenvolvido para um propósito específico — por exemplo, analisar um único processo de negócio.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19872" y="1691640"/>
            <a:ext cx="3520440" cy="374904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9377172" y="1874520"/>
            <a:ext cx="1005840" cy="10058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21259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02752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8302752" y="34747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 de Dados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94192" y="393192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que mantém os dados na estrutura das fontes originais (grafos, tabelas, documentos, textos) — não estruturado.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562356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 txBox="1"/>
          <p:nvPr/>
        </p:nvSpPr>
        <p:spPr>
          <a:xfrm>
            <a:off x="822960" y="56235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= Sistema Gerenciador de Banco de Dados. O módulo 3 aprofunda o data lake.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Pensamento operacional × pensamento analítico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analíticas típicas de uma empresa de varejo: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2404872"/>
            <a:ext cx="502920" cy="50292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8580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40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volume médio de vendas, em reais, dos representantes em cada região?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85800" y="3364992"/>
            <a:ext cx="502920" cy="50292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8580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200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total de vendas de cada produto no último ano?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85800" y="4325112"/>
            <a:ext cx="502920" cy="50292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685800" y="4325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160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variou a participação de cada produto nas vendas (product share) nos três últimos anos?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85800" y="5285232"/>
            <a:ext cx="502920" cy="50292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85800" y="5285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120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relação entre o desempenho dos representantes e sua faixa salarial?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19672" y="16916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748272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973" y="2040941"/>
            <a:ext cx="307238" cy="30723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434072" y="1920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analítico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748272" y="26060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 a concepção da organização e o desenvolvimento cognitivo dos gestores. Sistemas típicos: DSS — Sistemas de Suporte à Decisão.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519672" y="397764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6748272" y="4206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973" y="4326941"/>
            <a:ext cx="307238" cy="307238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434072" y="4206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transacional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6748272" y="489204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 a execução do negócio: perspectiva operacional. Sistemas típicos: folha de pagamento, sistema de vendas.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OLTP × OLAP: dois mundos, duas prioridades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OLTP — Processamento Transacional On-line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 — Processamento Analítico On-line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5D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Perspectiva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Operacional: executar o negócio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Analítica (informacional): entender o negócio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5D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Velocidade e automação de funções repetitivas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Consistência, veracidade e flexibilidade de visões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5D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 de produto, check-in de hóspede, cadastro de 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vendido por ano, por loja, por produto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5D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 corrente, alto nível de detalhe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Históricos, versionados, agregados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5D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Muitas consultas e atualizações entrelaçadas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Consultas superam muito as inserções (cargas em janelas)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5D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Muitos (operação)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Poucos (gestores), consultas variáveis e personalizadas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5D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típico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Transações curtas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Agregações e cruzamentos computacionalmente caros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da perspectiva analítica para o BI moderno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9824" cy="1691640"/>
          </a:xfrm>
          <a:prstGeom prst="roundRect">
            <a:avLst>
              <a:gd name="adj" fmla="val 5405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2075688"/>
            <a:ext cx="914400" cy="91440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042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fontes múltiplas e heterogêneas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606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Frequentemente com dados contínuos (fluxos ou streams).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90488" y="1691640"/>
            <a:ext cx="5449824" cy="1691640"/>
          </a:xfrm>
          <a:prstGeom prst="roundRect">
            <a:avLst>
              <a:gd name="adj" fmla="val 5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64808" y="2075688"/>
            <a:ext cx="914400" cy="91440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30428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53528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impacto no ambiente operacional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653528" y="2606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processamento analítico não pode degradar o OLTP.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449824" cy="1691640"/>
          </a:xfrm>
          <a:prstGeom prst="roundRect">
            <a:avLst>
              <a:gd name="adj" fmla="val 5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22960" y="3950208"/>
            <a:ext cx="914400" cy="91440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17880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11680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Assegurar a qualidade dos dados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2011680" y="44805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Curadoria de dados (data stewardship).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190488" y="3566160"/>
            <a:ext cx="5449824" cy="1691640"/>
          </a:xfrm>
          <a:prstGeom prst="roundRect">
            <a:avLst>
              <a:gd name="adj" fmla="val 5405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464808" y="3950208"/>
            <a:ext cx="914400" cy="91440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17880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53528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Flexibilidade e agilidade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653528" y="44805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rapidamente demandas por novas análises.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9"/>
          <p:cNvSpPr txBox="1"/>
          <p:nvPr/>
        </p:nvSpPr>
        <p:spPr>
          <a:xfrm>
            <a:off x="822960" y="548640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ambientes modernos, DWs e data lakes convivem para suportar todos os níveis de análise — inclusive preditiva e prescritiva.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clássica de um ambiente de BI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2084832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11" y="2193463"/>
            <a:ext cx="276515" cy="27651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965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corporativos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0080" y="2953512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711" y="3062143"/>
            <a:ext cx="276515" cy="27651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e arquivos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640080" y="3822192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11" y="3930823"/>
            <a:ext cx="276515" cy="27651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703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 XML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57200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640080" y="4690872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11" y="4799503"/>
            <a:ext cx="276515" cy="27651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4572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(logs) de ERP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2788920" y="3383280"/>
            <a:ext cx="457200" cy="91"/>
          </a:xfrm>
          <a:prstGeom prst="line">
            <a:avLst/>
          </a:prstGeom>
          <a:noFill/>
          <a:ln w="31750">
            <a:solidFill>
              <a:srgbClr val="FF5D73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3291840" y="237744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F5D73"/>
          </a:solidFill>
          <a:ln w="9525">
            <a:solidFill>
              <a:srgbClr val="FF5D73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17"/>
          <p:cNvSpPr txBox="1"/>
          <p:nvPr/>
        </p:nvSpPr>
        <p:spPr>
          <a:xfrm>
            <a:off x="3337560" y="2377440"/>
            <a:ext cx="1463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Extração, Transformação e Carga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892040" y="3383280"/>
            <a:ext cx="457200" cy="91"/>
          </a:xfrm>
          <a:prstGeom prst="line">
            <a:avLst/>
          </a:prstGeom>
          <a:noFill/>
          <a:ln w="31750">
            <a:solidFill>
              <a:srgbClr val="FF5D73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5394960" y="196596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6355080" y="210312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6014" y="2264054"/>
            <a:ext cx="409651" cy="40965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4406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700" dirty="0"/>
          </a:p>
        </p:txBody>
      </p:sp>
      <p:sp>
        <p:nvSpPr>
          <p:cNvPr id="29" name="Shape 22"/>
          <p:cNvSpPr/>
          <p:nvPr/>
        </p:nvSpPr>
        <p:spPr>
          <a:xfrm>
            <a:off x="5577840" y="342900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3"/>
          <p:cNvSpPr txBox="1"/>
          <p:nvPr/>
        </p:nvSpPr>
        <p:spPr>
          <a:xfrm>
            <a:off x="5577840" y="34290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 A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766560" y="342900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5"/>
          <p:cNvSpPr txBox="1"/>
          <p:nvPr/>
        </p:nvSpPr>
        <p:spPr>
          <a:xfrm>
            <a:off x="6766560" y="34290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 B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544068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integrado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092440" y="3383280"/>
            <a:ext cx="457200" cy="91"/>
          </a:xfrm>
          <a:prstGeom prst="line">
            <a:avLst/>
          </a:prstGeom>
          <a:noFill/>
          <a:ln w="31750">
            <a:solidFill>
              <a:srgbClr val="FF5D73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28"/>
          <p:cNvSpPr txBox="1"/>
          <p:nvPr/>
        </p:nvSpPr>
        <p:spPr>
          <a:xfrm>
            <a:off x="859536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595360" y="1965960"/>
            <a:ext cx="3044952" cy="731520"/>
          </a:xfrm>
          <a:prstGeom prst="roundRect">
            <a:avLst>
              <a:gd name="adj" fmla="val 125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0"/>
          <p:cNvSpPr/>
          <p:nvPr/>
        </p:nvSpPr>
        <p:spPr>
          <a:xfrm>
            <a:off x="8686800" y="2084832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5431" y="2193463"/>
            <a:ext cx="276515" cy="27651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28116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OLAP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8595360" y="2834640"/>
            <a:ext cx="3044952" cy="731520"/>
          </a:xfrm>
          <a:prstGeom prst="roundRect">
            <a:avLst>
              <a:gd name="adj" fmla="val 125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3"/>
          <p:cNvSpPr/>
          <p:nvPr/>
        </p:nvSpPr>
        <p:spPr>
          <a:xfrm>
            <a:off x="8686800" y="2953512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5431" y="3062143"/>
            <a:ext cx="276515" cy="27651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281160" y="28346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gerenciais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8595360" y="3703320"/>
            <a:ext cx="3044952" cy="731520"/>
          </a:xfrm>
          <a:prstGeom prst="roundRect">
            <a:avLst>
              <a:gd name="adj" fmla="val 125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36"/>
          <p:cNvSpPr/>
          <p:nvPr/>
        </p:nvSpPr>
        <p:spPr>
          <a:xfrm>
            <a:off x="8686800" y="3822192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95431" y="3930823"/>
            <a:ext cx="276515" cy="27651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28116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(dashboards)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8595360" y="4572000"/>
            <a:ext cx="3044952" cy="731520"/>
          </a:xfrm>
          <a:prstGeom prst="roundRect">
            <a:avLst>
              <a:gd name="adj" fmla="val 1250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39"/>
          <p:cNvSpPr/>
          <p:nvPr/>
        </p:nvSpPr>
        <p:spPr>
          <a:xfrm>
            <a:off x="8686800" y="4690872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5431" y="4799503"/>
            <a:ext cx="276515" cy="27651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9281160" y="4572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CE8FF"/>
          </a:solidFill>
          <a:ln w="9525">
            <a:solidFill>
              <a:srgbClr val="ECE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42"/>
          <p:cNvSpPr/>
          <p:nvPr/>
        </p:nvSpPr>
        <p:spPr>
          <a:xfrm>
            <a:off x="685800" y="5559552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477" y="5676229"/>
            <a:ext cx="296997" cy="296997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1371600" y="54864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de metadados  </a:t>
            </a:r>
            <a:r>
              <a:rPr lang="en-US" sz="140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semânticos (significado) · técnicos (formato e tamanho) · de proveniência (transformações e parâmetros)</a:t>
            </a:r>
            <a:endParaRPr lang="en-US" sz="14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data warehouse? Inmon e Kimball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Inmon (1997)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 de dados orientada a assunto, integrada, variante no tempo e não volátil, para suporte ao processo de tomada de decisões gerenciais.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5352" y="16916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519672" y="169164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(2013)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dos dados transacionais especificamente estruturada para consultas e análises. Data mart: subconjunto lógico do DW, um "DW setorial".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633472" cy="2606040"/>
          </a:xfrm>
          <a:prstGeom prst="roundRect">
            <a:avLst>
              <a:gd name="adj" fmla="val 3509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31520" y="3703320"/>
            <a:ext cx="685800" cy="68580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3874770"/>
            <a:ext cx="342900" cy="3429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assunto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9377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 em torno de temas do negócio (clientes, vendas), não de aplicações.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64992" y="3520440"/>
            <a:ext cx="2633472" cy="2606040"/>
          </a:xfrm>
          <a:prstGeom prst="roundRect">
            <a:avLst>
              <a:gd name="adj" fmla="val 3509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547872" y="3703320"/>
            <a:ext cx="685800" cy="68580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322" y="387477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47872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547872" y="49377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Convenções uniformes de nomes, unidades e códigos entre fontes.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81344" y="3520440"/>
            <a:ext cx="2633472" cy="2606040"/>
          </a:xfrm>
          <a:prstGeom prst="roundRect">
            <a:avLst>
              <a:gd name="adj" fmla="val 3509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6364224" y="3703320"/>
            <a:ext cx="685800" cy="68580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674" y="3874770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64224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no tempo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364224" y="49377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dado se refere a um momento; guarda o histórico.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997696" y="3520440"/>
            <a:ext cx="2633472" cy="2606040"/>
          </a:xfrm>
          <a:prstGeom prst="roundRect">
            <a:avLst>
              <a:gd name="adj" fmla="val 3509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9180576" y="3703320"/>
            <a:ext cx="685800" cy="68580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2026" y="3874770"/>
            <a:ext cx="342900" cy="3429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80576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volátil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9180576" y="49377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Carregado e consultado; não é atualizado registro a registro como no OLTP.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ETL: extração, transformação e carga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914400"/>
          </a:xfrm>
          <a:prstGeom prst="chevron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6012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os dados das fontes operacionais.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737360"/>
            <a:ext cx="2468880" cy="914400"/>
          </a:xfrm>
          <a:prstGeom prst="chevron">
            <a:avLst/>
          </a:prstGeom>
          <a:solidFill>
            <a:srgbClr val="FF5D7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33756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7889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Padronizar, resolver heterogeneidade semântica, tratar faltantes e inconsistências.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1737360"/>
            <a:ext cx="2468880" cy="914400"/>
          </a:xfrm>
          <a:prstGeom prst="chevron">
            <a:avLst/>
          </a:prstGeom>
          <a:solidFill>
            <a:srgbClr val="7A5CF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71500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27889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Gravar no DW periodicamente; o BI 2.0 busca cargas cada vez mais próximas do tempo real.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uniformizar unidades de medida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informado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Após transformação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 EUA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 lb (libras)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kg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Filial Brasil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kg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Fornecedor 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kg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7799832" y="1737360"/>
            <a:ext cx="3840480" cy="4389120"/>
          </a:xfrm>
          <a:prstGeom prst="roundRect">
            <a:avLst>
              <a:gd name="adj" fmla="val 2381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804672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citadas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228600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PowerCenter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 Integrator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InfoSphere DataStage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(SQL Server Integration Services)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Data Integration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Dataflow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(Amazon Web Services)</a:t>
            </a:r>
            <a:endParaRPr lang="en-US" sz="1300" dirty="0"/>
          </a:p>
        </p:txBody>
      </p:sp>
      <p:sp>
        <p:nvSpPr>
          <p:cNvPr id="14" name="Text 15"/>
          <p:cNvSpPr txBox="1"/>
          <p:nvPr/>
        </p:nvSpPr>
        <p:spPr>
          <a:xfrm>
            <a:off x="8046720" y="48463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transformações antes e/ou depois da carga. ELT: carregar primeiro, transformar no destino.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OLAP: ROLAP e MOLAP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OLAP implementam operadores analíticos para análise exploratória do DW: inspecionar indicadores de desempenho e descobrir correlações e tendências, com interface gráfica rica e foco no cruzamento de informações.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449824" cy="3337560"/>
          </a:xfrm>
          <a:prstGeom prst="roundRect">
            <a:avLst>
              <a:gd name="adj" fmla="val 274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1382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3017520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ROLAP — OLAP Relacional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03320"/>
            <a:ext cx="49926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implementado em SGBD relacional (Oracle, PostgreSQL, MSSQL — Microsoft SQL Server, MySQL). Cada fato e cada dimensão viram tabelas, ligadas por chaves primárias e estrangeiras.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citados: Oracle, Sybase IQ, RedBrick.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90488" y="2788920"/>
            <a:ext cx="5449824" cy="3337560"/>
          </a:xfrm>
          <a:prstGeom prst="roundRect">
            <a:avLst>
              <a:gd name="adj" fmla="val 274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419088" y="3017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89" y="31382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04888" y="3017520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MOLAP — OLAP Multidimensional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19088" y="3703320"/>
            <a:ext cx="49926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armazenado nativamente em vetores de n dimensões, com operadores para pré-computar hipercubos e acelerar a análise.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Exemplos: SSAS (SQL Server Analysis Services), Essbase, Pilot, Gentia; Oracle OLAP e o operador CUBE do PostgreSQL oferecem acesso multidimensional sobre tabelas.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analíticos OLAP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75688" cy="3566160"/>
          </a:xfrm>
          <a:prstGeom prst="roundRect">
            <a:avLst>
              <a:gd name="adj" fmla="val 4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97280" y="1874520"/>
            <a:ext cx="960120" cy="96012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211455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7180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(fatiar)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657600"/>
            <a:ext cx="18013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um valor de uma dimensão: ex.: apenas vendas de 2025.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07208" y="1691640"/>
            <a:ext cx="2075688" cy="3566160"/>
          </a:xfrm>
          <a:prstGeom prst="roundRect">
            <a:avLst>
              <a:gd name="adj" fmla="val 4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355848" y="1874520"/>
            <a:ext cx="960120" cy="96012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878" y="211455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44368" y="297180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(cortar em cubos)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944368" y="3657600"/>
            <a:ext cx="18013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valores em várias dimensões: ex.: 2025, região Sul, sedãs.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65776" y="1691640"/>
            <a:ext cx="2075688" cy="3566160"/>
          </a:xfrm>
          <a:prstGeom prst="roundRect">
            <a:avLst>
              <a:gd name="adj" fmla="val 4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5614416" y="1874520"/>
            <a:ext cx="960120" cy="960120"/>
          </a:xfrm>
          <a:prstGeom prst="ellipse">
            <a:avLst/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4446" y="211455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02936" y="297180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Pivoting (rotação)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202936" y="3657600"/>
            <a:ext cx="18013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os eixos de visualização: ver outra face do cubo.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24344" y="1691640"/>
            <a:ext cx="2075688" cy="3566160"/>
          </a:xfrm>
          <a:prstGeom prst="roundRect">
            <a:avLst>
              <a:gd name="adj" fmla="val 4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7872984" y="1874520"/>
            <a:ext cx="960120" cy="96012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3014" y="2114550"/>
            <a:ext cx="480060" cy="4800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61504" y="297180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(detalhar)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61504" y="3657600"/>
            <a:ext cx="18013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agregado ao detalhe: ano → mês → dia.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582912" y="1691640"/>
            <a:ext cx="2075688" cy="3566160"/>
          </a:xfrm>
          <a:prstGeom prst="roundRect">
            <a:avLst>
              <a:gd name="adj" fmla="val 440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10131552" y="1874520"/>
            <a:ext cx="960120" cy="96012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1582" y="2114550"/>
            <a:ext cx="480060" cy="4800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20072" y="297180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(agregar)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720072" y="3657600"/>
            <a:ext cx="18013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detalhe ao agregado: loja → cidade → estado.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3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(painéis de controle): concisos, pré-definidos e visuais; monitoram indicadores de desempenho e servem de porta de entrada para análises.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Arquiteturas evoluindo: o ecossistema de BI moderno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 coexistem por terem naturezas e tempos de atualização diferentes: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" y="25420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24" y="2666756"/>
            <a:ext cx="317480" cy="317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Armazém de Dados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224028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429000" y="25420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724" y="266675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14800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Dados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685800" y="39136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524" y="4038356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611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de Dados Operacionais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291840" y="361188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3429000" y="39136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3724" y="4038356"/>
            <a:ext cx="317480" cy="317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114800" y="36118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de Dados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245352" y="16916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 txBox="1"/>
          <p:nvPr/>
        </p:nvSpPr>
        <p:spPr>
          <a:xfrm>
            <a:off x="6519672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componentes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519672" y="237744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histórica, avançada, relatórios operacionais e BI de autosserviço (self-service BI).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Atividades de Negócio e monitoramento quase em tempo real.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enriquece os repositórios com conhecimento aprendido, disponível a todas as ferramentas.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9"/>
          <p:cNvSpPr txBox="1"/>
          <p:nvPr/>
        </p:nvSpPr>
        <p:spPr>
          <a:xfrm>
            <a:off x="822960" y="50749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Gerações do BI (BI 1.0 → 4.0): cada vez mais tempo real, mais fontes e mais inteligência embarcada.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de um data warehouse: cinco etapas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240280" cy="1005840"/>
          </a:xfrm>
          <a:prstGeom prst="chevron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escopo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61488" y="1783080"/>
            <a:ext cx="2240280" cy="1005840"/>
          </a:xfrm>
          <a:prstGeom prst="chevron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127248" y="17830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807208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análise do problema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74336" y="1783080"/>
            <a:ext cx="2240280" cy="1005840"/>
          </a:xfrm>
          <a:prstGeom prst="chevron">
            <a:avLst/>
          </a:prstGeom>
          <a:solidFill>
            <a:srgbClr val="FF5D7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340096" y="17830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020056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DW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87184" y="1783080"/>
            <a:ext cx="2240280" cy="1005840"/>
          </a:xfrm>
          <a:prstGeom prst="chevron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7552944" y="17830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7232904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dados e testes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00032" y="1783080"/>
            <a:ext cx="2240280" cy="1005840"/>
          </a:xfrm>
          <a:prstGeom prst="chevron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9765792" y="17830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445752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Metodologias ágeis ou tradicionais, como em qualquer projeto de software.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23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Escopo: qual a abrangência do DW?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77240" y="475488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885639"/>
            <a:ext cx="332842" cy="33284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55448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Corporativo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5074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organização.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334256" y="45262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562856" y="475488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615" y="4885639"/>
            <a:ext cx="332842" cy="33284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340096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Departamental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5340096" y="5074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área ou função priorizada.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8119872" y="45262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8"/>
          <p:cNvSpPr/>
          <p:nvPr/>
        </p:nvSpPr>
        <p:spPr>
          <a:xfrm>
            <a:off x="8348472" y="475488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231" y="4885639"/>
            <a:ext cx="332842" cy="332842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125712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processo</a:t>
            </a:r>
            <a:endParaRPr lang="en-US" sz="1600" dirty="0"/>
          </a:p>
        </p:txBody>
      </p:sp>
      <p:sp>
        <p:nvSpPr>
          <p:cNvPr id="35" name="Text 30"/>
          <p:cNvSpPr txBox="1"/>
          <p:nvPr/>
        </p:nvSpPr>
        <p:spPr>
          <a:xfrm>
            <a:off x="9125712" y="5074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de negócio — tendência das organizações gerenciadas por processos.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Levantando requisitos: medidas, perspectivas e grão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1259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20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interesse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desempenho baseados em fatos históricos.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94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114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de vendas; itens em estoque.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34256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608576" y="1920240"/>
            <a:ext cx="822960" cy="822960"/>
          </a:xfrm>
          <a:prstGeom prst="ellipse">
            <a:avLst/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316" y="21259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68696" y="1920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Perspectivas (dimensões)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608576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vista de análise de cada medida.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608576" y="3794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608576" y="4114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Produto, tempo, canal de venda (físico ou digital), vendedor.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19872" y="169164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8394192" y="1920240"/>
            <a:ext cx="822960" cy="82296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932" y="21259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354312" y="19202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 (grão)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8394192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mínimo de detalhe em que cada indicador é calculado.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394192" y="3794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394192" y="41148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produto ou por apresentação (1 kg, 5 kg)? Por dia ou por hora? Por canal ou por ponto de venda?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 txBox="1"/>
          <p:nvPr/>
        </p:nvSpPr>
        <p:spPr>
          <a:xfrm>
            <a:off x="822960" y="54406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busque sistematicamente variações das análises pedidas pelos gestores — isso dá flexibilidade para perguntas não previstas.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Desenvolvimento: top-down × bottom-up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9824" cy="4434840"/>
          </a:xfrm>
          <a:prstGeom prst="roundRect">
            <a:avLst>
              <a:gd name="adj" fmla="val 206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(de cima para baixo)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286000" y="242316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228600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corporativo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1463040" y="2990088"/>
            <a:ext cx="1828800" cy="301752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14400" y="3310128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9A826"/>
          </a:solidFill>
          <a:ln w="9525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914400" y="3310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990088"/>
            <a:ext cx="91" cy="301752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743200" y="3310128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9A826"/>
          </a:solidFill>
          <a:ln w="9525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2743200" y="3310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990088"/>
            <a:ext cx="1828800" cy="301752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572000" y="3310128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9A826"/>
          </a:solidFill>
          <a:ln w="9525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4572000" y="3310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931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corporativo único e integrado; data marts setoriais são extraídos como visões do modelo central.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global e consistente por definição.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303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a priori mais demorada e cara; ciclos longos e maior risco.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0488" y="1691640"/>
            <a:ext cx="5449824" cy="4434840"/>
          </a:xfrm>
          <a:prstGeom prst="roundRect">
            <a:avLst>
              <a:gd name="adj" fmla="val 206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464808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(de baixo para cima)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556248" y="242316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9A826"/>
          </a:solidFill>
          <a:ln w="9525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556248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04888" y="2898648"/>
            <a:ext cx="1828800" cy="393192"/>
          </a:xfrm>
          <a:prstGeom prst="line">
            <a:avLst/>
          </a:prstGeom>
          <a:noFill/>
          <a:ln w="22225">
            <a:solidFill>
              <a:srgbClr val="5B6478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385048" y="242316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9A826"/>
          </a:solidFill>
          <a:ln w="9525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8385048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33688" y="2898648"/>
            <a:ext cx="91" cy="393192"/>
          </a:xfrm>
          <a:prstGeom prst="line">
            <a:avLst/>
          </a:prstGeom>
          <a:noFill/>
          <a:ln w="22225">
            <a:solidFill>
              <a:srgbClr val="5B6478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0213848" y="242316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9A826"/>
          </a:solidFill>
          <a:ln w="9525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10213848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H="1">
            <a:off x="8933688" y="2898648"/>
            <a:ext cx="1828800" cy="393192"/>
          </a:xfrm>
          <a:prstGeom prst="line">
            <a:avLst/>
          </a:prstGeom>
          <a:noFill/>
          <a:ln w="22225">
            <a:solidFill>
              <a:srgbClr val="5B6478"/>
            </a:solidFill>
            <a:prstDash val="dash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927848" y="3310128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B8B4D9"/>
          </a:solidFill>
          <a:ln w="9525">
            <a:solidFill>
              <a:srgbClr val="B8B4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7927848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(união)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64808" y="3931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data mart por vez, sem integração prévia num modelo central; ciclos ágeis e incrementais.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64808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mais rápidos, ciclos curtos.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64808" y="5303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visão integrada e consistente entre os data marts.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Paradigma multidimensional: da tabela ao vetor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tabular (relacional)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475488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van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York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van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York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Angeles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3566160"/>
            <a:ext cx="640080" cy="91"/>
          </a:xfrm>
          <a:prstGeom prst="line">
            <a:avLst/>
          </a:prstGeom>
          <a:noFill/>
          <a:ln w="38100">
            <a:solidFill>
              <a:srgbClr val="FF5D73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multidimensional (vetor 2D)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103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York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2103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0" y="2103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Madison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5603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van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2560320"/>
            <a:ext cx="1280160" cy="731520"/>
          </a:xfrm>
          <a:prstGeom prst="rect">
            <a:avLst/>
          </a:prstGeom>
          <a:solidFill>
            <a:srgbClr val="FF5D7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768096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961120" y="2560320"/>
            <a:ext cx="1280160" cy="731520"/>
          </a:xfrm>
          <a:prstGeom prst="rect">
            <a:avLst/>
          </a:prstGeom>
          <a:solidFill>
            <a:srgbClr val="F1F4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896112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0241280" y="2560320"/>
            <a:ext cx="1280160" cy="731520"/>
          </a:xfrm>
          <a:prstGeom prst="rect">
            <a:avLst/>
          </a:prstGeom>
          <a:solidFill>
            <a:srgbClr val="F1F4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1024128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32918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Coupé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680960" y="3291840"/>
            <a:ext cx="1280160" cy="731520"/>
          </a:xfrm>
          <a:prstGeom prst="rect">
            <a:avLst/>
          </a:prstGeom>
          <a:solidFill>
            <a:srgbClr val="F1F4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7680960" y="3291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8961120" y="3291840"/>
            <a:ext cx="1280160" cy="731520"/>
          </a:xfrm>
          <a:prstGeom prst="rect">
            <a:avLst/>
          </a:prstGeom>
          <a:solidFill>
            <a:srgbClr val="F1F4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8961120" y="3291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0241280" y="3291840"/>
            <a:ext cx="1280160" cy="731520"/>
          </a:xfrm>
          <a:prstGeom prst="rect">
            <a:avLst/>
          </a:prstGeom>
          <a:solidFill>
            <a:srgbClr val="F1F4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 txBox="1"/>
          <p:nvPr/>
        </p:nvSpPr>
        <p:spPr>
          <a:xfrm>
            <a:off x="10241280" y="3291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22"/>
          <p:cNvSpPr txBox="1"/>
          <p:nvPr/>
        </p:nvSpPr>
        <p:spPr>
          <a:xfrm>
            <a:off x="6309360" y="402336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680960" y="4023360"/>
            <a:ext cx="1280160" cy="731520"/>
          </a:xfrm>
          <a:prstGeom prst="rect">
            <a:avLst/>
          </a:prstGeom>
          <a:solidFill>
            <a:srgbClr val="F1F4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 txBox="1"/>
          <p:nvPr/>
        </p:nvSpPr>
        <p:spPr>
          <a:xfrm>
            <a:off x="7680960" y="40233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8961120" y="4023360"/>
            <a:ext cx="1280160" cy="731520"/>
          </a:xfrm>
          <a:prstGeom prst="rect">
            <a:avLst/>
          </a:prstGeom>
          <a:solidFill>
            <a:srgbClr val="F1F4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 txBox="1"/>
          <p:nvPr/>
        </p:nvSpPr>
        <p:spPr>
          <a:xfrm>
            <a:off x="8961120" y="40233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10241280" y="4023360"/>
            <a:ext cx="1280160" cy="731520"/>
          </a:xfrm>
          <a:prstGeom prst="rect">
            <a:avLst/>
          </a:prstGeom>
          <a:solidFill>
            <a:srgbClr val="F1F4F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 txBox="1"/>
          <p:nvPr/>
        </p:nvSpPr>
        <p:spPr>
          <a:xfrm>
            <a:off x="10241280" y="40233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768096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Cidade →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30936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Modelo ↓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 txBox="1"/>
          <p:nvPr/>
        </p:nvSpPr>
        <p:spPr>
          <a:xfrm>
            <a:off x="822960" y="525780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célula guarda o fato "total de vendas" para um cruzamento. Destaque: 5 mini vans vendidas em Nova York (exemplo do material; demais valores ilustrativos).</a:t>
            </a:r>
            <a:endParaRPr lang="en-US" sz="15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vetor ao cubo e ao hipercubo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3291840" cy="2926080"/>
          </a:xfrm>
          <a:prstGeom prst="cube">
            <a:avLst/>
          </a:prstGeom>
          <a:solidFill>
            <a:srgbClr val="FF5D7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274320" y="3291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A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4983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A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486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Acrescentar a dimensão fornecedor: na visão relacional, mais uma coluna; na visão dimensional, um cubo.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737360"/>
            <a:ext cx="5577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cubo por fato: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dimensões coexistem para todas as células e são independentes entre si.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3 dimensões: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hipercubo — tempo, cor do veículo, e quantas forem necessárias.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cubos (4D), tabela de cubos (5D), cubo de cubos (6D)…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Formalmente: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vetor multidimensional com número fixo de dimensões; cada dimensão é uma categoria com número fixo de elementos.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Fatos e dimensões: blocos da modelagem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20610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de interesse do negócio, foco da análise; tipicamente indicadores de desempenho numéricos e aditivos.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490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vendas (itens ou R$)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em estoque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de cartão de crédito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Doses de vacina aplicadas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257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são fatos: código do vendedor, status, preço unitário (não aditivo), total anual (grão maior).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519672" y="19202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90" y="206105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42632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519672" y="2743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vista do negócio sobre os quais se analisam as medidas.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519672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5W1H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519672" y="38862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 txBox="1"/>
          <p:nvPr/>
        </p:nvSpPr>
        <p:spPr>
          <a:xfrm>
            <a:off x="6519672" y="38862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147304" y="38862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 txBox="1"/>
          <p:nvPr/>
        </p:nvSpPr>
        <p:spPr>
          <a:xfrm>
            <a:off x="8147304" y="38862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9774936" y="388620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 txBox="1"/>
          <p:nvPr/>
        </p:nvSpPr>
        <p:spPr>
          <a:xfrm>
            <a:off x="9774936" y="38862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519672" y="466344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 txBox="1"/>
          <p:nvPr/>
        </p:nvSpPr>
        <p:spPr>
          <a:xfrm>
            <a:off x="6519672" y="46634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147304" y="466344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2"/>
          <p:cNvSpPr txBox="1"/>
          <p:nvPr/>
        </p:nvSpPr>
        <p:spPr>
          <a:xfrm>
            <a:off x="8147304" y="46634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9774936" y="4663440"/>
            <a:ext cx="15087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4"/>
          <p:cNvSpPr txBox="1"/>
          <p:nvPr/>
        </p:nvSpPr>
        <p:spPr>
          <a:xfrm>
            <a:off x="9774936" y="46634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519672" y="54864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Varejo: loja, produto, fornecedor, tempo. Pandemia: paciente, hospital, cidade, fabricante, semana epidemiológica.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Hierarquias e a dimensão tempo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dimensão pode ter níveis de agregação (hierarquias):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269748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1965960" y="26974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69748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383280" y="26974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69748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800600" y="26974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→        ← drill-down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(vacinação)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996696" cy="685800"/>
          </a:xfrm>
          <a:prstGeom prst="roundRect">
            <a:avLst>
              <a:gd name="adj" fmla="val 10667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548640" y="4480560"/>
            <a:ext cx="996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 de saúde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82496" y="4480560"/>
            <a:ext cx="996696" cy="685800"/>
          </a:xfrm>
          <a:prstGeom prst="roundRect">
            <a:avLst>
              <a:gd name="adj" fmla="val 10667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1682496" y="4480560"/>
            <a:ext cx="996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Bairro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16352" y="4480560"/>
            <a:ext cx="996696" cy="685800"/>
          </a:xfrm>
          <a:prstGeom prst="roundRect">
            <a:avLst>
              <a:gd name="adj" fmla="val 10667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2816352" y="4480560"/>
            <a:ext cx="996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50208" y="4480560"/>
            <a:ext cx="996696" cy="685800"/>
          </a:xfrm>
          <a:prstGeom prst="roundRect">
            <a:avLst>
              <a:gd name="adj" fmla="val 10667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3950208" y="4480560"/>
            <a:ext cx="996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(Unidade da Federação)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84064" y="4480560"/>
            <a:ext cx="996696" cy="685800"/>
          </a:xfrm>
          <a:prstGeom prst="roundRect">
            <a:avLst>
              <a:gd name="adj" fmla="val 10667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5084064" y="4480560"/>
            <a:ext cx="996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212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→        ← drill-down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19672" y="169164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793992" y="19202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0" y="2061058"/>
            <a:ext cx="358445" cy="35844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7589520" y="1920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dimensão obrigatória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793992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5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DW guarda histórico; por isso, o tempo está sempre presente — e pode ser enriquecido com atributos: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793992" y="374904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242150"/>
          </a:solidFill>
          <a:ln w="12700">
            <a:solidFill>
              <a:srgbClr val="3A3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 txBox="1"/>
          <p:nvPr/>
        </p:nvSpPr>
        <p:spPr>
          <a:xfrm>
            <a:off x="6793992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da semana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125712" y="374904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242150"/>
          </a:solidFill>
          <a:ln w="12700">
            <a:solidFill>
              <a:srgbClr val="3A3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 txBox="1"/>
          <p:nvPr/>
        </p:nvSpPr>
        <p:spPr>
          <a:xfrm>
            <a:off x="9125712" y="3749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útil / feriado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793992" y="4315968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242150"/>
          </a:solidFill>
          <a:ln w="12700">
            <a:solidFill>
              <a:srgbClr val="3A3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 txBox="1"/>
          <p:nvPr/>
        </p:nvSpPr>
        <p:spPr>
          <a:xfrm>
            <a:off x="6793992" y="4315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fiscal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9125712" y="4315968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242150"/>
          </a:solidFill>
          <a:ln w="12700">
            <a:solidFill>
              <a:srgbClr val="3A3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 txBox="1"/>
          <p:nvPr/>
        </p:nvSpPr>
        <p:spPr>
          <a:xfrm>
            <a:off x="9125712" y="4315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acadêmico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793992" y="4882896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242150"/>
          </a:solidFill>
          <a:ln w="12700">
            <a:solidFill>
              <a:srgbClr val="3A3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 txBox="1"/>
          <p:nvPr/>
        </p:nvSpPr>
        <p:spPr>
          <a:xfrm>
            <a:off x="6793992" y="48828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Estação do ano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125712" y="4882896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242150"/>
          </a:solidFill>
          <a:ln w="12700">
            <a:solidFill>
              <a:srgbClr val="3A3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 txBox="1"/>
          <p:nvPr/>
        </p:nvSpPr>
        <p:spPr>
          <a:xfrm>
            <a:off x="9125712" y="48828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Natal, Carnaval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793992" y="5449824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242150"/>
          </a:solidFill>
          <a:ln w="12700">
            <a:solidFill>
              <a:srgbClr val="3A3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2"/>
          <p:cNvSpPr txBox="1"/>
          <p:nvPr/>
        </p:nvSpPr>
        <p:spPr>
          <a:xfrm>
            <a:off x="6793992" y="54498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Olimpíadas, Copa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9125712" y="5449824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242150"/>
          </a:solidFill>
          <a:ln w="12700">
            <a:solidFill>
              <a:srgbClr val="3A36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 txBox="1"/>
          <p:nvPr/>
        </p:nvSpPr>
        <p:spPr>
          <a:xfrm>
            <a:off x="9125712" y="54498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Eleições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ROLAP na prática: a tabela fato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fato_venda 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id_venda        -- chave substituta (surrogate)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id_data         -- FK → dim_data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id_produto      -- FK → dim_produto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id_loja         -- FK → dim_loja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valor_vendido   -- medida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unidades_vendidas -- medida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custo_vendido   -- medida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= Foreign Key (chave estrangeira). Estrutura conforme o exemplo do material.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691640"/>
            <a:ext cx="533095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Medidas: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é uma coluna.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estrangeiras: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para cada dimensão que descreve o fato.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primária: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substituta (surrogate) — código sequencial sem significado; a combinação das estrangeiras é única.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pela combinação das chaves estrangeiras.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</a:t>
            </a: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cardinalidade — bilhões ou trilhões de linhas. Evite textos, nulos e medidas zeradas.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ROLAP na prática: a tabela dimensão</a:t>
            </a:r>
            <a:endParaRPr lang="en-US" sz="3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id_produto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valido_de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valido_ate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 torrado 500 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Mercearia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Serra Azul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01/01/2024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31/05/2025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Café torrado 500 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Mercearia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Serra Azul Gourmet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01/06/2025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Leite integral 1 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Laticínios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Verde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01/01/2024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fictícios: o produto 1 foi renomeado e ganhou nova versão (2), com janela de validade.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2633472" cy="2057400"/>
          </a:xfrm>
          <a:prstGeom prst="roundRect">
            <a:avLst>
              <a:gd name="adj" fmla="val 444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731520" y="42062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4316882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Descritores claros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48006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categóricos e textuais completos; sem abreviações, códigos ou jargão de uma só área.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364992" y="4069080"/>
            <a:ext cx="2633472" cy="2057400"/>
          </a:xfrm>
          <a:prstGeom prst="roundRect">
            <a:avLst>
              <a:gd name="adj" fmla="val 444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3547872" y="42062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514" y="431688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42232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simples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547872" y="48006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primária substituta (surrogate), sem significado de negócio.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81344" y="4069080"/>
            <a:ext cx="2633472" cy="2057400"/>
          </a:xfrm>
          <a:prstGeom prst="roundRect">
            <a:avLst>
              <a:gd name="adj" fmla="val 444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6364224" y="42062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4866" y="4316882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58584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364224" y="48006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nos dados operacionais criam novas versões com período de validade.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8997696" y="4069080"/>
            <a:ext cx="2633472" cy="2057400"/>
          </a:xfrm>
          <a:prstGeom prst="roundRect">
            <a:avLst>
              <a:gd name="adj" fmla="val 444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9180576" y="42062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1218" y="4316882"/>
            <a:ext cx="281635" cy="28163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774936" y="42062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Desnormalização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9180576" y="48006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Hierarquias implícitas em colunas repetidas: mais desempenho; consultas superam atualizações.</a:t>
            </a:r>
            <a:endParaRPr lang="en-US" sz="12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 estrela (star schema)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1645920" y="2377440"/>
            <a:ext cx="1874520" cy="1508760"/>
          </a:xfrm>
          <a:prstGeom prst="line">
            <a:avLst/>
          </a:prstGeom>
          <a:noFill/>
          <a:ln w="254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 flipV="1">
            <a:off x="3520440" y="2377440"/>
            <a:ext cx="1874520" cy="1508760"/>
          </a:xfrm>
          <a:prstGeom prst="line">
            <a:avLst/>
          </a:prstGeom>
          <a:noFill/>
          <a:ln w="254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 flipH="1">
            <a:off x="1645920" y="3886200"/>
            <a:ext cx="1874520" cy="1508760"/>
          </a:xfrm>
          <a:prstGeom prst="line">
            <a:avLst/>
          </a:prstGeom>
          <a:noFill/>
          <a:ln w="254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520440" y="3886200"/>
            <a:ext cx="1874520" cy="1508760"/>
          </a:xfrm>
          <a:prstGeom prst="line">
            <a:avLst/>
          </a:prstGeom>
          <a:noFill/>
          <a:ln w="254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331720" y="32004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5D73"/>
          </a:solidFill>
          <a:ln w="9525">
            <a:solidFill>
              <a:srgbClr val="FF5D73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33172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fato_venda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valor, unidades, custo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94360" y="1920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mês, trimestre, ano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343400" y="19202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dim_produto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categoria, marca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594360" y="4937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dim_loja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loja, cidade, UF, região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49377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4343400" y="4937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dim_cliente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faixa etária, segmento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21945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tabela por fato, sem redundância.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fato liga-se a exatamente uma tabela por dimensão.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desnormalizadas: hierarquias como atributos.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75120" y="3931920"/>
            <a:ext cx="4965192" cy="2194560"/>
          </a:xfrm>
          <a:prstGeom prst="roundRect">
            <a:avLst>
              <a:gd name="adj" fmla="val 4167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9037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4348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e dimensões claramente identificados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simples e simétrica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 para novas análises</a:t>
            </a:r>
            <a:endParaRPr lang="en-US" sz="14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Eficiente: caminhos curtos de junção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Variações: floco de neve e constelação de fatos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flipH="1" flipV="1">
            <a:off x="1325880" y="2606040"/>
            <a:ext cx="978408" cy="6858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flipV="1">
            <a:off x="2304288" y="2606040"/>
            <a:ext cx="987552" cy="6858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 flipH="1">
            <a:off x="1325880" y="3291840"/>
            <a:ext cx="978408" cy="7772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304288" y="3291840"/>
            <a:ext cx="987552" cy="7772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709928" y="3099816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1709928" y="30998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414016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822960" y="24140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2414016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2788920" y="24140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877056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22960" y="3877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3877056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2788920" y="3877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34256" y="16916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4517136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A5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Floco de neve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5111496" y="2606040"/>
            <a:ext cx="978408" cy="6858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 flipV="1">
            <a:off x="6089904" y="2606040"/>
            <a:ext cx="987552" cy="6858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 flipH="1">
            <a:off x="5111496" y="3291840"/>
            <a:ext cx="978408" cy="7772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6089904" y="3291840"/>
            <a:ext cx="987552" cy="7772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7077456" y="4069080"/>
            <a:ext cx="914" cy="41148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495544" y="3099816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 txBox="1"/>
          <p:nvPr/>
        </p:nvSpPr>
        <p:spPr>
          <a:xfrm>
            <a:off x="5495544" y="30998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08576" y="2414016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4608576" y="24140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74536" y="2414016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6574536" y="24140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08576" y="3877056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 txBox="1"/>
          <p:nvPr/>
        </p:nvSpPr>
        <p:spPr>
          <a:xfrm>
            <a:off x="4608576" y="3877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74536" y="374904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 txBox="1"/>
          <p:nvPr/>
        </p:nvSpPr>
        <p:spPr>
          <a:xfrm>
            <a:off x="6574536" y="3749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74536" y="425196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 txBox="1"/>
          <p:nvPr/>
        </p:nvSpPr>
        <p:spPr>
          <a:xfrm>
            <a:off x="6574536" y="4251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19872" y="16916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 txBox="1"/>
          <p:nvPr/>
        </p:nvSpPr>
        <p:spPr>
          <a:xfrm>
            <a:off x="8302752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Constelação de fatos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 flipV="1">
            <a:off x="9034272" y="2514600"/>
            <a:ext cx="841248" cy="41148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 flipH="1" flipV="1">
            <a:off x="9875520" y="2514600"/>
            <a:ext cx="850392" cy="41148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9034272" y="3840480"/>
            <a:ext cx="841248" cy="41148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 flipH="1">
            <a:off x="9875520" y="3840480"/>
            <a:ext cx="850392" cy="41148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 flipH="1">
            <a:off x="8577072" y="3291840"/>
            <a:ext cx="457200" cy="3657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10725912" y="3291840"/>
            <a:ext cx="457200" cy="3657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8485632" y="3099816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 txBox="1"/>
          <p:nvPr/>
        </p:nvSpPr>
        <p:spPr>
          <a:xfrm>
            <a:off x="8485632" y="3099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venda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177272" y="3099816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 txBox="1"/>
          <p:nvPr/>
        </p:nvSpPr>
        <p:spPr>
          <a:xfrm>
            <a:off x="10177272" y="3099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estoque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372600" y="233172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 txBox="1"/>
          <p:nvPr/>
        </p:nvSpPr>
        <p:spPr>
          <a:xfrm>
            <a:off x="9372600" y="2331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372600" y="406908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 txBox="1"/>
          <p:nvPr/>
        </p:nvSpPr>
        <p:spPr>
          <a:xfrm>
            <a:off x="9372600" y="4069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Estrela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Dimensões desnormalizadas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Simples, menos junções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Redundância nas dimensões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Floco de neve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Dimensões normalizadas em hierarquias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redundância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junções, mais complexo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Constelação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Vários fatos compartilham dimensões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 processos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mais complexo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5D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· DATA WAREHOUSE E INTELIGÊNCIA DE NEGÓCIO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 Módulo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1982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apoia a gestão de desempenho com dados históricos integrados.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34256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62856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674" y="21982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85816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executa o negócio; OLAP ajuda a entendê-lo.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19872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8348472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290" y="2198218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171432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DW: orientado a assunto, integrado, variante no tempo, não volátil.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777240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8" y="3798418"/>
            <a:ext cx="358445" cy="3584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alimenta o DW; OLAP, relatórios e painéis o consomem.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34256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4562856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74" y="3798418"/>
            <a:ext cx="358445" cy="35844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85816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(medidas) × dimensões (perspectivas 5W1H) com hierarquias.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119872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8348472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9290" y="3798418"/>
            <a:ext cx="358445" cy="35844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171432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Estrela, floco de neve e constelação implementam o modelo em ROLAP.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 txBox="1"/>
          <p:nvPr/>
        </p:nvSpPr>
        <p:spPr>
          <a:xfrm>
            <a:off x="822960" y="507492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Reflita: como os ambientes operacional e analítico convivem na sua organização? As estratégias de gestão são orientadas a dados?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0" b="1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7472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NoSQL e big data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29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não relacionais: chave-valor, documentos e grafos, com MongoDB e Neo4j.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731520"/>
            <a:ext cx="5330952" cy="5394960"/>
          </a:xfrm>
          <a:prstGeom prst="roundRect">
            <a:avLst>
              <a:gd name="adj" fmla="val 1715"/>
            </a:avLst>
          </a:prstGeom>
          <a:solidFill>
            <a:srgbClr val="242150"/>
          </a:solidFill>
          <a:ln w="9525">
            <a:solidFill>
              <a:srgbClr val="2421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629400" y="1051560"/>
            <a:ext cx="640080" cy="64008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12115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051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aprendizagem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deste módulo, você será capaz 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as abordagens NoSQL para gerenciar dados.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as categorias: chave-valor, documentos, colunas e grafos.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um sistema orientado a documentos.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um sistema baseado em grafos.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linguagens e acessos de sistemas não relacionais.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Relacional × NoSQL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("não apenas SQL"): termo de 1998 que designa SGBDs que não usam SQL ou não seguem as regras do modelo relacional.</a:t>
            </a:r>
            <a:endParaRPr lang="en-US" sz="1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SGBD relacional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SGBD NoSQL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B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Tabelas com linhas e colunas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Chave-valor, documentos, colunas, grafos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B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Definido antes dos dados (dicionário de dados)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esquema prévio (schemaless) ou flexível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B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— Linguagem de Consulta Estruturada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Própria de cada sistema (métodos, Cypher, SPARQL…)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B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ACID: Atomicidade, Consistência, Isolamento, Durabilidade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 disponibilidade; consistência eventual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B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Tipicamente vertical (máquina maior)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(mais máquinas)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DDF5F2"/>
          </a:solidFill>
          <a:ln w="9525">
            <a:solidFill>
              <a:srgbClr val="DDF5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do professor: o termo surgiu em 1998 (Carlo Strozzi) e foi popularizado em 2009, com o movimento big data. A propriedade oposta ao ACID costuma ser chamada BASE — Basicamente Disponível, Estado flexível, Consistência eventual.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Categorias de sistemas NoSQL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33472" cy="3291840"/>
          </a:xfrm>
          <a:prstGeom prst="roundRect">
            <a:avLst>
              <a:gd name="adj" fmla="val 347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362456" y="1874520"/>
            <a:ext cx="1005840" cy="10058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6" y="21259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1752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Chave-valor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7472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opaco recuperado por uma chave.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3891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64992" y="1691640"/>
            <a:ext cx="2633472" cy="3291840"/>
          </a:xfrm>
          <a:prstGeom prst="roundRect">
            <a:avLst>
              <a:gd name="adj" fmla="val 347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178808" y="1874520"/>
            <a:ext cx="1005840" cy="1005840"/>
          </a:xfrm>
          <a:prstGeom prst="ellipse">
            <a:avLst/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1259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02152" y="301752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347472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semiestruturados (JSON) em coleções.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547872" y="43891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181344" y="1691640"/>
            <a:ext cx="2633472" cy="3291840"/>
          </a:xfrm>
          <a:prstGeom prst="roundRect">
            <a:avLst>
              <a:gd name="adj" fmla="val 347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6995160" y="1874520"/>
            <a:ext cx="1005840" cy="100584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21259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18504" y="301752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6364224" y="347472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organizados por famílias de colunas, distribuídos.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364224" y="43891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HBase, Cassandra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997696" y="1691640"/>
            <a:ext cx="2633472" cy="3291840"/>
          </a:xfrm>
          <a:prstGeom prst="roundRect">
            <a:avLst>
              <a:gd name="adj" fmla="val 347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9811512" y="1874520"/>
            <a:ext cx="1005840" cy="1005840"/>
          </a:xfrm>
          <a:prstGeom prst="ellipse">
            <a:avLst/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2972" y="212598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34856" y="301752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9180576" y="3474720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e relacionamentos como cidadãos de primeira classe.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9180576" y="43891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3"/>
          <p:cNvSpPr txBox="1"/>
          <p:nvPr/>
        </p:nvSpPr>
        <p:spPr>
          <a:xfrm>
            <a:off x="822960" y="51663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Multimodelo (polystore):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mais de um modelo. Como muitos não têm todas as funções de um SGBD relacional, há quem prefira "NoSQL stores".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chave-valor: o mais simples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chave → valor: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pode ser simples ou estruturado.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Caixa-preta: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SGBD não valida nem interpreta o valor; a semântica fica com o programa.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linguagem de consulta: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é recuperado pela chave.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(Remote Dictionary Server — Servidor de Dicionário Remoto), de 2009.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89204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EF0D5"/>
          </a:solidFill>
          <a:ln w="9525">
            <a:solidFill>
              <a:srgbClr val="FEF0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48920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do professor: o texto-base diz que a chave é atribuída pelo SGBD; no Redis, quem escolhe a chave é a aplicação cliente.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36792" y="169164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519672" y="178308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SET cliente:42 "{nome: 'Ana', uf: 'DF'}"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GET cliente:42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"{nome: 'Ana', uf: 'DF'}"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DEL cliente:42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(integer) 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36792" y="4526280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336792" y="4526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452628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chave e seu valor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36792" y="5074920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336792" y="50749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507492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o valor pela chave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36792" y="5623560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336792" y="56235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562356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chave e valor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Semiestruturados e orientados a documentos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modelo semiestruturado, a estrutura do valor é informada junto com os dados no momento da criação: há metadados, mas não definidos a priori.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e JSON: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nasceram para interoperabilidade — capacidade de sistemas trabalharem juntos e trocarem informações (ePING, Padrões de Interoperabilidade de Governo Eletrônico).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Coleções: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conjuntos de documentos, geralmente em JSON (Notação de Objetos JavaScript).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caixa-preta: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SGBD conhece a estrutura e permite buscas por expressões lógicas sobre os campos.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36792" y="1691640"/>
            <a:ext cx="5303520" cy="2971800"/>
          </a:xfrm>
          <a:prstGeom prst="roundRect">
            <a:avLst>
              <a:gd name="adj" fmla="val 2462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519672" y="178308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"titulo": "Bancos de Dados",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"autor": [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"sobrenome": "Elmasri", "nome": "R."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"sobrenome": "Navathe", "nome": "S."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"categoria": ["computação", "dados"],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"ano": 2019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36792" y="4709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"autor" e "categoria" são não atômicos (vários valores); cada autor é estruturado.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36792" y="5166360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FFE5E9"/>
          </a:solidFill>
          <a:ln w="9525">
            <a:solidFill>
              <a:srgbClr val="FFE5E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519672" y="51663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Flexível, mas cuidado: na mesma coleção, um livro pode ter título e categoria e outro só autores e link de compra — o programa não sabe a priori o que vai encontrar.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MongoDB: CRUD por métodos de coleção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= Create, Read, Update, Delete (criar, ler, atualizar, remover). MongoDB (2009) manipula dados por métodos com parâmetros em JSON.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2286000"/>
            <a:ext cx="7635240" cy="749808"/>
          </a:xfrm>
          <a:prstGeom prst="roundRect">
            <a:avLst>
              <a:gd name="adj" fmla="val 9756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468880" y="237744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db.users.insertOne({ name: "sue", age: 26, status: "pending" })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2286000"/>
            <a:ext cx="1581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SQL</a:t>
            </a:r>
            <a:endParaRPr lang="en-US" sz="14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5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3154680"/>
            <a:ext cx="7635240" cy="749808"/>
          </a:xfrm>
          <a:prstGeom prst="roundRect">
            <a:avLst>
              <a:gd name="adj" fmla="val 9756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2468880" y="324612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db.users.find({ age: { $gt: 18 } }, { name: 1, address: 1 }).limit(5)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0" y="3154680"/>
            <a:ext cx="1581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SQL</a:t>
            </a:r>
            <a:endParaRPr lang="en-US" sz="14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5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548640" y="402336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86000" y="4023360"/>
            <a:ext cx="7635240" cy="749808"/>
          </a:xfrm>
          <a:prstGeom prst="roundRect">
            <a:avLst>
              <a:gd name="adj" fmla="val 9756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2468880" y="411480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db.users.updateMany({ age: { $lt: 18 } }, { $set: { status: "reject" } })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4023360"/>
            <a:ext cx="1581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SQL</a:t>
            </a:r>
            <a:endParaRPr lang="en-US" sz="14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5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548640" y="489204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286000" y="4892040"/>
            <a:ext cx="7635240" cy="749808"/>
          </a:xfrm>
          <a:prstGeom prst="roundRect">
            <a:avLst>
              <a:gd name="adj" fmla="val 9756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2468880" y="498348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db.users.deleteMany({ status: "reject" })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0" y="4892040"/>
            <a:ext cx="1581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SQL</a:t>
            </a:r>
            <a:endParaRPr lang="en-US" sz="14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5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métodos: insertMany, updateOne, replaceOne, deleteOne. $gt = maior que; $lt = menor que. Fonte dos exemplos: documentação do MongoDB.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Grafos: de Euler às bases de dados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grafo é um conjunto de nós (vértices) ligados por arestas (relacionamentos). O problema das sete pontes de Königsberg, resolvido por Euler em 1736, inaugurou a teoria dos grafos.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5303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possível atravessar as 7 pontes uma única vez cada e voltar ao início?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mostrou que não: para isso, todo nó precisaria ter número par de arestas.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volumes de grafos exigem SGBDs próprios — tema do movimento NoSQL.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H="1">
            <a:off x="7150608" y="2103120"/>
            <a:ext cx="1463040" cy="173736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flipH="1">
            <a:off x="7479792" y="2103120"/>
            <a:ext cx="1463040" cy="173736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150608" y="3840480"/>
            <a:ext cx="1463040" cy="173736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479792" y="3840480"/>
            <a:ext cx="1463040" cy="173736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8778240" y="2103120"/>
            <a:ext cx="2103120" cy="173736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 flipH="1">
            <a:off x="8778240" y="3840480"/>
            <a:ext cx="2103120" cy="1737360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315200" y="3840480"/>
            <a:ext cx="3566160" cy="914"/>
          </a:xfrm>
          <a:prstGeom prst="line">
            <a:avLst/>
          </a:prstGeom>
          <a:noFill/>
          <a:ln w="317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394192" y="1719072"/>
            <a:ext cx="768096" cy="768096"/>
          </a:xfrm>
          <a:prstGeom prst="ellipse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8394192" y="17190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94192" y="5193792"/>
            <a:ext cx="768096" cy="768096"/>
          </a:xfrm>
          <a:prstGeom prst="ellipse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394192" y="51937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31152" y="3456432"/>
            <a:ext cx="768096" cy="768096"/>
          </a:xfrm>
          <a:prstGeom prst="ellipse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931152" y="3456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97312" y="3456432"/>
            <a:ext cx="768096" cy="768096"/>
          </a:xfrm>
          <a:prstGeom prst="ellipse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10497312" y="3456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5852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Graus: A=3, B=3, C=5, D=3 (todos ímpares)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grafos: LPG × RDF e suas linguagens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9824" cy="2377440"/>
          </a:xfrm>
          <a:prstGeom prst="roundRect">
            <a:avLst>
              <a:gd name="adj" fmla="val 384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920240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LPG — Grafo de Propriedades Rotuladas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06040"/>
            <a:ext cx="4992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e arestas com rótulos (tipos) e propriedades chave-valor. SGBDs: Neo4j, DEX, TigerGraph, InfiniteGraph. Linguagens: Cypher, Gremlin, PGQL, GSQL, G-Core.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0488" y="1691640"/>
            <a:ext cx="5449824" cy="2377440"/>
          </a:xfrm>
          <a:prstGeom prst="roundRect">
            <a:avLst>
              <a:gd name="adj" fmla="val 384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19088" y="1920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89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04888" y="1920240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RDF — Estrutura de Descrição de Recursos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19088" y="2606040"/>
            <a:ext cx="4992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Triplas sujeito–predicado–objeto (W3C). SGBDs conhecidos como triplestores: Oracle Spatial and Graph, OpenLink Virtuoso, AllegroGraph. Linguagem: SPARQL.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25196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declarativa, estilo SQL; busca subgrafos por correspondência de padrões, com variáveis e caminhos de comprimento arbitrário.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GQL — Linguagem de Consulta a Grafos: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para o modelo LPG; o Neo4j usa Cypher, aberto como openCypher.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(Facebook) não é uma GQL — é linguagem de consulta para APIs (interfaces de programação), com funções resolvedoras.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podem modelar grafos? Sim, mas…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relacional possível: uma tabela por tipo de nó (ID e propriedades) e uma por tipo de relacionamento (IDs de origem e destino e propriedades).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449824" cy="3520440"/>
          </a:xfrm>
          <a:prstGeom prst="roundRect">
            <a:avLst>
              <a:gd name="adj" fmla="val 25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77240" y="28346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97545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834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relacional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70332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nos dados dentro das tabelas.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Percorrer relacionamentos exige junções e índices a cada salto.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com muitos saltos ficam caras e difíceis de escrever.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90488" y="2606040"/>
            <a:ext cx="5449824" cy="3520440"/>
          </a:xfrm>
          <a:prstGeom prst="roundRect">
            <a:avLst>
              <a:gd name="adj" fmla="val 2597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419088" y="28346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906" y="297545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42048" y="2834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de grafo nativo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419088" y="3703320"/>
            <a:ext cx="4983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nos relacionamentos.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Adjacência sem índice: cada nó aponta para suas arestas de entrada e saída.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mecanismo apenas percorre ponteiros na memória — sem perda de flexibilidade nem desempenho.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Neo4j: o grafo de filmes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1554480" cy="1554480"/>
          </a:xfrm>
          <a:prstGeom prst="ellipse">
            <a:avLst/>
          </a:prstGeom>
          <a:solidFill>
            <a:srgbClr val="7A5CFA"/>
          </a:solidFill>
          <a:ln w="254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born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3108960"/>
            <a:ext cx="1554480" cy="1554480"/>
          </a:xfrm>
          <a:prstGeom prst="ellipse">
            <a:avLst/>
          </a:prstGeom>
          <a:solidFill>
            <a:srgbClr val="00B8A9"/>
          </a:solidFill>
          <a:ln w="254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4754880" y="31089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released, tagline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95728" y="3474720"/>
            <a:ext cx="2340864" cy="91"/>
          </a:xfrm>
          <a:prstGeom prst="line">
            <a:avLst/>
          </a:prstGeom>
          <a:noFill/>
          <a:ln w="25400">
            <a:solidFill>
              <a:srgbClr val="14123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46888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ACTED_IN {roles}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95728" y="3886200"/>
            <a:ext cx="2340864" cy="91"/>
          </a:xfrm>
          <a:prstGeom prst="line">
            <a:avLst/>
          </a:prstGeom>
          <a:noFill/>
          <a:ln w="25400">
            <a:solidFill>
              <a:srgbClr val="14123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246888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4434840"/>
            <a:ext cx="2560320" cy="91"/>
          </a:xfrm>
          <a:prstGeom prst="line">
            <a:avLst/>
          </a:prstGeom>
          <a:noFill/>
          <a:ln w="25400">
            <a:solidFill>
              <a:srgbClr val="14123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219456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REVIEWED {rating, summary}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120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simplificado (outros relacionamentos possíveis: PRODUCED, WROTE, FOLLOWS).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1691640"/>
            <a:ext cx="4965192" cy="4434840"/>
          </a:xfrm>
          <a:prstGeom prst="roundRect">
            <a:avLst>
              <a:gd name="adj" fmla="val 206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90372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em resumo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33172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adjacência e lista de arestas adaptadas.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Lançado: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2007, escrito em Java.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LPG; linguagem Cypher.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identifica o filme; released (ano) e tagline (frase) opcionais.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identifica a pessoa; born opcional.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Cypher: consultando o grafo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Estrutura: MATCH (padrão, ≈ FROM) · WHERE (filtro opcional) · RETURN (≈ SELECT)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nós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8920" y="219456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2971800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(p) RETURN p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do tipo Person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274320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2971800" y="2834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(p:Person) RETURN 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propriedade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88920" y="329184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2971800" y="33832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(p:Person {name: 'Tom Hanks'})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69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com WHERE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88920" y="406908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2971800" y="41605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(p:Person)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p.name = 'Tom Hanks' OR p.name = 'Rita Wilson'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p.name, p.born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74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Seguindo relacionamentos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88920" y="507492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2971800" y="51663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(p:Person {name: 'Tom Hanks'})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-[:ACTED_IN]-&gt;(m:Movie)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m.title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32520" y="2194560"/>
            <a:ext cx="2907792" cy="3977640"/>
          </a:xfrm>
          <a:prstGeom prst="roundRect">
            <a:avLst>
              <a:gd name="adj" fmla="val 3145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89611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269748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  nós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  relacionamentos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  propriedades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 &lt;-  direção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:Tipo  rótulo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448056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5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estende a linguagem com procedimentos, ex.: db.schema.visualization() mostra o esquema.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Cypher: criar, atualizar e remover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2011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sem duplicar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06040" y="1691640"/>
            <a:ext cx="5897880" cy="1014984"/>
          </a:xfrm>
          <a:prstGeom prst="roundRect">
            <a:avLst>
              <a:gd name="adj" fmla="val 7207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2788920" y="1783080"/>
            <a:ext cx="5532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(p:Person {name: 'Michael Caine'})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(m:Movie {title: 'The Dark Knight'})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(p)-[:ACTED_IN]-&gt;(m)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25496"/>
            <a:ext cx="2011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propriedade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2825496"/>
            <a:ext cx="5897880" cy="1014984"/>
          </a:xfrm>
          <a:prstGeom prst="roundRect">
            <a:avLst>
              <a:gd name="adj" fmla="val 7207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788920" y="2916936"/>
            <a:ext cx="5532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(p:Person)-[r:ACTED_IN]-&gt;(m:Movie)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p.name = 'Michael Caine'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r.roles = ['Alfred Pennyworth']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5935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propriedade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3959352"/>
            <a:ext cx="5897880" cy="768096"/>
          </a:xfrm>
          <a:prstGeom prst="roundRect">
            <a:avLst>
              <a:gd name="adj" fmla="val 9524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2788920" y="4050792"/>
            <a:ext cx="5532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(p:Person {name: 'Michael Caine'})-[r:ACTED_IN]-&gt;(m)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r.roles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46320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nó e arestas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06040" y="4846320"/>
            <a:ext cx="5897880" cy="768096"/>
          </a:xfrm>
          <a:prstGeom prst="roundRect">
            <a:avLst>
              <a:gd name="adj" fmla="val 9524"/>
            </a:avLst>
          </a:prstGeom>
          <a:solidFill>
            <a:srgbClr val="1E1B45"/>
          </a:solidFill>
          <a:ln w="12700">
            <a:solidFill>
              <a:srgbClr val="1E1B4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2788920" y="4937760"/>
            <a:ext cx="5532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(p:Person {name: 'Jane Doe'})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DETACH DELETE 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32520" y="1691640"/>
            <a:ext cx="2907792" cy="4480560"/>
          </a:xfrm>
          <a:prstGeom prst="roundRect">
            <a:avLst>
              <a:gd name="adj" fmla="val 3145"/>
            </a:avLst>
          </a:prstGeom>
          <a:solidFill>
            <a:srgbClr val="FEF0D5"/>
          </a:solidFill>
          <a:ln w="9525">
            <a:solidFill>
              <a:srgbClr val="FEF0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96112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0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× CREATE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194560"/>
            <a:ext cx="25146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procura o padrão e só cria se não existir: evita duplicatas.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cria sempre, sem verificar: mais rápido em cargas de dados já íntegros.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do professor: o texto-base inverte essa diferença; a documentação do Neo4j confirma a descrição acima.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15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p.born = null também remove a propriedade; defina a semântica do nulo. MATCH (n) DETACH DELETE n apaga todo o grafo.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8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SISTEMAS NOSQL E BIG DATA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 Módulo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1982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troca esquema rígido e ACID por flexibilidade e disponibilidade.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34256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62856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674" y="21982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85816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Chave-valor: valor opaco acessado pela chave (Redis).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19872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8348472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290" y="2198218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171432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JSON em coleções; CRUD por métodos (MongoDB).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777240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8" y="3798418"/>
            <a:ext cx="358445" cy="3584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priorizam relacionamentos: adjacência sem índice.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34256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4562856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74" y="3798418"/>
            <a:ext cx="358445" cy="35844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85816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(Cypher, GQL) × RDF (SPARQL).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119872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8348472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9290" y="3798418"/>
            <a:ext cx="358445" cy="35844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171432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Cypher: MATCH–WHERE–RETURN; MERGE evita duplicatas.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 txBox="1"/>
          <p:nvPr/>
        </p:nvSpPr>
        <p:spPr>
          <a:xfrm>
            <a:off x="822960" y="507492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discutir: que dados da sua organização seriam mais bem servidos por documentos ou por grafos do que por tabelas?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0" b="1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7472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lakes, ingestão de dados e ETL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5029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DW "puro" ao lago de dados sobre Hadoop e Spark.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731520"/>
            <a:ext cx="5330952" cy="5394960"/>
          </a:xfrm>
          <a:prstGeom prst="roundRect">
            <a:avLst>
              <a:gd name="adj" fmla="val 1715"/>
            </a:avLst>
          </a:prstGeom>
          <a:solidFill>
            <a:srgbClr val="242150"/>
          </a:solidFill>
          <a:ln w="9525">
            <a:solidFill>
              <a:srgbClr val="2421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629400" y="1051560"/>
            <a:ext cx="640080" cy="640080"/>
          </a:xfrm>
          <a:prstGeom prst="ellipse">
            <a:avLst/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12115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051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aprendizagem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deste módulo, você será capaz 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0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Contrastar data lakes com data warehouses "puros".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0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a arquitetura de BI centrada em data lake.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0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o paradigma MapReduce e o Apache Spark.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0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estratégias de ingestão de dados.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0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ferramentas do ecossistema Hadoop–Spark.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DATA LAKES, INGESTÃO E ETL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surgimento dos data lakes na era big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Repositórios distribuídos que reúnem dados em qualquer escala, da própria organização ou de fontes externas, como parte da infraestrutura de armazenamento e processamento de big data.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formato nativo — exatamente como gerados: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2075688" cy="1325880"/>
          </a:xfrm>
          <a:prstGeom prst="roundRect">
            <a:avLst>
              <a:gd name="adj" fmla="val 68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307592" y="3657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293" y="377830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429768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relacionais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07208" y="3566160"/>
            <a:ext cx="2075688" cy="1325880"/>
          </a:xfrm>
          <a:prstGeom prst="roundRect">
            <a:avLst>
              <a:gd name="adj" fmla="val 68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566160" y="3657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861" y="37783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898648" y="429768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e HTML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65776" y="3566160"/>
            <a:ext cx="2075688" cy="1325880"/>
          </a:xfrm>
          <a:prstGeom prst="roundRect">
            <a:avLst>
              <a:gd name="adj" fmla="val 68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5824728" y="3657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5429" y="37783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57216" y="429768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CSV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24344" y="3566160"/>
            <a:ext cx="2075688" cy="1325880"/>
          </a:xfrm>
          <a:prstGeom prst="roundRect">
            <a:avLst>
              <a:gd name="adj" fmla="val 68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8083296" y="3657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997" y="37783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15784" y="429768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de sensores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9582912" y="3566160"/>
            <a:ext cx="2075688" cy="1325880"/>
          </a:xfrm>
          <a:prstGeom prst="roundRect">
            <a:avLst>
              <a:gd name="adj" fmla="val 689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10341864" y="3657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2565" y="377830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74352" y="4297680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imagens, vídeos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EF0D5"/>
          </a:solidFill>
          <a:ln w="9525">
            <a:solidFill>
              <a:srgbClr val="FEF0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1"/>
          <p:cNvSpPr txBox="1"/>
          <p:nvPr/>
        </p:nvSpPr>
        <p:spPr>
          <a:xfrm>
            <a:off x="822960" y="507492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central: manter o dado como foi criado abre caminho para múltiplos usos e reúsos — painéis, aprendizado de máquina, processamento em tempo real —, com o tratamento definido a cada uso.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DATA LAKES, INGESTÃO E ETL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× data warehouse</a:t>
            </a:r>
            <a:endParaRPr lang="en-US" sz="3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warehouse (Armazém de Dados)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lake (Lago de Dados)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0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Estruturados, tratados e integrados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 formato, em estado bruto (nativo)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0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escrita (schema-on-write): definido antes da carga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leitura (schema-on-read): definido a cada uso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0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antes de armazenar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Carrega primeiro e transforma depois (ELT)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0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 típicos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Gestores e analistas de negócio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Cientistas e engenheiros de dados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0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Descritivas e diagnósticas (OLAP, painéis)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Também preditivas e prescritivas (aprendizado de máquina)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07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SGBD relacional ou multidimensional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2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Armazenamento distribuído (HDFS, nuvem)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EF0D5"/>
          </a:solidFill>
          <a:ln w="9525">
            <a:solidFill>
              <a:srgbClr val="FEF0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são complementares: em BI moderno, o DW costuma ser um componente do data lake, guardando os dados estruturados no paradigma dimensional. Para modernizar o DW, adota-se MPP (Processamento Massivamente Paralelo) em arquitetura shared-nothing.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DATA LAKES, INGESTÃO E ETL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como infraestrutura de dados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definição consensual: para alguns, apenas um repositório; para outros, um ecossistema completo — da aquisição à visualização.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26810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corporativos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82112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transacionais e DW em clusters de alta disponibilidade; mainframes e ERP.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4256" y="23774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517136" y="2560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837" y="26810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02936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ETL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17136" y="3182112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Centenas ou milhares de fluxos entre SGBDs, mainframe e ERP.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19872" y="23774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8302752" y="2560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453" y="268102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88552" y="2560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batch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3182112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em lote entre o fim de um expediente e o início do próximo — cumprir a janela é um desafio.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2976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731520" y="44805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1" y="460126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7320" y="4480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Replicação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" y="5102352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síncrona no datacenter principal e assíncrona no de contingência: desempenho, segurança e acesso sem impactar a produção.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334256" y="42976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4517136" y="44805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837" y="460126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02936" y="4480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analíticos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4517136" y="5102352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e JupyterHub com acesso direto aos dados.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119872" y="42976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4"/>
          <p:cNvSpPr/>
          <p:nvPr/>
        </p:nvSpPr>
        <p:spPr>
          <a:xfrm>
            <a:off x="8302752" y="44805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453" y="4601261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88552" y="4480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Contêineres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302752" y="5102352"/>
            <a:ext cx="3154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 Kubernetes: agilidade para implantar dados e aplicações.</a:t>
            </a:r>
            <a:endParaRPr lang="en-US" sz="12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DATA LAKES, INGESTÃO E ETL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Origens: do Nutch ao Google File System e MapReduce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10515600" cy="0"/>
          </a:xfrm>
          <a:prstGeom prst="line">
            <a:avLst/>
          </a:prstGeom>
          <a:noFill/>
          <a:ln w="31750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261872" y="2286000"/>
            <a:ext cx="640080" cy="640080"/>
          </a:xfrm>
          <a:prstGeom prst="ellipse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Nutch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520440"/>
            <a:ext cx="1984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Rastreador (crawler) de código aberto esbarra na explosão de páginas web.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2286000"/>
            <a:ext cx="640080" cy="640080"/>
          </a:xfrm>
          <a:prstGeom prst="ellipse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2807208" y="169164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306324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File System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3520440"/>
            <a:ext cx="1984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distribuído, redundante e tolerante a falhas (Ghemawat, Gobioff e Leung).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79008" y="2286000"/>
            <a:ext cx="640080" cy="640080"/>
          </a:xfrm>
          <a:prstGeom prst="ellipse">
            <a:avLst/>
          </a:prstGeom>
          <a:solidFill>
            <a:srgbClr val="14123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5065776" y="169164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065776" y="306324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11496" y="3520440"/>
            <a:ext cx="1984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programação paralela e distribuída em grandes clusters (Dean e Ghemawat).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37576" y="2286000"/>
            <a:ext cx="640080" cy="640080"/>
          </a:xfrm>
          <a:prstGeom prst="ellipse">
            <a:avLst/>
          </a:prstGeom>
          <a:solidFill>
            <a:srgbClr val="E08E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7324344" y="169164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24344" y="306324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70064" y="3520440"/>
            <a:ext cx="1984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adota os princípios: HDFS + MapReduce formam o núcleo do Hadoop 1.0.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296144" y="2286000"/>
            <a:ext cx="640080" cy="640080"/>
          </a:xfrm>
          <a:prstGeom prst="ellipse">
            <a:avLst/>
          </a:prstGeom>
          <a:solidFill>
            <a:srgbClr val="E08E0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9582912" y="169164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8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582912" y="306324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2.0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28632" y="3520440"/>
            <a:ext cx="19842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separa gerência de recursos e permite outros motores além do MapReduce.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EF0D5"/>
          </a:solidFill>
          <a:ln w="9525">
            <a:solidFill>
              <a:srgbClr val="FEF0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822960" y="525780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Yahoo! e AltaVista atingiam o limite das ferramentas de busca e indexação no início dos anos 2000: o problema gerou a base do big data moderno.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DATA LAKES, INGESTÃO E ETL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MapReduce: contando palavras em paralelo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691640" cy="3291840"/>
          </a:xfrm>
          <a:prstGeom prst="roundRect">
            <a:avLst>
              <a:gd name="adj" fmla="val 5405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94360" y="2377440"/>
            <a:ext cx="1600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Deer Bear River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Car River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Deer Car Bear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58568" y="4023360"/>
            <a:ext cx="146304" cy="91"/>
          </a:xfrm>
          <a:prstGeom prst="line">
            <a:avLst/>
          </a:prstGeom>
          <a:noFill/>
          <a:ln w="25400">
            <a:solidFill>
              <a:srgbClr val="E08E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42316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377440"/>
            <a:ext cx="1691640" cy="1024128"/>
          </a:xfrm>
          <a:prstGeom prst="roundRect">
            <a:avLst>
              <a:gd name="adj" fmla="val 8929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2468880" y="2377440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Deer Bear River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23160" y="3511296"/>
            <a:ext cx="1691640" cy="1024128"/>
          </a:xfrm>
          <a:prstGeom prst="roundRect">
            <a:avLst>
              <a:gd name="adj" fmla="val 8929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2468880" y="3511296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Car River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23160" y="4645152"/>
            <a:ext cx="1691640" cy="1024128"/>
          </a:xfrm>
          <a:prstGeom prst="roundRect">
            <a:avLst>
              <a:gd name="adj" fmla="val 8929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2468880" y="4645152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Deer Car Bear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33088" y="4023360"/>
            <a:ext cx="146304" cy="91"/>
          </a:xfrm>
          <a:prstGeom prst="line">
            <a:avLst/>
          </a:prstGeom>
          <a:noFill/>
          <a:ln w="25400">
            <a:solidFill>
              <a:srgbClr val="E08E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429768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377440"/>
            <a:ext cx="1691640" cy="1024128"/>
          </a:xfrm>
          <a:prstGeom prst="roundRect">
            <a:avLst>
              <a:gd name="adj" fmla="val 8929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4343400" y="2377440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Deer,1 Bear,1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River,1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3511296"/>
            <a:ext cx="1691640" cy="1024128"/>
          </a:xfrm>
          <a:prstGeom prst="roundRect">
            <a:avLst>
              <a:gd name="adj" fmla="val 8929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4343400" y="3511296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Car,1 Car,1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River,1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4645152"/>
            <a:ext cx="1691640" cy="1024128"/>
          </a:xfrm>
          <a:prstGeom prst="roundRect">
            <a:avLst>
              <a:gd name="adj" fmla="val 8929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4343400" y="4645152"/>
            <a:ext cx="1600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Deer,1 Car,1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Bear,1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07608" y="4023360"/>
            <a:ext cx="146304" cy="91"/>
          </a:xfrm>
          <a:prstGeom prst="line">
            <a:avLst/>
          </a:prstGeom>
          <a:noFill/>
          <a:ln w="25400">
            <a:solidFill>
              <a:srgbClr val="E08E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617220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Embaralhamento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2377440"/>
            <a:ext cx="1691640" cy="740664"/>
          </a:xfrm>
          <a:prstGeom prst="roundRect">
            <a:avLst>
              <a:gd name="adj" fmla="val 1234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6217920" y="2377440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Bear,1 Bear,1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3227832"/>
            <a:ext cx="1691640" cy="740664"/>
          </a:xfrm>
          <a:prstGeom prst="roundRect">
            <a:avLst>
              <a:gd name="adj" fmla="val 1234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6217920" y="3227832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Car,1 ×3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4078224"/>
            <a:ext cx="1691640" cy="740664"/>
          </a:xfrm>
          <a:prstGeom prst="roundRect">
            <a:avLst>
              <a:gd name="adj" fmla="val 1234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 txBox="1"/>
          <p:nvPr/>
        </p:nvSpPr>
        <p:spPr>
          <a:xfrm>
            <a:off x="6217920" y="4078224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Deer,1 Deer,1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4928616"/>
            <a:ext cx="1691640" cy="740664"/>
          </a:xfrm>
          <a:prstGeom prst="roundRect">
            <a:avLst>
              <a:gd name="adj" fmla="val 12346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6217920" y="4928616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River,1 River,1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882128" y="4023360"/>
            <a:ext cx="146304" cy="91"/>
          </a:xfrm>
          <a:prstGeom prst="line">
            <a:avLst/>
          </a:prstGeom>
          <a:noFill/>
          <a:ln w="25400">
            <a:solidFill>
              <a:srgbClr val="E08E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804672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2011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46720" y="2377440"/>
            <a:ext cx="1691640" cy="740664"/>
          </a:xfrm>
          <a:prstGeom prst="roundRect">
            <a:avLst>
              <a:gd name="adj" fmla="val 12346"/>
            </a:avLst>
          </a:prstGeom>
          <a:solidFill>
            <a:srgbClr val="E08E00"/>
          </a:solidFill>
          <a:ln w="9525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 txBox="1"/>
          <p:nvPr/>
        </p:nvSpPr>
        <p:spPr>
          <a:xfrm>
            <a:off x="8092440" y="2377440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Bear,2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046720" y="3227832"/>
            <a:ext cx="1691640" cy="740664"/>
          </a:xfrm>
          <a:prstGeom prst="roundRect">
            <a:avLst>
              <a:gd name="adj" fmla="val 12346"/>
            </a:avLst>
          </a:prstGeom>
          <a:solidFill>
            <a:srgbClr val="E08E00"/>
          </a:solidFill>
          <a:ln w="9525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 txBox="1"/>
          <p:nvPr/>
        </p:nvSpPr>
        <p:spPr>
          <a:xfrm>
            <a:off x="8092440" y="3227832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Car,3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046720" y="4078224"/>
            <a:ext cx="1691640" cy="740664"/>
          </a:xfrm>
          <a:prstGeom prst="roundRect">
            <a:avLst>
              <a:gd name="adj" fmla="val 12346"/>
            </a:avLst>
          </a:prstGeom>
          <a:solidFill>
            <a:srgbClr val="E08E00"/>
          </a:solidFill>
          <a:ln w="9525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 txBox="1"/>
          <p:nvPr/>
        </p:nvSpPr>
        <p:spPr>
          <a:xfrm>
            <a:off x="8092440" y="4078224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Deer,2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046720" y="4928616"/>
            <a:ext cx="1691640" cy="740664"/>
          </a:xfrm>
          <a:prstGeom prst="roundRect">
            <a:avLst>
              <a:gd name="adj" fmla="val 12346"/>
            </a:avLst>
          </a:prstGeom>
          <a:solidFill>
            <a:srgbClr val="E08E00"/>
          </a:solidFill>
          <a:ln w="9525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 txBox="1"/>
          <p:nvPr/>
        </p:nvSpPr>
        <p:spPr>
          <a:xfrm>
            <a:off x="8092440" y="4928616"/>
            <a:ext cx="16002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River,2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756648" y="4023360"/>
            <a:ext cx="146304" cy="91"/>
          </a:xfrm>
          <a:prstGeom prst="line">
            <a:avLst/>
          </a:prstGeom>
          <a:noFill/>
          <a:ln w="25400">
            <a:solidFill>
              <a:srgbClr val="E08E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 txBox="1"/>
          <p:nvPr/>
        </p:nvSpPr>
        <p:spPr>
          <a:xfrm>
            <a:off x="992124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921240" y="2377440"/>
            <a:ext cx="1691640" cy="3291840"/>
          </a:xfrm>
          <a:prstGeom prst="roundRect">
            <a:avLst>
              <a:gd name="adj" fmla="val 5405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 txBox="1"/>
          <p:nvPr/>
        </p:nvSpPr>
        <p:spPr>
          <a:xfrm>
            <a:off x="9966960" y="2377440"/>
            <a:ext cx="1600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 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3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Deer 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River 2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tarefa map roda num nó sobre sua parte e emite pares chave-valor; o embaralhamento ordena e envia chaves iguais ao mesmo redutor; a redução agrega (soma).</a:t>
            </a:r>
            <a:endParaRPr lang="en-US" sz="13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DATA LAKES, INGESTÃO E ETL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File System: master e chunkservers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cliente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31920" y="16916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08E00"/>
          </a:solidFill>
          <a:ln w="9525">
            <a:solidFill>
              <a:srgbClr val="E08E00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3931920" y="1691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GFS master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em memória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V="1">
            <a:off x="2606040" y="2194560"/>
            <a:ext cx="1280160" cy="457200"/>
          </a:xfrm>
          <a:prstGeom prst="line">
            <a:avLst/>
          </a:prstGeom>
          <a:noFill/>
          <a:ln w="22225">
            <a:solidFill>
              <a:srgbClr val="14123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219456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nome do arquivo + índice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H="1">
            <a:off x="2606040" y="2606040"/>
            <a:ext cx="1280160" cy="411480"/>
          </a:xfrm>
          <a:prstGeom prst="line">
            <a:avLst/>
          </a:prstGeom>
          <a:noFill/>
          <a:ln w="22225">
            <a:solidFill>
              <a:srgbClr val="14123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237744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chunk handle + locais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17520" y="4206240"/>
            <a:ext cx="1280160" cy="1371600"/>
          </a:xfrm>
          <a:prstGeom prst="roundRect">
            <a:avLst>
              <a:gd name="adj" fmla="val 7143"/>
            </a:avLst>
          </a:prstGeom>
          <a:solidFill>
            <a:srgbClr val="F1F4F9"/>
          </a:solidFill>
          <a:ln w="15875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301752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Chunkserver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4709160"/>
            <a:ext cx="457200" cy="548640"/>
          </a:xfrm>
          <a:prstGeom prst="rect">
            <a:avLst/>
          </a:prstGeom>
          <a:solidFill>
            <a:srgbClr val="00B8A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3154680" y="4709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03320" y="4709160"/>
            <a:ext cx="457200" cy="548640"/>
          </a:xfrm>
          <a:prstGeom prst="rect">
            <a:avLst/>
          </a:prstGeom>
          <a:solidFill>
            <a:srgbClr val="7A5C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3703320" y="4709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4206240"/>
            <a:ext cx="1280160" cy="1371600"/>
          </a:xfrm>
          <a:prstGeom prst="roundRect">
            <a:avLst>
              <a:gd name="adj" fmla="val 7143"/>
            </a:avLst>
          </a:prstGeom>
          <a:solidFill>
            <a:srgbClr val="F1F4F9"/>
          </a:solidFill>
          <a:ln w="15875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443484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Chunkserver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4709160"/>
            <a:ext cx="457200" cy="548640"/>
          </a:xfrm>
          <a:prstGeom prst="rect">
            <a:avLst/>
          </a:prstGeom>
          <a:solidFill>
            <a:srgbClr val="00B8A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4572000" y="4709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4709160"/>
            <a:ext cx="457200" cy="548640"/>
          </a:xfrm>
          <a:prstGeom prst="rect">
            <a:avLst/>
          </a:prstGeom>
          <a:solidFill>
            <a:srgbClr val="7A5C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5120640" y="4709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4206240"/>
            <a:ext cx="1280160" cy="1371600"/>
          </a:xfrm>
          <a:prstGeom prst="roundRect">
            <a:avLst>
              <a:gd name="adj" fmla="val 7143"/>
            </a:avLst>
          </a:prstGeom>
          <a:solidFill>
            <a:srgbClr val="F1F4F9"/>
          </a:solidFill>
          <a:ln w="15875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5852160" y="4251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Chunkserver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4709160"/>
            <a:ext cx="457200" cy="548640"/>
          </a:xfrm>
          <a:prstGeom prst="rect">
            <a:avLst/>
          </a:prstGeom>
          <a:solidFill>
            <a:srgbClr val="7A5C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6537960" y="4709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554480" y="3611880"/>
            <a:ext cx="1417320" cy="960120"/>
          </a:xfrm>
          <a:prstGeom prst="line">
            <a:avLst/>
          </a:prstGeom>
          <a:noFill/>
          <a:ln w="22225">
            <a:solidFill>
              <a:srgbClr val="00B8A9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548640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dados lidos direto do chunkserver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669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A1 em 2 servidores; A2 em 3 (réplicas por chunk).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1691640"/>
            <a:ext cx="414223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metadados, controle de acesso e mapeamento arquivo → blocos (chunks).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a falhas: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chunk é replicado em n servidores; se um local falha, o cliente tenta o próximo.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de 64 MB: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64 KB, os metadados seriam ~1.000 vezes maiores; assim cabem na memória do master.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× dados: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master só participa no início; o fluxo de dados não passa por ele.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DATA LAKES, INGESTÃO E ETL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HDFS: o sistema de arquivos distribuído do Hadoop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  <a:effectLst>
            <a:outerShdw blurRad="127000" dist="38100" dir="5400000" algn="bl" rotWithShape="0">
              <a:srgbClr val="1A2238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+ log de transações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1F4F9"/>
          </a:solidFill>
          <a:ln w="15875">
            <a:solidFill>
              <a:srgbClr val="D5DB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NameNode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mescla FSIMAGE + log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2377440"/>
            <a:ext cx="914400" cy="2057400"/>
          </a:xfrm>
          <a:prstGeom prst="roundRect">
            <a:avLst>
              <a:gd name="adj" fmla="val 10000"/>
            </a:avLst>
          </a:prstGeom>
          <a:solidFill>
            <a:srgbClr val="E08E00"/>
          </a:solidFill>
          <a:ln w="9525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384048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23360" y="292608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023360" y="2926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3401568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023360" y="34015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377440"/>
            <a:ext cx="914400" cy="2057400"/>
          </a:xfrm>
          <a:prstGeom prst="roundRect">
            <a:avLst>
              <a:gd name="adj" fmla="val 10000"/>
            </a:avLst>
          </a:prstGeom>
          <a:solidFill>
            <a:srgbClr val="E08E00"/>
          </a:solidFill>
          <a:ln w="9525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489204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74920" y="292608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5074920" y="2926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3877056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5074920" y="38770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2377440"/>
            <a:ext cx="914400" cy="2057400"/>
          </a:xfrm>
          <a:prstGeom prst="roundRect">
            <a:avLst>
              <a:gd name="adj" fmla="val 10000"/>
            </a:avLst>
          </a:prstGeom>
          <a:solidFill>
            <a:srgbClr val="E08E00"/>
          </a:solidFill>
          <a:ln w="9525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594360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DataNode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3401568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126480" y="34015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877056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6126480" y="38770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2377440"/>
            <a:ext cx="512064" cy="365760"/>
          </a:xfrm>
          <a:prstGeom prst="line">
            <a:avLst/>
          </a:prstGeom>
          <a:noFill/>
          <a:ln w="22225">
            <a:solidFill>
              <a:srgbClr val="14123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54864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 replicado em 2 DataNodes (fator de replicação ilustrativo).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6400800" cy="1051560"/>
          </a:xfrm>
          <a:prstGeom prst="roundRect">
            <a:avLst>
              <a:gd name="adj" fmla="val 8696"/>
            </a:avLst>
          </a:prstGeom>
          <a:solidFill>
            <a:srgbClr val="FEF0D5"/>
          </a:solidFill>
          <a:ln w="9525">
            <a:solidFill>
              <a:srgbClr val="FEF0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777240" y="50749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FSIMAGE: </a:t>
            </a:r>
            <a:r>
              <a:rPr lang="en-US" sz="125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do namespace lida na inicialização. Alterações vão para memória e log, não direto ao FSIMAGE (que pode ser enorme). O Secondary NameNode não é um NameNode de reserva.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1691640"/>
            <a:ext cx="441655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do GFS pela Apache; com o MapReduce, forma o Hadoop 1.0.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Write-once-read-many: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gravado uma vez, lido muitas; simplifica a coerência.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rendimento em lote (batch), não uso interativo.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NameNode guarda: </a:t>
            </a: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arquivos, blocos de cada arquivo, DataNodes de cada bloco, atributos, data de criação, fator de replicação.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DATA LAKES, INGESTÃO E ETL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Hadoop 2.0, YARN e Spark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pilha (stack) Hadoop 2.0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298448" cy="868680"/>
          </a:xfrm>
          <a:prstGeom prst="roundRect">
            <a:avLst>
              <a:gd name="adj" fmla="val 10526"/>
            </a:avLst>
          </a:prstGeom>
          <a:solidFill>
            <a:srgbClr val="242150"/>
          </a:solidFill>
          <a:ln w="9525">
            <a:solidFill>
              <a:srgbClr val="2421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47672" y="2148840"/>
            <a:ext cx="1298448" cy="868680"/>
          </a:xfrm>
          <a:prstGeom prst="roundRect">
            <a:avLst>
              <a:gd name="adj" fmla="val 10526"/>
            </a:avLst>
          </a:prstGeom>
          <a:solidFill>
            <a:srgbClr val="7A5CFA"/>
          </a:solidFill>
          <a:ln w="9525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947672" y="21488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46704" y="2148840"/>
            <a:ext cx="1298448" cy="868680"/>
          </a:xfrm>
          <a:prstGeom prst="roundRect">
            <a:avLst>
              <a:gd name="adj" fmla="val 10526"/>
            </a:avLst>
          </a:prstGeom>
          <a:solidFill>
            <a:srgbClr val="00B8A9"/>
          </a:solidFill>
          <a:ln w="9525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3346704" y="21488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45736" y="2148840"/>
            <a:ext cx="1298448" cy="868680"/>
          </a:xfrm>
          <a:prstGeom prst="roundRect">
            <a:avLst>
              <a:gd name="adj" fmla="val 10526"/>
            </a:avLst>
          </a:prstGeom>
          <a:solidFill>
            <a:srgbClr val="5B6478"/>
          </a:solidFill>
          <a:ln w="9525">
            <a:solidFill>
              <a:srgbClr val="5B64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745736" y="214884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08E00"/>
          </a:solidFill>
          <a:ln w="9525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777240" y="31546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gerenciador de recursos do cluster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777240" y="41605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distribuído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66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do YARN: ResourceManager (global), NodeManager (por nó) e ApplicationMaster (por aplicação).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36792" y="1691640"/>
            <a:ext cx="5303520" cy="2057400"/>
          </a:xfrm>
          <a:prstGeom prst="roundRect">
            <a:avLst>
              <a:gd name="adj" fmla="val 4444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6565392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0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× MapReduce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21945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MapReduce sozinho só faz lote e aloca recursos de forma estática. O YARN separa responsabilidades e aloca recursos dinamicamente para vários motores (engines).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36792" y="393192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565392" y="4114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093" y="4235501"/>
            <a:ext cx="307238" cy="307238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26948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Spark: memória em vez de disco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565392" y="475488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5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Cadeias de Map e Reduce geravam muitos arquivos intermediários em disco. O Spark mantém os dados intermediários em memória distribuída (RDD), elimina esse custo de E/S (entrada/saída) e permite aplicações interativas, como consultas SQL, e quase em tempo real.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DATA LAKES, INGESTÃO E ETL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ecossistema Hadoop–Spark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9824" cy="1417320"/>
          </a:xfrm>
          <a:prstGeom prst="roundRect">
            <a:avLst>
              <a:gd name="adj" fmla="val 645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868680" cy="868680"/>
          </a:xfrm>
          <a:prstGeom prst="ellipse">
            <a:avLst/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18313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2402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sobre o Hadoop; consultas em linguagem semelhante a SQL (HiveQL).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0488" y="1691640"/>
            <a:ext cx="5449824" cy="1417320"/>
          </a:xfrm>
          <a:prstGeom prst="roundRect">
            <a:avLst>
              <a:gd name="adj" fmla="val 645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419088" y="1965960"/>
            <a:ext cx="868680" cy="868680"/>
          </a:xfrm>
          <a:prstGeom prst="ellipse">
            <a:avLst/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258" y="218313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70648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HBase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470648" y="22402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orientado a colunas, distribuído sobre o HDFS, inspirado no Google BigTable; em Java.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449824" cy="1417320"/>
          </a:xfrm>
          <a:prstGeom prst="roundRect">
            <a:avLst>
              <a:gd name="adj" fmla="val 645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77240" y="3566160"/>
            <a:ext cx="868680" cy="868680"/>
          </a:xfrm>
          <a:prstGeom prst="ellipse">
            <a:avLst/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" y="378333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3429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3840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processamento de fluxos (streams); criada no LinkedIn, hoje Apache.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90488" y="3291840"/>
            <a:ext cx="5449824" cy="1417320"/>
          </a:xfrm>
          <a:prstGeom prst="roundRect">
            <a:avLst>
              <a:gd name="adj" fmla="val 645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419088" y="3566160"/>
            <a:ext cx="868680" cy="868680"/>
          </a:xfrm>
          <a:prstGeom prst="ellipse">
            <a:avLst/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6258" y="378333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70648" y="3429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Ambari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470648" y="3840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Provisionamento, gestão e monitoramento de clusters (originalmente Hortonworks).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777240" y="52578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058" y="5398618"/>
            <a:ext cx="358445" cy="35844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645920" y="4983480"/>
            <a:ext cx="9829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nuvem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fornecedores baseiam-se em clusters Hadoop–Spark, trocando componentes: AWS S3 (Amazon Simple Storage Service) ou Azure Blob Storage no lugar do HDFS; Mesos ou Kubernetes no lugar do YARN. Ingestão ocorre fora do OLTP, sem afetar os sistemas corporativos.</a:t>
            </a:r>
            <a:endParaRPr lang="en-US" sz="13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DATA LAKES, INGESTÃO E ETL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de ingestão de dados no data lake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33472" cy="3200400"/>
          </a:xfrm>
          <a:prstGeom prst="roundRect">
            <a:avLst>
              <a:gd name="adj" fmla="val 347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362456" y="1874520"/>
            <a:ext cx="1005840" cy="1005840"/>
          </a:xfrm>
          <a:prstGeom prst="ellipse">
            <a:avLst/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6" y="21259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1752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direta para o HDFS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(ex.: CSV) copiados com hdfs dfs -put e expostos como tabelas no Hive.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64992" y="1691640"/>
            <a:ext cx="2633472" cy="3200400"/>
          </a:xfrm>
          <a:prstGeom prst="roundRect">
            <a:avLst>
              <a:gd name="adj" fmla="val 347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178808" y="1874520"/>
            <a:ext cx="1005840" cy="1005840"/>
          </a:xfrm>
          <a:prstGeom prst="ellipse">
            <a:avLst/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1259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02152" y="301752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de bancos relacionais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365760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Apache Sqoop (aposentado em 2021) ou conectores Spark JDBC (Java Database Connectivity).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81344" y="1691640"/>
            <a:ext cx="2633472" cy="3200400"/>
          </a:xfrm>
          <a:prstGeom prst="roundRect">
            <a:avLst>
              <a:gd name="adj" fmla="val 347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6995160" y="1874520"/>
            <a:ext cx="1005840" cy="1005840"/>
          </a:xfrm>
          <a:prstGeom prst="ellipse">
            <a:avLst/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21259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18504" y="301752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em tempo real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64224" y="365760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como intermediário: consumidores na taxa adequada persistem os dados.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97696" y="1691640"/>
            <a:ext cx="2633472" cy="3200400"/>
          </a:xfrm>
          <a:prstGeom prst="roundRect">
            <a:avLst>
              <a:gd name="adj" fmla="val 3472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9811512" y="1874520"/>
            <a:ext cx="1005840" cy="10058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2972" y="21259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34856" y="3017520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registros (logs)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180576" y="365760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como Apache Flume ou NiFi encaminham eventos ao HDFS.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FEF0D5"/>
          </a:solidFill>
          <a:ln w="9525">
            <a:solidFill>
              <a:srgbClr val="FEF0D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9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escolher: </a:t>
            </a:r>
            <a:r>
              <a:rPr lang="en-US" sz="1400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dado, volume, vazão e destino. Um CSV para o Hive pode ir direto ao HDFS; um serviço de streaming exige consumidor capaz de acompanhar a taxa e persistir num banco adequado.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· DATA LAKES, INGESTÃO E ETL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 Módulo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1982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guarda dados em formato nativo, com esquema na leitura.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34256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62856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674" y="21982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85816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e DL são complementares; o DW vira componente do lago.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19872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8348472" y="20574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290" y="2198218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171432" y="16916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GFS e HDFS: blocos grandes, réplicas e master com metadados.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777240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8" y="3798418"/>
            <a:ext cx="358445" cy="35844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MapReduce: divisão, mapeamento, embaralhamento e redução.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334256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5"/>
          <p:cNvSpPr/>
          <p:nvPr/>
        </p:nvSpPr>
        <p:spPr>
          <a:xfrm>
            <a:off x="4562856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74" y="3798418"/>
            <a:ext cx="358445" cy="35844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385816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gerencia recursos; Spark acelera com memória distribuída.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119872" y="3291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18"/>
          <p:cNvSpPr/>
          <p:nvPr/>
        </p:nvSpPr>
        <p:spPr>
          <a:xfrm>
            <a:off x="8348472" y="36576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9290" y="3798418"/>
            <a:ext cx="358445" cy="35844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171432" y="32918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depende de tipo, volume, vazão e destino dos dados.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 txBox="1"/>
          <p:nvPr/>
        </p:nvSpPr>
        <p:spPr>
          <a:xfrm>
            <a:off x="822960" y="507492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sugerida pelo material: ingestão no HDFS, um job MapReduce, tabelas no Hive, consultas SQL e jobs Spark.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A5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WAREHOUSE, NOSQL E DATA LAKES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integrada: do dado bruto à decisão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51560" y="2103120"/>
            <a:ext cx="1005840" cy="1005840"/>
          </a:xfrm>
          <a:prstGeom prst="ellipse">
            <a:avLst/>
          </a:prstGeom>
          <a:solidFill>
            <a:srgbClr val="14123A"/>
          </a:solidFill>
          <a:ln w="12700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3545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033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OLTP, ERP, web, sensores, redes sociais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78608" y="3383280"/>
            <a:ext cx="210312" cy="91"/>
          </a:xfrm>
          <a:prstGeom prst="line">
            <a:avLst/>
          </a:prstGeom>
          <a:noFill/>
          <a:ln w="3175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2807208" y="19202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310128" y="2103120"/>
            <a:ext cx="1005840" cy="1005840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588" y="23545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98648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898648" y="37033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ELT, Kafka, cópias para HDFS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37176" y="3383280"/>
            <a:ext cx="210312" cy="91"/>
          </a:xfrm>
          <a:prstGeom prst="line">
            <a:avLst/>
          </a:prstGeom>
          <a:noFill/>
          <a:ln w="3175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5065776" y="19202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5568696" y="2103120"/>
            <a:ext cx="1005840" cy="1005840"/>
          </a:xfrm>
          <a:prstGeom prst="ellipse">
            <a:avLst/>
          </a:prstGeom>
          <a:solidFill>
            <a:srgbClr val="E08E00"/>
          </a:solidFill>
          <a:ln w="12700">
            <a:solidFill>
              <a:srgbClr val="E08E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0156" y="23545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57216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157216" y="37033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ou nuvem; NoSQL; Spark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095744" y="3383280"/>
            <a:ext cx="210312" cy="91"/>
          </a:xfrm>
          <a:prstGeom prst="line">
            <a:avLst/>
          </a:prstGeom>
          <a:noFill/>
          <a:ln w="3175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7"/>
          <p:cNvSpPr/>
          <p:nvPr/>
        </p:nvSpPr>
        <p:spPr>
          <a:xfrm>
            <a:off x="7324344" y="19202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7827264" y="2103120"/>
            <a:ext cx="1005840" cy="1005840"/>
          </a:xfrm>
          <a:prstGeom prst="ellipse">
            <a:avLst/>
          </a:prstGeom>
          <a:solidFill>
            <a:srgbClr val="FF5D73"/>
          </a:solidFill>
          <a:ln w="1270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8724" y="235458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15784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e marts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7415784" y="37033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dimensional, esquema estrela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354312" y="3383280"/>
            <a:ext cx="210312" cy="91"/>
          </a:xfrm>
          <a:prstGeom prst="line">
            <a:avLst/>
          </a:prstGeom>
          <a:noFill/>
          <a:ln w="31750">
            <a:solidFill>
              <a:srgbClr val="5B647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2"/>
          <p:cNvSpPr/>
          <p:nvPr/>
        </p:nvSpPr>
        <p:spPr>
          <a:xfrm>
            <a:off x="9582912" y="1920240"/>
            <a:ext cx="2011680" cy="2926080"/>
          </a:xfrm>
          <a:prstGeom prst="roundRect">
            <a:avLst>
              <a:gd name="adj" fmla="val 4545"/>
            </a:avLst>
          </a:prstGeom>
          <a:solidFill>
            <a:srgbClr val="F1F4F9"/>
          </a:solidFill>
          <a:ln w="9525">
            <a:solidFill>
              <a:srgbClr val="F1F4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3"/>
          <p:cNvSpPr/>
          <p:nvPr/>
        </p:nvSpPr>
        <p:spPr>
          <a:xfrm>
            <a:off x="10085832" y="2103120"/>
            <a:ext cx="1005840" cy="1005840"/>
          </a:xfrm>
          <a:prstGeom prst="ellipse">
            <a:avLst/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7292" y="235458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74352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9674352" y="37033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OLAP, painéis, aprendizado de máquina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14123A"/>
          </a:solidFill>
          <a:ln w="9525">
            <a:solidFill>
              <a:srgbClr val="1412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27"/>
          <p:cNvSpPr txBox="1"/>
          <p:nvPr/>
        </p:nvSpPr>
        <p:spPr>
          <a:xfrm>
            <a:off x="822960" y="512064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Metadados, qualidade e governança atravessam todas as camadas — sem eles, nem o DW nem o lago entregam uma versão confiável da verdade.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A5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WAREHOUSE, NOSQL E DATA LAKES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DEAN, J.; GHEMAWAT, S. MapReduce: simplified data processing on large clusters. Communications of the ACM, v. 51, n. 1, 2008.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ELMASRI, R.; NAVATHE, S. B. Sistemas de bancos de dados. 7. ed. São Paulo: Pearson, 2019.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GHEMAWAT, S.; GOBIOFF, H.; LEUNG, S. T. The Google File System. In: ACM SOSP, 2003. p. 29-43.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INMON, W. H. Como construir o data warehouse. Rio de Janeiro: Campus, 1997.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KIMBALL, R.; ROSS, M. The data warehouse toolkit: the definitive guide to dimensional modeling. 3. ed. Wiley, 2013.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LAUDON, K. C.; LAUDON, J. P. Management information systems. 16. ed. Pearson, 2019.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45352" y="169164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MONGODB. MongoDB manual. Disponível em: mongodb.com/docs/manual.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NEO4J. Neo4j graph database. Disponível em: neo4j.com.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ÖZSU, T.; VALDURIEZ, P. Principles of distributed database systems. 4. ed. Springer, 2019.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SILBERSCHATZ, A.; KORTH, H. F.; SUDARSHAN, S. Sistema de banco de dados. 7. ed. LTC, 2020.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COUTO, J. A model for automatized data integration in Hadoop-based data lakes. Tese (Doutorado) – PUCRS, 2022.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BAIÃO, F.; LIFSCHITZ, S.; MEDEIROS, A. S. Modelagem, projeto e implementação de data warehouses, Aulas 1–3. PUC-Rio, material didático.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097280"/>
            <a:ext cx="4572000" cy="4572000"/>
          </a:xfrm>
          <a:prstGeom prst="ellipse">
            <a:avLst/>
          </a:prstGeom>
          <a:solidFill>
            <a:srgbClr val="14123A"/>
          </a:solidFill>
          <a:ln w="190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680960" y="1645920"/>
            <a:ext cx="3474720" cy="3474720"/>
          </a:xfrm>
          <a:prstGeom prst="ellipse">
            <a:avLst/>
          </a:prstGeom>
          <a:solidFill>
            <a:srgbClr val="14123A"/>
          </a:solidFill>
          <a:ln w="19050">
            <a:solidFill>
              <a:srgbClr val="FF5D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503920" y="2468880"/>
            <a:ext cx="1828800" cy="1828800"/>
          </a:xfrm>
          <a:prstGeom prst="ellipse">
            <a:avLst/>
          </a:prstGeom>
          <a:solidFill>
            <a:srgbClr val="7A5CFA"/>
          </a:solidFill>
          <a:ln w="12700">
            <a:solidFill>
              <a:srgbClr val="7A5C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9260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comentários e debate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D5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armazém organiza, o lago acolhe, o grafo conecta — e a decisão nasce da integração.”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8006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242150"/>
          </a:solidFill>
          <a:ln w="12700">
            <a:solidFill>
              <a:srgbClr val="2421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960120" y="4846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Elaborado por</a:t>
            </a:r>
            <a:endParaRPr lang="en-US" sz="12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Dr. André Serrano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Warehouse e Big Data">
  <a:themeElements>
    <a:clrScheme name="Data Warehouse e Big Data">
      <a:dk1>
        <a:srgbClr val="1A2238"/>
      </a:dk1>
      <a:lt1>
        <a:srgbClr val="FFFFFF"/>
      </a:lt1>
      <a:dk2>
        <a:srgbClr val="14123A"/>
      </a:dk2>
      <a:lt2>
        <a:srgbClr val="F1F4F9"/>
      </a:lt2>
      <a:accent1>
        <a:srgbClr val="00B8A9"/>
      </a:accent1>
      <a:accent2>
        <a:srgbClr val="FF5D73"/>
      </a:accent2>
      <a:accent3>
        <a:srgbClr val="7A5CFA"/>
      </a:accent3>
      <a:accent4>
        <a:srgbClr val="F9A826"/>
      </a:accent4>
      <a:accent5>
        <a:srgbClr val="E08E00"/>
      </a:accent5>
      <a:accent6>
        <a:srgbClr val="E84393"/>
      </a:accent6>
      <a:hlink>
        <a:srgbClr val="2D7FF9"/>
      </a:hlink>
      <a:folHlink>
        <a:srgbClr val="7A5CFA"/>
      </a:folHlink>
    </a:clrScheme>
    <a:fontScheme name="Data Warehouse e Big Dat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9028</Words>
  <Application>Microsoft Office PowerPoint</Application>
  <PresentationFormat>Widescreen</PresentationFormat>
  <Paragraphs>1210</Paragraphs>
  <Slides>58</Slides>
  <Notes>58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62" baseType="lpstr">
      <vt:lpstr>Arial</vt:lpstr>
      <vt:lpstr>Calibri</vt:lpstr>
      <vt:lpstr>Courier New</vt:lpstr>
      <vt:lpstr>Data Warehouse e Big Data</vt:lpstr>
      <vt:lpstr>Apresentação do PowerPoint</vt:lpstr>
      <vt:lpstr>Glossário de siglas (1/2)</vt:lpstr>
      <vt:lpstr>Glossário de siglas (2/2)</vt:lpstr>
      <vt:lpstr>Apresentação do PowerPoint</vt:lpstr>
      <vt:lpstr>Big data, desempenho e Inteligência de Negócio</vt:lpstr>
      <vt:lpstr>Quatro níveis de análise de dados</vt:lpstr>
      <vt:lpstr>A inteligência do negócio reside nos dados integrados</vt:lpstr>
      <vt:lpstr>Por que integrar dados é tão difícil</vt:lpstr>
      <vt:lpstr>Três repositórios: data warehouse, data mart e data lake</vt:lpstr>
      <vt:lpstr>Pensamento operacional × pensamento analítico</vt:lpstr>
      <vt:lpstr>OLTP × OLAP: dois mundos, duas prioridades</vt:lpstr>
      <vt:lpstr>Desafios da perspectiva analítica para o BI moderno</vt:lpstr>
      <vt:lpstr>Arquitetura clássica de um ambiente de BI</vt:lpstr>
      <vt:lpstr>O que é um data warehouse? Inmon e Kimball</vt:lpstr>
      <vt:lpstr>ETL: extração, transformação e carga</vt:lpstr>
      <vt:lpstr>Ferramentas OLAP: ROLAP e MOLAP</vt:lpstr>
      <vt:lpstr>Operadores analíticos OLAP</vt:lpstr>
      <vt:lpstr>Arquiteturas evoluindo: o ecossistema de BI moderno</vt:lpstr>
      <vt:lpstr>O projeto de um data warehouse: cinco etapas</vt:lpstr>
      <vt:lpstr>Levantando requisitos: medidas, perspectivas e grão</vt:lpstr>
      <vt:lpstr>Desenvolvimento: top-down × bottom-up</vt:lpstr>
      <vt:lpstr>Paradigma multidimensional: da tabela ao vetor</vt:lpstr>
      <vt:lpstr>Do vetor ao cubo e ao hipercubo</vt:lpstr>
      <vt:lpstr>Fatos e dimensões: blocos da modelagem</vt:lpstr>
      <vt:lpstr>Hierarquias e a dimensão tempo</vt:lpstr>
      <vt:lpstr>ROLAP na prática: a tabela fato</vt:lpstr>
      <vt:lpstr>ROLAP na prática: a tabela dimensão</vt:lpstr>
      <vt:lpstr>Esquema estrela (star schema)</vt:lpstr>
      <vt:lpstr>Variações: floco de neve e constelação de fatos</vt:lpstr>
      <vt:lpstr>Síntese do Módulo 1</vt:lpstr>
      <vt:lpstr>Apresentação do PowerPoint</vt:lpstr>
      <vt:lpstr>Relacional × NoSQL</vt:lpstr>
      <vt:lpstr>Categorias de sistemas NoSQL</vt:lpstr>
      <vt:lpstr>Modelo chave-valor: o mais simples</vt:lpstr>
      <vt:lpstr>Semiestruturados e orientados a documentos</vt:lpstr>
      <vt:lpstr>MongoDB: CRUD por métodos de coleção</vt:lpstr>
      <vt:lpstr>Grafos: de Euler às bases de dados</vt:lpstr>
      <vt:lpstr>Modelos de grafos: LPG × RDF e suas linguagens</vt:lpstr>
      <vt:lpstr>Tabelas podem modelar grafos? Sim, mas…</vt:lpstr>
      <vt:lpstr>Neo4j: o grafo de filmes</vt:lpstr>
      <vt:lpstr>Cypher: consultando o grafo</vt:lpstr>
      <vt:lpstr>Cypher: criar, atualizar e remover</vt:lpstr>
      <vt:lpstr>Síntese do Módulo 2</vt:lpstr>
      <vt:lpstr>Apresentação do PowerPoint</vt:lpstr>
      <vt:lpstr>O surgimento dos data lakes na era big data</vt:lpstr>
      <vt:lpstr>Data lake × data warehouse</vt:lpstr>
      <vt:lpstr>Data lake como infraestrutura de dados</vt:lpstr>
      <vt:lpstr>Origens: do Nutch ao Google File System e MapReduce</vt:lpstr>
      <vt:lpstr>MapReduce: contando palavras em paralelo</vt:lpstr>
      <vt:lpstr>Google File System: master e chunkservers</vt:lpstr>
      <vt:lpstr>HDFS: o sistema de arquivos distribuído do Hadoop</vt:lpstr>
      <vt:lpstr>Hadoop 2.0, YARN e Spark</vt:lpstr>
      <vt:lpstr>O ecossistema Hadoop–Spark</vt:lpstr>
      <vt:lpstr>Estratégias de ingestão de dados no data lake</vt:lpstr>
      <vt:lpstr>Síntese do Módulo 3</vt:lpstr>
      <vt:lpstr>Visão integrada: do dado bruto à decisão</vt:lpstr>
      <vt:lpstr>Referências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Warehouse, NoSQL e Data Lakes</dc:title>
  <dc:subject>PptxGenJS Presentation</dc:subject>
  <dc:creator>Prof. Dr. André Serrano</dc:creator>
  <cp:lastModifiedBy>andre serrano</cp:lastModifiedBy>
  <cp:revision>2</cp:revision>
  <dcterms:created xsi:type="dcterms:W3CDTF">2026-10-16T17:58:01Z</dcterms:created>
  <dcterms:modified xsi:type="dcterms:W3CDTF">2026-10-16T19:03:09Z</dcterms:modified>
</cp:coreProperties>
</file>