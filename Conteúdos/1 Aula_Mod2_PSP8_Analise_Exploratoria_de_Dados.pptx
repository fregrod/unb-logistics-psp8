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72A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23272A"/>
                </a:solidFill>
                <a:latin typeface="Calibri"/>
              </a:rPr>
              <a:t>Composição por linguagem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Linguagem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327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7A-4897-90FC-52B8AE1465C3}"/>
              </c:ext>
            </c:extLst>
          </c:dPt>
          <c:dPt>
            <c:idx val="1"/>
            <c:bubble3D val="0"/>
            <c:spPr>
              <a:solidFill>
                <a:srgbClr val="8A7B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7A-4897-90FC-52B8AE1465C3}"/>
              </c:ext>
            </c:extLst>
          </c:dPt>
          <c:dPt>
            <c:idx val="2"/>
            <c:bubble3D val="0"/>
            <c:spPr>
              <a:solidFill>
                <a:srgbClr val="6F78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7A-4897-90FC-52B8AE1465C3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57A-4897-90FC-52B8AE1465C3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7A-4897-90FC-52B8AE1465C3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57A-4897-90FC-52B8AE1465C3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Java</c:v>
                </c:pt>
                <c:pt idx="1">
                  <c:v>Python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7A-4897-90FC-52B8AE1465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C55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72A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23272A"/>
                </a:solidFill>
                <a:latin typeface="Calibri"/>
              </a:rPr>
              <a:t>Comparação entre categorias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2327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C555C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Java</c:v>
                </c:pt>
                <c:pt idx="1">
                  <c:v>Python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B2-4751-9478-F6171FD394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5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C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78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272A"/>
                </a:solidFill>
                <a:latin typeface="Calibri"/>
              </a:defRPr>
            </a:pPr>
            <a:r>
              <a:rPr lang="pt-BR" sz="1100" b="0" i="0" u="none" strike="noStrike">
                <a:solidFill>
                  <a:srgbClr val="23272A"/>
                </a:solidFill>
                <a:latin typeface="Calibri"/>
              </a:rPr>
              <a:t>Histograma — distribuição por classes (esquemático)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Frequência</c:v>
                </c:pt>
              </c:strCache>
            </c:strRef>
          </c:tx>
          <c:spPr>
            <a:solidFill>
              <a:srgbClr val="6F788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0–20</c:v>
                </c:pt>
                <c:pt idx="1">
                  <c:v>20–40</c:v>
                </c:pt>
                <c:pt idx="2">
                  <c:v>40–60</c:v>
                </c:pt>
                <c:pt idx="3">
                  <c:v>60–80</c:v>
                </c:pt>
                <c:pt idx="4">
                  <c:v>80–100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27-4D1D-BB19-ED4DE37948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C55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C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78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272A"/>
                </a:solidFill>
                <a:latin typeface="Calibri"/>
              </a:defRPr>
            </a:pPr>
            <a:r>
              <a:rPr lang="pt-BR" sz="1100" b="0" i="0" u="none" strike="noStrike">
                <a:solidFill>
                  <a:srgbClr val="23272A"/>
                </a:solidFill>
                <a:latin typeface="Calibri"/>
              </a:rPr>
              <a:t>Gráfico de linhas — evolução no tempo (esquemático)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Medição</c:v>
                </c:pt>
              </c:strCache>
            </c:strRef>
          </c:tx>
          <c:spPr>
            <a:ln w="25400" cap="flat">
              <a:solidFill>
                <a:srgbClr val="23272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3272A"/>
              </a:solidFill>
              <a:ln w="9525" cap="flat">
                <a:solidFill>
                  <a:srgbClr val="23272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  <c:pt idx="9">
                  <c:v>t10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</c:v>
                </c:pt>
                <c:pt idx="1">
                  <c:v>5.0999999999999996</c:v>
                </c:pt>
                <c:pt idx="2">
                  <c:v>4.5999999999999996</c:v>
                </c:pt>
                <c:pt idx="3">
                  <c:v>6.3</c:v>
                </c:pt>
                <c:pt idx="4">
                  <c:v>5.8</c:v>
                </c:pt>
                <c:pt idx="5">
                  <c:v>7.1</c:v>
                </c:pt>
                <c:pt idx="6">
                  <c:v>6.4</c:v>
                </c:pt>
                <c:pt idx="7">
                  <c:v>7.6</c:v>
                </c:pt>
                <c:pt idx="8">
                  <c:v>6.9</c:v>
                </c:pt>
                <c:pt idx="9">
                  <c:v>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57-4B49-B3DE-BF3E99F44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C55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C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78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3272A"/>
                </a:solidFill>
                <a:latin typeface="Calibri"/>
              </a:defRPr>
            </a:pPr>
            <a:r>
              <a:rPr lang="pt-BR" sz="1100" b="0" i="0" u="none" strike="noStrike">
                <a:solidFill>
                  <a:srgbClr val="23272A"/>
                </a:solidFill>
                <a:latin typeface="Calibri"/>
              </a:rPr>
              <a:t>Dispersão entre dois atributos numéricos (esquemático)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Observações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8A7B66"/>
              </a:solidFill>
              <a:ln w="9525" cap="flat">
                <a:solidFill>
                  <a:srgbClr val="8A7B66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4.9000000000000004</c:v>
                </c:pt>
                <c:pt idx="1">
                  <c:v>5.0999999999999996</c:v>
                </c:pt>
                <c:pt idx="2">
                  <c:v>5.4</c:v>
                </c:pt>
                <c:pt idx="3">
                  <c:v>5.8</c:v>
                </c:pt>
                <c:pt idx="4">
                  <c:v>6</c:v>
                </c:pt>
                <c:pt idx="5">
                  <c:v>6.3</c:v>
                </c:pt>
                <c:pt idx="6">
                  <c:v>6.7</c:v>
                </c:pt>
                <c:pt idx="7">
                  <c:v>7.1</c:v>
                </c:pt>
                <c:pt idx="8">
                  <c:v>5</c:v>
                </c:pt>
                <c:pt idx="9">
                  <c:v>6.5</c:v>
                </c:pt>
                <c:pt idx="10">
                  <c:v>5.6</c:v>
                </c:pt>
                <c:pt idx="11">
                  <c:v>6.9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3.2</c:v>
                </c:pt>
                <c:pt idx="1">
                  <c:v>3.5</c:v>
                </c:pt>
                <c:pt idx="2">
                  <c:v>3.9</c:v>
                </c:pt>
                <c:pt idx="3">
                  <c:v>2.7</c:v>
                </c:pt>
                <c:pt idx="4">
                  <c:v>3</c:v>
                </c:pt>
                <c:pt idx="5">
                  <c:v>3.3</c:v>
                </c:pt>
                <c:pt idx="6">
                  <c:v>3.1</c:v>
                </c:pt>
                <c:pt idx="7">
                  <c:v>3</c:v>
                </c:pt>
                <c:pt idx="8">
                  <c:v>3.6</c:v>
                </c:pt>
                <c:pt idx="9">
                  <c:v>2.8</c:v>
                </c:pt>
                <c:pt idx="10">
                  <c:v>2.9</c:v>
                </c:pt>
                <c:pt idx="11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76C-45F3-B390-FADE7A8DD4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CDE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C55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CDE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F78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504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2. A aula dá continuidade direta ao Módulo 1: se lá o foco foi o mapa do campo e o ciclo de sete etapas, aqui o foco é a etapa 2 desse ciclo — coleta e análise de dados —, com o instrumental de estatística descritiva, os gráficos apropriados a cada tipo de variável e a prática em Python. Convém retomar em uma frase o fecho do módulo anterior: dados só viram valor quando um método disciplinado atua sobre eles; a análise exploratória é o primeiro momento em que esse método aparece de forma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objetivos são os declarados no material de referência. A pergunta condutora costura as unidades e responde a uma dúvida frequente da turma: por que não partir direto para o modelo. A resposta prática é que sem conhecer distribuição, escala, valores faltantes, discrepantes e redundância entre atributos, qualquer resultado de modelagem é interpretado no escuro.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aula. O card final antecipa a tese do material de referência: trata-se de uma etapa crítica, porque é preciso primeiro compreender bem os dados para depois explorar as possíveis soluções. Vale explicitar que as unidades 2 e 3 fornecem o vocabulário e as unidades 4 e 5 o instrumento — e que a prova real de aprendizado é conseguir descrever um conjunto de dados desconhecido em quinze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A ligação com o módulo anterior é direta: o esquema básico de um projeto de ciência de dados já foi apresentado; agora o foco recai sobre a etapa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reproduz o esquema das sete etapas do material de referência, com destaque na etapa 2. Vale insistir no caráter iterativo já discutido no Módulo 1: a exploração não é um ritual de abertura, é o instrumento a que se volta sempre que um resultado surpreende.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itens são exatamente os apontados no material de referência como aquilo que a visualização e a descrição ajudam a detectar. Um exemplo útil em sala: uma coluna de idade com valores 999 é simultaneamente um outlier, um valor inválido e um código de ausência disfarçado — e nenhuma média calculada sobre ela significa alguma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A estatística descritiva é o instrumental numérico da análise exploratória; a probabilidade e a inferência aparecem depois, quando se generaliza da amostra para a população.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divisão em três áreas e as duas famílias de medidas são as do material de referência. Vale marcar a fronteira que costuma confundir: descrever uma amostra é estatística descritiva e não exige hipótese alguma; afirmar algo sobre a população a partir dela já é inferência, e aí entram suposições que precisam ser declaradas.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do exame de sangue é o do material de referência e funciona bem porque torna evidente a impossibilidade prática. Vale acrescentar o ponto que ele não cobre: a qualidade da conclusão depende de como a amostra foi obtida, não apenas do seu tamanho — uma amostra grande e enviesada é pior do que uma pequena e aleatória, porque dá falsa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medidas são as citadas no material de referência. O contraste média/mediana é o ponto a fixar, e o exemplo canônico é salarial: em qualquer organização a média salarial é maior que a mediana, e relatar apenas a média sugere um salário típico que quase ninguém recebe.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Desvio padrão, variância e coeficiente de variação são as três medidas citadas no material de referência; a amplitude foi acrescentada porque reaparece na unidade 3 como a informação de variabilidade que o boxplot exibe. Sobre o coeficiente de variação, vale a ressalva de que ele perde sentido quando a média se aproxima de zero ou quando a variável admite valores negativos.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Definições do material de referência. O ponto didático da lâmina é a progressão: ordenar já revela extremos e repetições; tabular permite cruzar; contar frequências produz a primeira descrição quantitativa do conjunto. As acumuladas são o que permite responder perguntas do tipo 'que proporção dos registros está abaixo deste valor'.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são os do interativo do material de referência. Sugestão de condução: preencher a coluna Fac em sala, com a turma, antes de exibir a lâmina completa — é o ponto em que se percebe que a acumulada da última classe tem de coincidir com o total, o que serve de verificação de consistência.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classificação e todos os exemplos são os do material de referência. Vale uma advertência de campo: variáveis codificadas numericamente enganam. Um CEP, uma matrícula ou um código de setor são nominais, ainda que armazenados como inteiros — calcular a média de um código de setor é o erro mais comum entre iniciantes.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O critério que organiza toda a unidade é o tipo de variável definido em 2.7.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elaborado para esta aula a partir das correspondências descritas no material de referência. É a lâmina para imprimir e deixar ao lado do teclado. Vale acrescentar oralmente a limitação do gráfico de pizza: acima de cinco ou seis fatias, a comparação visual entre setores fica pior do que em um gráfico de barras.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valores são os do exemplo do material de referência. O contraste a explorar: a pizza comunica participação no todo e a barra comunica ordem de grandeza. Se a pergunta do interlocutor começa com 'que fração', pizza; se começa com 'qual é maior' ou 'quanto maior', barras.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definições são as do material de referência. Sobre o histograma, o parâmetro decisivo é o número de bins: poucos escondem a forma da distribuição, muitos transformam o gráfico em ruído. Convém demonstrar isso ao vivo na unidade 5, alterando o parâmetro bins e observando a mudança de leitura sobre os mesmos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definição de dispersão e os recursos de cor e marcador são os do material de referência, que os demonstra sobre o dataset iris na unidade seguinte. O argumento do card final é o clássico quarteto de Anscombe: quatro conjuntos com médias, variâncias e correlações praticamente idênticas e dispersões completamente distintas. Se houver tempo, vale exibi-lo.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anatomia e a definição de boxplots comparativos são as do material de referência, que ilustra o segundo uso com o percentual diário de voos atrasados por companhia aérea (Bruce e Bruce, 2019). Vale explicitar em sala a convenção mais usada para o limite dos whiskers — 1,5 vezes a amplitude interquartil a partir dos quartis — e advertir que ela é convenção, não teste estatístico: um ponto fora dos whiskers é candidato a investigação, não erro comprovado.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é simétrica e tem diagonal unitária — duas verificações imediatas de consistência. Ponto a fixar: correlação alta entre dois preditores indica redundância, e é exatamente o que a lâmina 1.2 chamou de atributos redundantes. Convém repetir a advertência de sempre: correlação mede associação linear e não estabelece causalidade; duas séries podem correlacionar-se fortemente por dependerem de um terceiro fator não observado.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As quatro bibliotecas são as apresentadas no material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bibliotecas são as do material de referência. Vale mencionar que nenhuma delas precisa ser dominada por inteiro: o Pandas em particular é muito amplo, e o próprio material declara não ter pretensão de ser tutorial exaustivo. O caminho recomendado é aprender o subconjunto da unidade 5 e consultar a documentação oficial conforme a necessidade.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 final. A recomendação é executar o código junto com a turma, em notebook, em vez de apenas exibir as lâminas.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caracterização do dataset e o código de carga são os do material de referência. Vale registrar a origem histórica: as medições foram publicadas por Edgar Anderson e o conjunto foi popularizado por Ronald Fisher em 1936, em trabalho de análise discriminante. Convém avisar que o endereço público do repositório muda com o tempo; se a carga falhar em sala, o mesmo conjunto está disponível via seaborn.load_dataset e em scikit-learn.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comandos são os do interativo do material de referência. O detalhe do count() merece ênfase: é o modo mais rápido de detectar valores faltantes em um conjunto desconhecido, e o resultado alimenta diretamente a etapa 3 do ciclo — o pré-processamento.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comando é o do material de referência; a leitura linha a linha foi organizada para esta aula. É a lâmina que amarra as unidades 2 e 5: cada linha do describe corresponde a uma medida discutida em sala. A comparação entre média e mediana como indício de assimetria é o hábito mais útil a instalar na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comandos são os do interativo do material de referência. O groupby merece destaque: no iris, comparar as médias por espécie mostra imediatamente que as medidas de pétala separam as classes melhor do que as de sépala — conclusão obtida sem qualquer modelo, apenas com estatística descritiva agrupada. É o melhor argumento em favor da análise exploratória que a aula oferece.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exemplos são os do material de referência, que os apresenta sobre o iris e sobre um pequeno conjunto fictício de profissões de respondentes. O ponto a transmitir: a Matplotlib é extensa e seus gráficos são altamente configuráveis — a recomendação do próprio material é consultar a documentação oficial conforme a necessidade, em vez de memorizar parâmetros.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comandos são os do material de referência. O pair plot é o melhor fecho prático da aula: uma única linha reúne a dispersão da lâmina 3.4, o histograma da 3.3 e a separação por classe discutida em 5.4. Convém executá-lo ao vivo e pedir que a turma indique, olhando a figura, quais atributos separam melhor as espécies — a resposta antecipa a seleção de variáveis da etapa de modelagem.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elaborado para esta aula a partir da sequência praticada no material de referência. É o entregável mais útil da aula e a base natural para a atividade prática: aplicar os seis passos ao dataset diabetes, apresentado no vídeo da técnica aplicada, e produzir meia página de conclusões sobre qualidade e estrutura dos dados — sem construir modelo algum.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da aula. Vale retomar a pergunta condutora e a resposta construída: antes de modelar é preciso saber volume, escala, forma da distribuição, presença de discrepantes e faltantes e grau de redundância entre atributos — e todas essas perguntas foram respondidas com estatística descritiva e gráficos, sem qualquer algoritmo de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Lâmina de créditos. Convém deixar explícito à turma que o conteúdo de referência é da trilha original e que esta apresentação é uma reorganização didática, com acréscimos identificados. As referências de Tukey e Fisher foram acrescentadas nesta aula para dar contexto histórico ao boxplot e ao dataset iris; as figuras atribuídas a Bruce e Bruce são as indicadas como fonte no próprio material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PSP8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6928" y="1810512"/>
            <a:ext cx="2011680" cy="27432"/>
          </a:xfrm>
          <a:prstGeom prst="rect">
            <a:avLst/>
          </a:prstGeom>
          <a:solidFill>
            <a:srgbClr val="8A7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1901952"/>
            <a:ext cx="10607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dados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25526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descritiva, tabelas de frequência, tipos de variáveis, gráficos para visualização e prática em Python com Pandas, Matplotlib e Seaborn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380390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— Trilha de Ciência de Dados (PSP8)  ·  Material didático de apoio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420624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2F3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41248" y="43708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da aula e revisão técnica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464515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 André Serrano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50474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Produção — Faculdade de Tecnologia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Brasília (UnB)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4206240"/>
            <a:ext cx="4032504" cy="914400"/>
          </a:xfrm>
          <a:prstGeom prst="roundRect">
            <a:avLst>
              <a:gd name="adj" fmla="val 8000"/>
            </a:avLst>
          </a:prstGeom>
          <a:solidFill>
            <a:srgbClr val="2F3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90688" y="4315968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referência: aula “Análise exploratória de dados”, da mesma trilha de Ciência de Dados que originou o Módulo 1. Créditos completos na lâmina final.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5257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AULA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espera-se que o estudante seja capaz de: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7406640" cy="841248"/>
          </a:xfrm>
          <a:prstGeom prst="roundRect">
            <a:avLst>
              <a:gd name="adj" fmla="val 652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21762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5024" y="2103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Situar a análise exploratória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35024" y="23774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etapa de análise exploratória de dados no contexto de projetos de ciência de dados e entender sua importância.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89504"/>
            <a:ext cx="7406640" cy="841248"/>
          </a:xfrm>
          <a:prstGeom prst="roundRect">
            <a:avLst>
              <a:gd name="adj" fmla="val 6522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31520" y="30906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5024" y="3017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a estatística descritiva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35024" y="32918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os conceitos básicos de estatística descritiva utilizados em ciência de dados: medidas de posição, de dispersão e tabelas de frequência.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803904"/>
            <a:ext cx="7406640" cy="841248"/>
          </a:xfrm>
          <a:prstGeom prst="roundRect">
            <a:avLst>
              <a:gd name="adj" fmla="val 652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1520" y="40050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35024" y="3931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e construir gráficos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35024" y="42062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gráfico adequado a cada tipo de variável e construir os utilizados na etapa de análise exploratória.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718304"/>
            <a:ext cx="7406640" cy="841248"/>
          </a:xfrm>
          <a:prstGeom prst="roundRect">
            <a:avLst>
              <a:gd name="adj" fmla="val 6522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31520" y="49194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31520" y="491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5024" y="4846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em Python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35024" y="51206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as principais bibliotecas Python de análise exploratória e realizar, na prática, uma análise exploratória completa.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1975104"/>
            <a:ext cx="3483864" cy="1755648"/>
          </a:xfrm>
          <a:prstGeom prst="roundRect">
            <a:avLst>
              <a:gd name="adj" fmla="val 312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339328" y="212140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39328" y="2468880"/>
            <a:ext cx="3081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descritiva · população e amostra · medidas de posição e de dispersão · rol estatístico · tabelas de frequência · variáveis qualitativas e quantitativas · histograma · boxplot · outliers · correlação · Pandas · Matplotlib · Seaborn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803904"/>
            <a:ext cx="3483864" cy="1755648"/>
          </a:xfrm>
          <a:prstGeom prst="roundRect">
            <a:avLst>
              <a:gd name="adj" fmla="val 3125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339328" y="395020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condutora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9328" y="4297680"/>
            <a:ext cx="3081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 qualquer algoritmo, o que é preciso saber sobre os próprios dados — e que perguntas a estatística descritiva e os gráficos conseguem responder a respeito deles?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CINCO UNIDADES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da aula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vai do lugar da análise exploratória no ciclo de projeto até a prática em Python: primeiro por que a etapa existe, depois com que instrumental numérico se descreve um conjunto de dados, que gráficos correspondem a cada tipo de variável, quais bibliotecas usar e, por fim, uma análise completa executada de ponta a ponta.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5054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28346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AED no ciclo do projeto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316382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de coleta e análise de dados dentro das sete etapas; o que a exploração entrega às etapas seguintes.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2377440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26280" y="25054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descritiva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316382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da estatística, população e amostra, medidas de posição e de dispersão, rol e tabelas de frequência.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2377440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84464" y="25054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8346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para visualização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84464" y="316382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adequado a cada tipo de variável; boxplot, histograma, dispersão e correlação.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42428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" y="45720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Python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90118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 e Seaborn: o que cada uma resolve e como se complementam.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25112" y="4114800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26280" y="42428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5720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na prática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490118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 iris explorado com Pandas e visualizado com Matplotlib e Seaborn.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83296" y="4114800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284464" y="4261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84464" y="4608576"/>
            <a:ext cx="31363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bem os dados antes de explorar soluções. A análise exploratória é a etapa que decide se o problema formulado é respondível com o material disponível.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AED no ciclo do projeto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análise exploratória se encaixa nas sete etapas apresentadas no Módulo 1, o que ela entrega às etapas seguintes e por que é considerada uma etapa crítica.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análise exploratória entra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Retomando o esquema básico apresentado no Módulo 1, o foco desta aula é a etapa de coleta e análise de dados — que inclui a análise exploratória.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490472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432304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problema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62556" y="2011680"/>
            <a:ext cx="1490472" cy="1371600"/>
          </a:xfrm>
          <a:prstGeom prst="roundRect">
            <a:avLst>
              <a:gd name="adj" fmla="val 4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308860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08860" y="2432304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análise de dados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58184" y="2011680"/>
            <a:ext cx="1490472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904488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04488" y="2432304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53812" y="2011680"/>
            <a:ext cx="1490472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500116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00116" y="2432304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inferência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2011680"/>
            <a:ext cx="1490472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095744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95744" y="2432304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Pós-processamento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45068" y="2011680"/>
            <a:ext cx="1490472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691372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91372" y="2432304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dos resultados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140696" y="2011680"/>
            <a:ext cx="1490472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287000" y="21214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87000" y="2432304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geração de valor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35844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etapa 2 entrega ao restante do projeto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3931920"/>
            <a:ext cx="3538728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68096" y="407822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dos dados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" y="4425696"/>
            <a:ext cx="3136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cobertura, escalas, formatos e significado de cada atributo — a base para julgar se o problema formulado é respondível.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25112" y="3931920"/>
            <a:ext cx="3538728" cy="1371600"/>
          </a:xfrm>
          <a:prstGeom prst="roundRect">
            <a:avLst>
              <a:gd name="adj" fmla="val 40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526280" y="407822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qualidade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4425696"/>
            <a:ext cx="3136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valores discrepantes, faltantes ou inválidos e de atributos redundantes, que orientam o pré-processamento.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83296" y="3931920"/>
            <a:ext cx="3538728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284464" y="407822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de modelagem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84464" y="4425696"/>
            <a:ext cx="3136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candidatas entre preditores e variável-alvo, necessidade de transformações e primeiras suspeitas sobre o que funcionará.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5440680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68096" y="5586984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iterativo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68096" y="5897880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exploratória não se encerra na etapa 2: sempre que a avaliação do modelo decepciona, o retorno costuma ser a ela.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etapa é crítica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Trata-se de uma etapa crítica porque é preciso, primeiro, compreender bem os dados para depois explorar as possíveis soluções. Compreendidos os dados, é possível limpar, transformar e apresentar melhor o conjunto — e obter os melhores resultados possíveis nos algoritmos de Machine Learning.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286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valores discrepantes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228600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distorcem médias, desvios e coeficientes de correlação, e podem indicar tanto erro de registro quanto fenômeno legítimo raro.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72384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68096" y="307238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valores faltantes ou inválidos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3072384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Determinam a estratégia de tratamento no pré-processamento: descarte, imputação ou uso de algoritmo tolerante a ausências.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858768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68096" y="38587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necessidade de transformação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385876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muito distintas, assimetria forte e variáveis categóricas exigem transformações antes da modelagem.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45152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68096" y="46451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atributos redundantes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80560" y="464515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Preditores fortemente correlacionados entre si carregam informação repetida e podem prejudicar a estabilidade do modelo.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468112"/>
            <a:ext cx="11055096" cy="777240"/>
          </a:xfrm>
          <a:prstGeom prst="roundRect">
            <a:avLst>
              <a:gd name="adj" fmla="val 7059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561441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instrumentos, um objetivo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5925312"/>
            <a:ext cx="10652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estatística descritiva quantifica o conjunto; os gráficos revelam o que os números resumem demais. As duas unidades seguintes tratam de cada um deles.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Estatística descritiva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grandes áreas da estatística, a distinção entre população e amostra, as medidas de posição e de dispersão, e a organização dos dados em rol e em tabelas de frequência.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grandes áreas da estatística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estatística é um conjunto de técnicas que permite, de forma sistemática, organizar, descrever, analisar e interpretar dados advindos de diversas origens, a fim de extrair conclusões. Pode ser subdividida em três grandes áreas.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descritiva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31363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Organiza, resume e apresenta os dados observados por meio de tabelas, gráficos e medidas-resumo. É a área diretamente empregada na análise exploratória.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542032"/>
            <a:ext cx="31363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 os fenômenos aleatórios e fornece os modelos que descrevem a incerteza — base formal sobre a qual a inferência é construída.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estatística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2542032"/>
            <a:ext cx="31363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para a população conclusões obtidas a partir de uma amostra, quantificando o erro associado a essa generalização.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98678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estatística descritiva trata na análise exploratória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334256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33425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posição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4334256"/>
            <a:ext cx="7397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chamadas de tendência central, permitem saber o grau de concentração dos dados: média, moda, mediana e medidas separatrizes.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12064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51206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dispersão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5120640"/>
            <a:ext cx="7397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saber o grau de dispersão dos dados em torno de uma medida de posição, geralmente a média: desvio padrão, variância e coeficiente de variação.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e amostra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estatística, a população é a coleção de todos os indivíduos que apresentam determinadas características que se deseja estudar. A amostra é um subconjunto da população — uma parte desses indivíduos.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indivíduos com a característica de interesse. É o alvo da conclusão, mas raramente é observável por inteiro.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048256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542032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 efetivamente observado. É sobre ela que se calculam as medidas descritivas desta unidade.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quase sempre se trabalha com amostras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13632"/>
            <a:ext cx="3538728" cy="1207008"/>
          </a:xfrm>
          <a:prstGeom prst="roundRect">
            <a:avLst>
              <a:gd name="adj" fmla="val 4545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40599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financeiras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" y="4407408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a população inteira costuma custar mais do que o valor da informação obtida.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5112" y="3913632"/>
            <a:ext cx="3538728" cy="1207008"/>
          </a:xfrm>
          <a:prstGeom prst="roundRect">
            <a:avLst>
              <a:gd name="adj" fmla="val 454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26280" y="40599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Inacessibilidade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4407408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dos elementos da população simplesmente não está ao alcance do levantamento.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3296" y="3913632"/>
            <a:ext cx="3538728" cy="1207008"/>
          </a:xfrm>
          <a:prstGeom prst="roundRect">
            <a:avLst>
              <a:gd name="adj" fmla="val 4545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284464" y="40599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Subjetividade do caso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84464" y="4407408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natureza do caso concreto envolvido pode inviabilizar o levantamento completo.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26694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413248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do material de referência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5724144"/>
            <a:ext cx="10652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avaliar se um paciente está com anemia por meio de exame de sangue, o médico coleta uma amostra do sangue — não a população do sangue. Não é viável observar o todo; por isso se coleta uma parte e se conclui sobre o conjunto.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de posição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medidas de tendência central resumem em um único valor a região em torno da qual os dados se concentram. Cada uma responde a uma pergunta ligeiramente diferente e reage de modo distinto a valores extremos.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uso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5420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26080" y="2542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valores dividida pelo número de observações.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54203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 outliers: um único valor extremo desloca a média de todo o conjunto.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46704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33467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334670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ocupa a posição central do rol ordenado.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334670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 a outliers: metade dos dados fica abaixo e metade acima, qualquer que seja o extremo.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151376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415137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26080" y="415137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maior frequência no conjunto.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41513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medida aplicável a variáveis qualitativas; um conjunto pode ter mais de uma moda.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956048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9560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Separatrizes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26080" y="49560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Quartis, decis e percentis, que dividem o rol em partes iguais.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49560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boxplot: Q1, Q2 (mediana) e Q3 delimitam os 50% centrais dos dados.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57784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5724144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prático de escolha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" y="6016752"/>
            <a:ext cx="10652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aproximadamente simétricas: a média descreve bem. Distribuições assimétricas ou com extremos — renda, tempo de atendimento, valor de sinistro —: relatar a mediana e os quartis.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de dispersão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distribuições podem ter a mesma média e comportamentos completamente distintos. As medidas de dispersão informam o grau de espalhamento dos dados em torno de uma medida de posição — geralmente a média.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538728" cy="1554480"/>
          </a:xfrm>
          <a:prstGeom prst="roundRect">
            <a:avLst>
              <a:gd name="adj" fmla="val 3529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31363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entre o maior e o menor valor observado (máx − mín). Simples de calcular e inteiramente determinada pelos dois extremos.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48256"/>
            <a:ext cx="3538728" cy="1554480"/>
          </a:xfrm>
          <a:prstGeom prst="roundRect">
            <a:avLst>
              <a:gd name="adj" fmla="val 3529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542032"/>
            <a:ext cx="31363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dos quadrados dos desvios em relação à média. Por elevar ao quadrado, resulta em unidade diferente da variável original.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048256"/>
            <a:ext cx="3538728" cy="1554480"/>
          </a:xfrm>
          <a:prstGeom prst="roundRect">
            <a:avLst>
              <a:gd name="adj" fmla="val 3529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padrão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2542032"/>
            <a:ext cx="31363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quadrada da variância. Retorna à unidade original da variável, o que o torna a medida de dispersão mais interpretável.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785616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comparação exige uma medida relativa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133088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27939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626864"/>
            <a:ext cx="49926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entre o desvio padrão e a média, expressa em porcentagem. Permite comparar a dispersão de variáveis com unidades ou ordens de grandeza distintas.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27064" y="4133088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28232" y="427939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típica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28232" y="4626864"/>
            <a:ext cx="49926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 variabilidade do preço de um insumo em reais com a do tempo de processo em minutos: o desvio padrão não responde; o coeficiente de variação, sim.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422392"/>
            <a:ext cx="11055096" cy="822960"/>
          </a:xfrm>
          <a:prstGeom prst="roundRect">
            <a:avLst>
              <a:gd name="adj" fmla="val 6667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56869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Advertência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587959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medidas desta lâmina são sensíveis a valores extremos — a variância e o desvio padrão especialmente, porque elevam os desvios ao quadrado. Daí a recomendação de examinar o boxplot antes de reportar qualquer uma delas.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dados brutos ao rol e às tabelas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cálculo, os dados passam por formas sucessivas de organização. Cada passagem torna visível algo que a forma anterior escondia.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2633472" cy="1463040"/>
          </a:xfrm>
          <a:prstGeom prst="roundRect">
            <a:avLst>
              <a:gd name="adj" fmla="val 375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9808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852928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sua forma mais primitiva, desprovidos de ordenação, assim que coletados.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74136" y="2103120"/>
            <a:ext cx="2633472" cy="1463040"/>
          </a:xfrm>
          <a:prstGeom prst="roundRect">
            <a:avLst>
              <a:gd name="adj" fmla="val 375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557016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7016" y="25420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estatístico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57016" y="2852928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brutos já ordenados, em ordem crescente ou decrescente.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2103120"/>
            <a:ext cx="2633472" cy="1463040"/>
          </a:xfrm>
          <a:prstGeom prst="roundRect">
            <a:avLst>
              <a:gd name="adj" fmla="val 375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64224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4224" y="25420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tabulados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64224" y="2852928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em tabelas, que permite ler o conjunto por linhas e colunas.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88552" y="2103120"/>
            <a:ext cx="2633472" cy="1463040"/>
          </a:xfrm>
          <a:prstGeom prst="roundRect">
            <a:avLst>
              <a:gd name="adj" fmla="val 375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171432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71432" y="25420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frequência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71432" y="2852928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dos dados tabulados por contagem de ocorrências de cada valor ou classe.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76732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frequências de uma tabela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5096" cy="475488"/>
          </a:xfrm>
          <a:prstGeom prst="roundRect">
            <a:avLst>
              <a:gd name="adj" fmla="val 11538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40416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absoluta simples (fi)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404164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simples de elementos em cada valor ou classe.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572000"/>
            <a:ext cx="11055096" cy="475488"/>
          </a:xfrm>
          <a:prstGeom prst="roundRect">
            <a:avLst>
              <a:gd name="adj" fmla="val 11538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5720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relativa simples (fr)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45720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contagem simples dividida pela soma das frequências simples: proporção ou percentual de observações.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102352"/>
            <a:ext cx="11055096" cy="475488"/>
          </a:xfrm>
          <a:prstGeom prst="roundRect">
            <a:avLst>
              <a:gd name="adj" fmla="val 11538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68096" y="51023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absoluta acumulada (Fac)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0" y="510235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acumulada até a classe de interesse.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5632704"/>
            <a:ext cx="11055096" cy="475488"/>
          </a:xfrm>
          <a:prstGeom prst="roundRect">
            <a:avLst>
              <a:gd name="adj" fmla="val 11538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68096" y="56327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relativa acumulada (Frac)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5632704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acumulada até a classe de interesse, dividida pela soma das frequências simples.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frequência: o exemplo da aula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de vinte observações da variável idade, organizado nas quatro frequências. Os totais fecham em 20 observações e em 100% — verificação elementar e sempre recomendável.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(anos)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9751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— absoluta simples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9751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— relativa simples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1975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 — absoluta acumulada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2640" y="1975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 — relativa acumulada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505456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68096" y="2505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5054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5054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 = 0,20 · 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505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0" y="25054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 = 0,20 · 20%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10896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3464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 = 0,40 · 40%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 = 0,60 · 60%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712464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68096" y="3712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34640" y="37124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7124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 = 0,20 · 20%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37124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92640" y="37124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 = 0,80 · 80%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4315968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4315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34640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 = 0,15 · 15%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4315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92640" y="43159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 = 0,95 · 95%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4919472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68096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834640" y="49194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49194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 = 0,05 · 5%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0" y="4919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92640" y="4919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 = 1,00 · 100%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" y="559612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68096" y="574243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das acumuladas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68096" y="6035040"/>
            <a:ext cx="4992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das observações têm até 30 anos; 95%, até 70 anos.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27064" y="559612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428232" y="574243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das simples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428232" y="6035040"/>
            <a:ext cx="4992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30 anos é a moda do conjunto, com 8 das 20 observações.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variáveis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estatística, as variáveis são características associadas a uma população. A classificação abaixo determina tanto as medidas cabíveis quanto — na unidade seguinte — o gráfico apropriado.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Qualitativas — representam atributos ou qualidades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27064" y="201168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28232" y="215798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Quantitativas — representam quantidades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670048"/>
            <a:ext cx="2633472" cy="1691640"/>
          </a:xfrm>
          <a:prstGeom prst="roundRect">
            <a:avLst>
              <a:gd name="adj" fmla="val 3243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8163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3163824"/>
            <a:ext cx="2231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ordem implícita entre as categorias.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social, grau de instrução, estágio da doença.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9272" y="2670048"/>
            <a:ext cx="2633472" cy="1691640"/>
          </a:xfrm>
          <a:prstGeom prst="roundRect">
            <a:avLst>
              <a:gd name="adj" fmla="val 3243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520440" y="28163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163824"/>
            <a:ext cx="2231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ordem implícita entre as categorias.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Sexo, cor dos olhos, fumante/não fumante, doente/sadio.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27064" y="2670048"/>
            <a:ext cx="2633472" cy="1691640"/>
          </a:xfrm>
          <a:prstGeom prst="roundRect">
            <a:avLst>
              <a:gd name="adj" fmla="val 3243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28232" y="28163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3163824"/>
            <a:ext cx="2231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Assumem quantidade finita e enumerável de valores.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filhos, número de carros, cigarros fumados por dia.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88552" y="2670048"/>
            <a:ext cx="2633472" cy="1691640"/>
          </a:xfrm>
          <a:prstGeom prst="roundRect">
            <a:avLst>
              <a:gd name="adj" fmla="val 3243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189720" y="28163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3163824"/>
            <a:ext cx="2231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possíveis pertencem a um intervalo de números reais; resultados de mensuração.</a:t>
            </a: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endParaRPr lang="en-US" sz="1150" dirty="0"/>
          </a:p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altura, salário.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55371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imediata da classificação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90118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49011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cabíveis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023360" y="4901184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variáveis nominais só a moda faz sentido; em ordinais, moda e mediana; em quantitativas, todas as medidas de posição e de dispersão.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57784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5577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apropriado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23360" y="5577840"/>
            <a:ext cx="7397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gráficos apropriados para cada tipo de variável — assunto da Unidade 3. Aplicar o gráfico errado não é apenas deselegante: induz leitura equivocada.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Gráficos para visualização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quer observar o comportamento de variáveis de forma rápida e sintetizada, especialmente com número elevado de observações, o gráfico é o instrumento — desde que seja o gráfico apropriado ao tipo de variável.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Quadro-síntese: qual gráfico para qual variável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Lâmina de consulta rápida da unidade. A coluna da esquerda vem da classificação apresentada em 2.7; as demais indicam o gráfico apropriado e o que ele torna visível.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variável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9751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apropriados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97510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gráfico revela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5054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Qualitativas (nominais e ordinais)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50545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Pizza; barras ou colunas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505456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do todo em porcentagem e comparação direta entre categorias.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31638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Quantitativas discretas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1638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Barras; gráfico de dispersão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16382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cada valor enumerável e cruzamento entre pares de variáveis.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8221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Quantitativas contínuas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82219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Histograma; gráfico de linhas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82219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da distribuição por intervalos de classe e evolução ao longo do tempo.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variável numérica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48056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480560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Assimetria, presença de outliers e variabilidade medida pela amplitude.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51389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variáveis numéricas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51389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 gráfico de correlação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513892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associação entre pares de preditores e com a variável-alvo.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852160"/>
            <a:ext cx="11055096" cy="420624"/>
          </a:xfrm>
          <a:prstGeom prst="roundRect">
            <a:avLst>
              <a:gd name="adj" fmla="val 13043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5998464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bolso: escolha o gráfico pelo tipo da variável, não pela aparência do resultado.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qualitativas: pizza e barras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gráficos para o mesmo conjunto de dados — a linguagem de programação declarada por um grupo de respondentes. O primeiro responde a uma pergunta de composição; o segundo, a uma pergunta de comparação.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201168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6227064" y="201168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50292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768096" y="517550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pizza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5522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a composição, geralmente em porcentagem, das partes de um todo: um raio arbitrário representando o todo, dividido em setores proporcionais às partes.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27064" y="50292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6428232" y="517550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ou colunas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28232" y="5522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Retângulos em que uma das dimensões é proporcional à magnitude representada e a outra é arbitrária, porém igual para todas as barras — dispostas horizontal ou verticalmente.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Quantitativas contínuas: histograma e linhas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variáveis contínuas, dois gráficos com finalidades distintas: um descreve a forma da distribuição; o outro, o comportamento ao longo do tempo.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468880"/>
            <a:ext cx="4992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contíguas, com as bases proporcionais aos intervalos de classe e a área do retângulo proporcional à respectiva frequência. Exibe a distribuição de frequências de uma variável.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1975104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2140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linhas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468880"/>
            <a:ext cx="4992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quando se deseja expressar variáveis que representam passagem de tempo — ou seja, mostrar a evolução histórica de uma medida ao longo de uma sequência ordenada.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66928" y="347472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6227064" y="347472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566928" y="58978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esquemáticas, construídas para ilustrar a forma de leitura de cada gráfico.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dispersão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ao de barras na construção, mas plotando somente as intersecções dos pontos de x e y. É o instrumento primário para examinar a relação entre duas variáveis numéricas.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2011680"/>
          <a:ext cx="58521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684264" y="2011680"/>
            <a:ext cx="4937760" cy="1298448"/>
          </a:xfrm>
          <a:prstGeom prst="roundRect">
            <a:avLst>
              <a:gd name="adj" fmla="val 422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885432" y="2157984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85432" y="2505456"/>
            <a:ext cx="4535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visível a forma da relação entre duas variáveis: crescente, decrescente, ausente, curva ou em agrupamentos separados.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84264" y="3438144"/>
            <a:ext cx="4937760" cy="1362456"/>
          </a:xfrm>
          <a:prstGeom prst="roundRect">
            <a:avLst>
              <a:gd name="adj" fmla="val 4027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885432" y="3584448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adicional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85432" y="3931920"/>
            <a:ext cx="45354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Colorir os pontos por uma variável categórica — ou usar marcadores distintos, útil em relatórios impressos em preto e branco — revela se as classes ocupam regiões diferentes do plano.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4983480"/>
            <a:ext cx="11055096" cy="1234440"/>
          </a:xfrm>
          <a:prstGeom prst="roundRect">
            <a:avLst>
              <a:gd name="adj" fmla="val 4444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8096" y="5129784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gráfico antecede a modelagem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8096" y="5477256"/>
            <a:ext cx="10652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coeficiente de correlação resume a relação em um único número e, por isso, esconde curvatura, agrupamentos e o efeito de pontos extremos. A dispersão mostra o que o coeficiente omite — e é por isso que se examina o gráfico antes de confiar no número.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Boxplot: anatomia e leitura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de caixas é a representação gráfica da distribuição dos dados. Informa a assimetria da distribuição, a presença de outliers (valores atípicos) e a variabilidade por meio da amplitude (máx − mín).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4572000" cy="4114800"/>
          </a:xfrm>
          <a:prstGeom prst="roundRect">
            <a:avLst>
              <a:gd name="adj" fmla="val 1333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148840" y="2651760"/>
            <a:ext cx="0" cy="868680"/>
          </a:xfrm>
          <a:prstGeom prst="line">
            <a:avLst/>
          </a:prstGeom>
          <a:noFill/>
          <a:ln w="1905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783080" y="2651760"/>
            <a:ext cx="731520" cy="0"/>
          </a:xfrm>
          <a:prstGeom prst="line">
            <a:avLst/>
          </a:prstGeom>
          <a:noFill/>
          <a:ln w="1905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463040" y="3520440"/>
            <a:ext cx="1371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463040" y="4251960"/>
            <a:ext cx="1371600" cy="0"/>
          </a:xfrm>
          <a:prstGeom prst="line">
            <a:avLst/>
          </a:prstGeom>
          <a:noFill/>
          <a:ln w="3175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148840" y="4983480"/>
            <a:ext cx="0" cy="713232"/>
          </a:xfrm>
          <a:prstGeom prst="line">
            <a:avLst/>
          </a:prstGeom>
          <a:noFill/>
          <a:ln w="1905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783080" y="5696712"/>
            <a:ext cx="731520" cy="0"/>
          </a:xfrm>
          <a:prstGeom prst="line">
            <a:avLst/>
          </a:prstGeom>
          <a:noFill/>
          <a:ln w="1905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093976" y="2267712"/>
            <a:ext cx="109728" cy="109728"/>
          </a:xfrm>
          <a:prstGeom prst="ellipse">
            <a:avLst/>
          </a:prstGeom>
          <a:solidFill>
            <a:srgbClr val="F0F1F2"/>
          </a:solidFill>
          <a:ln w="1524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093976" y="5870448"/>
            <a:ext cx="109728" cy="109728"/>
          </a:xfrm>
          <a:prstGeom prst="ellipse">
            <a:avLst/>
          </a:prstGeom>
          <a:solidFill>
            <a:srgbClr val="F0F1F2"/>
          </a:solidFill>
          <a:ln w="1524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17520" y="2212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outlier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560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(whisker)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4290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terceiro quartil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160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mediana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892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primeiro quartil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5605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(whisker)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58155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outlier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Box: 50% dos dados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58384" y="2011680"/>
            <a:ext cx="6263640" cy="1298448"/>
          </a:xfrm>
          <a:prstGeom prst="roundRect">
            <a:avLst>
              <a:gd name="adj" fmla="val 4225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559552" y="2157984"/>
            <a:ext cx="5861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caixa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9552" y="2505456"/>
            <a:ext cx="5861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Encontram-se 50% dos dados, delimitados pelo primeiro e pelo terceiro quartis e cortados pela mediana. A altura da caixa é a amplitude interquartil.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58384" y="3438144"/>
            <a:ext cx="6263640" cy="1298448"/>
          </a:xfrm>
          <a:prstGeom prst="roundRect">
            <a:avLst>
              <a:gd name="adj" fmla="val 422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559552" y="3584448"/>
            <a:ext cx="5861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caixa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9552" y="3931920"/>
            <a:ext cx="5861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delimitadores, representados por pequenas linhas retas, mostram o limite razoável dos dados; os pequenos círculos além deles representam possíveis outliers.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58384" y="4864608"/>
            <a:ext cx="6263640" cy="1261872"/>
          </a:xfrm>
          <a:prstGeom prst="roundRect">
            <a:avLst>
              <a:gd name="adj" fmla="val 4348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559552" y="5010912"/>
            <a:ext cx="5861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comparativos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59552" y="5358384"/>
            <a:ext cx="5861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podem ser usados para comparar visualmente as distribuições de uma variável numérica agrupada conforme uma variável categórica.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Correlação, matriz e gráfico de correlação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exploratória frequentemente envolve o estudo da correlação entre preditores e entre preditores e a variável-alvo. Diz-se que x e y têm correlação positiva quando crescem juntas, e negativa quando uma cresce enquanto a outra diminui.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correlação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468880"/>
            <a:ext cx="4992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nível em que variáveis numéricas estão associadas umas às outras e varia de −1 a +1, sendo 0 a ausência de correlação.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1975104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2140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Advertência do material de referência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28232" y="2468880"/>
            <a:ext cx="4992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coeficiente de correlação é sensível a outliers nos dados — mais uma razão para examinar o boxplot e a dispersão antes de interpretá-lo.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21868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correlação — variáveis nas linhas e nas colunas, correlações nas células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56616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35661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5661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5661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35661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3566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023360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0,475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535424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68096" y="4535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535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0,475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4535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4535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0,420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4535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0,417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047488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68096" y="5047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5047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5047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0,420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06640" y="5047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09760" y="5047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5559552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68096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17520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0,417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509760" y="5559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" y="601675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Submatriz adaptada de Bruce e Bruce (2019), conforme apresentada no material de referência. O gráfico de correlação (heatmap) é a representação gráfica desta mesma tabela.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 Python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bibliotecas que sustentam a análise exploratória em Python — o que cada uma resolve, como se complementam e por que raramente se usa apenas uma delas.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4.1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bibliotecas da análise exploratória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cuidam da estrutura e do cálculo sobre os dados; duas cuidam da representação gráfica. Na prática, formam uma pilha: Pandas se apoia em NumPy, e Seaborn se apoia em Matplotlib.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5096" cy="896112"/>
          </a:xfrm>
          <a:prstGeom prst="roundRect">
            <a:avLst>
              <a:gd name="adj" fmla="val 612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numérica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o array multidimensional e as operações vetorizadas que sustentam o cálculo numérico em Python. É a camada sobre a qual as demais se apoiam.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55096" cy="896112"/>
          </a:xfrm>
          <a:prstGeom prst="roundRect">
            <a:avLst>
              <a:gd name="adj" fmla="val 6122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31638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" y="3511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de dados tabulares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163824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 o DataFrame — a tabela com índice, colunas nomeadas e tipos —, além de leitura de arquivos, seleção, filtragem, ordenação, agrupamento e estatísticas descritivas.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986784"/>
            <a:ext cx="11055096" cy="896112"/>
          </a:xfrm>
          <a:prstGeom prst="roundRect">
            <a:avLst>
              <a:gd name="adj" fmla="val 612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41330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baixo nível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413308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plotagem extensa e altamente configurável: praticamente tudo pode ser customizado, de cores e tamanhos à exibição de rótulos.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956048"/>
            <a:ext cx="11055096" cy="896112"/>
          </a:xfrm>
          <a:prstGeom prst="roundRect">
            <a:avLst>
              <a:gd name="adj" fmla="val 6122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51023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096" y="5449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estatística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5102352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sobre a Matplotlib, produz gráficos estatísticos com muito menos linhas de código e padrões visuais mais adequados à análise exploratória.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biblioteca resolve uma camada distinta do problema — trocar uma delas por outra da mesma camada é decisão de gosto; suprimir uma camada, não.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exploratória na prática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exploratória completa sobre o dataset iris: primeiro contato, sumário estatístico, seleção e agrupamento com Pandas, e visualização com Matplotlib e Seaborn.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dataset iris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datasets mais conhecidos e utilizados em Machine Learning, criado em 1936. É pequeno e simples, o que o torna ideal para uma primeira prática de análise exploratória.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538728" cy="1463040"/>
          </a:xfrm>
          <a:prstGeom prst="roundRect">
            <a:avLst>
              <a:gd name="adj" fmla="val 375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instâncias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05456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corresponde a uma flor observada. Volume pequeno o bastante para ser inspecionado por inteiro.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11680"/>
            <a:ext cx="3538728" cy="1463040"/>
          </a:xfrm>
          <a:prstGeom prst="roundRect">
            <a:avLst>
              <a:gd name="adj" fmla="val 375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2157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variáveis numéricas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505456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e largura da sépala e da pétala, medidos em centímetros — todas contínuas.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011680"/>
            <a:ext cx="3538728" cy="1463040"/>
          </a:xfrm>
          <a:prstGeom prst="roundRect">
            <a:avLst>
              <a:gd name="adj" fmla="val 375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2157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variável categórica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2505456"/>
            <a:ext cx="3136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espécie da flor: setosa, versicolor ou virginica — variável qualitativa nominal.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5852160" cy="2468880"/>
          </a:xfrm>
          <a:prstGeom prst="roundRect">
            <a:avLst>
              <a:gd name="adj" fmla="val 2222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68096" y="3803904"/>
            <a:ext cx="54498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importação do Pandas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 a importar e labels dos atributos do dataset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url_dados = ('https://archive.ics.uci.edu/ml/machine-learning-'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'databases/iris/iris.data')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labels_atributos = ['comprimento_sepala', 'largura_sepala',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'comprimento_petala', 'largura_petala',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'especie']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carga do dataset através da url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= pd.read_csv(url_dados, names=labels_atributos)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84264" y="36576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885432" y="3803904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direta de uma URL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85432" y="4151376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 aceita caminho local ou endereço remoto; names atribui os rótulos das colunas, ausentes no arquivo original.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84264" y="475488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885432" y="4901184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dataset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5248656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as duas naturezas de variável tratadas na Unidade 2 e classes bem separadas, o que torna visíveis os padrões nos gráficos.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contato com o DataFrame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estatística, seis comandos que respondem às perguntas elementares: que objeto é este, com que aparência, que colunas, que dimensão e quantos registros por coluna.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852160" cy="3200400"/>
          </a:xfrm>
          <a:prstGeom prst="roundRect">
            <a:avLst>
              <a:gd name="adj" fmla="val 1714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54498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type(iris)          # pandas.core.frame.DataFrame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iris.head()         # exibe as primeiras linhas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iris.tail()         # exibe as últimas linhas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iris.columns        # nomes das colunas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Index(['comprimento_sepala', ...],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       dtype='object')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iris.shape          # dimensões: (150, 5)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iris.count()        # quantidade de linhas por coluna: 150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84264" y="201168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85432" y="2157984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 e tail()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85432" y="2505456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Confirmam que a leitura funcionou, que os rótulos foram atribuídos às colunas certas e que não há linha de cabeçalho lida como dado.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84264" y="310896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85432" y="3255264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85432" y="3602736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volume e largura do conjunto — e permite verificar se o arquivo foi lido por inteiro.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84264" y="420624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85432" y="4352544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4700016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os valores não nulos por coluna: divergência em relação ao número de linhas indica valores faltantes.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6522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" y="5541264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trabalho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585216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comandos custam segundos e evitam horas de análise sobre um conjunto lido de forma incorreta. Executá-los é o equivalente, em código, à conferência de consistência das tabelas de frequência da Unidade 2.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describe(): o sumário estatístico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comando produz as medidas de posição e de dispersão da Unidade 2 para todas as colunas numéricas do conjunto.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4992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exibindo um sumário estatístico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iris.describe()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27064" y="1975104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28232" y="212140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comando entrega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2432304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Contagem, média, desvio padrão, mínimo, quartis e máximo — por coluna numérica.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97180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68096" y="29718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resultado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9718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da Unidade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97180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examinar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47288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68096" y="3447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447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observações válidas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344728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entre colunas revela valores faltantes.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0690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4069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std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0690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desvio padrão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4069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muito distintas entre atributos sinalizam necessidade de padronização.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690872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46908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· max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6908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Extremos, base da amplitude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46908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impossíveis no domínio indicam erro de registro ou código de ausência.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312664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68096" y="53126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· 50% · 75%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53126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Quartis e mediana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53126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Afastamento entre média e mediana é o primeiro indício de assimetria.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59436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do sumário: nenhuma dessas linhas revela a forma da distribuição nem valores discrepantes isolados — daí a necessidade dos gráficos da Unidade 3.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Reorganizar, selecionar e agrupar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Pandas permite analisar os dados de diversos ângulos: ordenar, recortar colunas e linhas, filtrar segundo um critério e agregar por categoria.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5852160" cy="4023360"/>
          </a:xfrm>
          <a:prstGeom prst="roundRect">
            <a:avLst>
              <a:gd name="adj" fmla="val 1364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544982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ordenando o dataframe por uma coluna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iris.sort_values(by='largura_sepala')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iris.sort_values(by='largura_sepala', ascending=False)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obs: retorna apenas o resultado da query; para alterar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ordenação do dataframe: iris = iris.sort_values(...)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selecionando uma coluna específica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iris['largura_sepala']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selecionando um subconjunto de linhas consecutivas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iris[7:11]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subconjunto de colunas para todas as linhas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iris.loc[:, ['largura_sepala', 'largura_petala', 'especie']]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selecionando linhas segundo um critério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iris[iris['largura_sepala'] &gt; 3.5]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média de cada atributo, agrupado por espécie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iris.groupby('especie').mean()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84264" y="1975104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85432" y="2121408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85432" y="2468880"/>
            <a:ext cx="45354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 retorna uma nova visão; para alterar o próprio dataframe é preciso reatribuí-lo. Confundir os dois é o erro mais frequente.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84264" y="3209544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85432" y="3355848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85432" y="3703320"/>
            <a:ext cx="45354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Colchetes recortam colunas ou faixas de linhas; loc permite indicar linhas e colunas simultaneamente, por rótulo.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84264" y="4443984"/>
            <a:ext cx="4937760" cy="1234440"/>
          </a:xfrm>
          <a:prstGeom prst="roundRect">
            <a:avLst>
              <a:gd name="adj" fmla="val 4444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85432" y="4590288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 agrupar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4937760"/>
            <a:ext cx="4535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usa uma condição booleana sobre uma coluna. groupby seguido de mean produz o perfil médio de cada categoria — a ponte entre a variável qualitativa e as quantitativas.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Visualizando com Matplotlib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Explorados os dados com a estatística descritiva e o Pandas, examina-se o dataset graficamente. A Matplotlib exige mais linhas, e em troca oferece controle sobre praticamente todos os elementos do gráfico.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5852160" cy="1920240"/>
          </a:xfrm>
          <a:prstGeom prst="roundRect">
            <a:avLst>
              <a:gd name="adj" fmla="val 2857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5449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 plot com título e rótulos dos eixos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plt.scatter(iris['comprimento_sepala'], iris['largura_sepala'])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plt.title('Íris: comprimento e largura da sépala')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plt.xlabel('comprimento_sepala')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plt.ylabel('largura_sepala');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4041648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68096" y="4187952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histograma com 7 bins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plt.hist(iris['comprimento_sepala'], bins=7,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edgecolor='black', color='yellow')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grid de subplots: 2 linhas e 2 colunas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plt.subplots(2, 2, figsize=(8, 8))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ax[0,0].hist(iris['comprimento_sepala'], bins=7)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ax[0,0].set_title('comprimento_sepala')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84264" y="1975104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85432" y="2103120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por classe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239572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dicionário de cores por espécie permite colorir cada ponto conforme a categoria a que pertence.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84264" y="3054096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85432" y="318211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 por classe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85432" y="3474720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à cor, com marcadores distintos — útil em relatórios impressos em preto e branco.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84264" y="4133088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85432" y="426110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Linhas, barras e pizza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5432" y="4553712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para evolução, bar e barh para comparação entre categorias, pie para composição do todo.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84264" y="521208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85432" y="5340096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85432" y="5632704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gráficos em uma única figura: um histograma ou um boxplot por atributo, lado a lado.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Visualizando com Seaborn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primeiros exemplos produzem exatamente o mesmo resultado de gráficos criados com Matplotlib — com um número sensivelmente menor de linhas de código.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5852160" cy="3794760"/>
          </a:xfrm>
          <a:prstGeom prst="roundRect">
            <a:avLst>
              <a:gd name="adj" fmla="val 1446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544982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 plot, e o mesmo colorido por classes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sns.scatterplot(x='comprimento_sepala',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y='largura_sepala', data=iris);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sns.scatterplot(x='comprimento_sepala',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y='largura_sepala', hue='especie', data=iris);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gráfico de linhas com todos os atributos numéricos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sns.lineplot(data=iris.drop(['especie'], axis=1));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boxplot de todos os atributos, e histograma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sns.boxplot(data=iris);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sns.histplot(iris['comprimento_sepala'], bins=7);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gráfico de correlação e pair plot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sns.heatmap(iris.corr(), annot=True, cmap='RdBu',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vmin=-1, vmax=1);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sns.pairplot(iris, hue='especie');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84264" y="1975104"/>
            <a:ext cx="4937760" cy="1188720"/>
          </a:xfrm>
          <a:prstGeom prst="roundRect">
            <a:avLst>
              <a:gd name="adj" fmla="val 4615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85432" y="2121408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hue: a categoria em uma palavra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85432" y="2468880"/>
            <a:ext cx="4535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parâmetro colore os pontos por espécie e produz a legenda — o que na Matplotlib exigia dicionário de cores e laço sobre os dados.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84264" y="3255264"/>
            <a:ext cx="4937760" cy="1188720"/>
          </a:xfrm>
          <a:prstGeom prst="roundRect">
            <a:avLst>
              <a:gd name="adj" fmla="val 4615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85432" y="3401568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correlação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85432" y="3749040"/>
            <a:ext cx="4535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exibe graficamente as correlações entre todos os atributos numéricos. Para algo similar em Matplotlib são necessárias diversas linhas de código.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84264" y="4535424"/>
            <a:ext cx="4937760" cy="1234440"/>
          </a:xfrm>
          <a:prstGeom prst="roundRect">
            <a:avLst>
              <a:gd name="adj" fmla="val 4444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85432" y="4681728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plot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5432" y="5029200"/>
            <a:ext cx="4535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só figura: a dispersão de cada par de atributos e, na diagonal, o histograma de cada um — ou, com hue, a distribuição de cada espécie em density plots.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roteiro reprodutível de análise exploratória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executada sobre o iris não é específica daquele conjunto. Reordenada como roteiro, aplica-se a qualquer dataset tabular — inclusive ao dataset diabetes usado no vídeo prático da aula.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252374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e conferir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852928"/>
            <a:ext cx="3136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read_csv, head, tail, columns, shape e count: confirmar que o conjunto foi lido corretamente e quantos registros existem por coluna.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2628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52374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852928"/>
            <a:ext cx="3136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para as medidas de posição e de dispersão; comparar média e mediana em busca de assimetria.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84464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52374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as variáveis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84464" y="2852928"/>
            <a:ext cx="3136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qualitativas de quantitativas — decisão que determina as medidas cabíveis e os gráficos apropriados.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4261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" y="45902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uma a uma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919472"/>
            <a:ext cx="3136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e boxplot por variável numérica; barras ou pizza por variável categórica. Registrar discrepantes e faltantes.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25112" y="4114800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26280" y="4261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5902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aos pares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4919472"/>
            <a:ext cx="3136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Dispersão, matriz de correlação e pair plot: relações entre preditores e com a variável-alvo; identificar redundâncias.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83296" y="4114800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284464" y="4261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84464" y="45902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as decisões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84464" y="4919472"/>
            <a:ext cx="3136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o que precisa ser tratado no pré-processamento — a saída desta etapa é a entrada da etapa 3 do ciclo de projeto.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segunda aula percorremos a etapa de coleta e análise de dados: por que a análise exploratória é crítica no ciclo de um projeto, o instrumental de estatística descritiva que resume um conjunto, a organização em rol e tabelas de frequência, a classificação das variáveis, os gráficos apropriados a cada tipo, e a execução prática em Python com Pandas, Matplotlib e Seaborn.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093976" cy="2011680"/>
          </a:xfrm>
          <a:prstGeom prst="roundRect">
            <a:avLst>
              <a:gd name="adj" fmla="val 2727"/>
            </a:avLst>
          </a:prstGeom>
          <a:solidFill>
            <a:srgbClr val="2F3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7980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AED no ciclo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3273552"/>
            <a:ext cx="1764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bem os dados antes de explorar soluções; a etapa alimenta o pré-processamento e a modelagem.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2651760"/>
            <a:ext cx="2093976" cy="2011680"/>
          </a:xfrm>
          <a:prstGeom prst="roundRect">
            <a:avLst>
              <a:gd name="adj" fmla="val 2727"/>
            </a:avLst>
          </a:prstGeom>
          <a:solidFill>
            <a:srgbClr val="2F3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26664" y="27980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descritiva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26664" y="3273552"/>
            <a:ext cx="1764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 dispersão descrevem o conjunto; população e amostra delimitam o que se pode afirmar.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57216" y="2651760"/>
            <a:ext cx="2093976" cy="2011680"/>
          </a:xfrm>
          <a:prstGeom prst="roundRect">
            <a:avLst>
              <a:gd name="adj" fmla="val 2727"/>
            </a:avLst>
          </a:prstGeom>
          <a:solidFill>
            <a:srgbClr val="2F3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21808" y="27980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dos dados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21808" y="3273552"/>
            <a:ext cx="1764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bruto ao rol e às quatro frequências; a classificação das variáveis governa tudo o que vem depois.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2651760"/>
            <a:ext cx="2093976" cy="2011680"/>
          </a:xfrm>
          <a:prstGeom prst="roundRect">
            <a:avLst>
              <a:gd name="adj" fmla="val 2727"/>
            </a:avLst>
          </a:prstGeom>
          <a:solidFill>
            <a:srgbClr val="2F3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16952" y="27980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16952" y="3273552"/>
            <a:ext cx="1764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variável tem seu gráfico; boxplot e correlação expõem outliers e redundância.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47504" y="2651760"/>
            <a:ext cx="2093976" cy="2011680"/>
          </a:xfrm>
          <a:prstGeom prst="roundRect">
            <a:avLst>
              <a:gd name="adj" fmla="val 2727"/>
            </a:avLst>
          </a:prstGeom>
          <a:solidFill>
            <a:srgbClr val="2F34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912096" y="2798064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em Python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912096" y="3273552"/>
            <a:ext cx="1764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descreve e recorta; Matplotlib controla; Seaborn resume o mesmo gráfico em uma linha.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8463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 que atravessa a aula é o mesmo do módulo anterior, aplicado agora à segunda etapa do ciclo: nenhum algoritmo compensa o desconhecimento dos próprios dados — descrever e visualizar não é preliminar do trabalho, é parte dele.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6692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pré-processamento de dados — limpeza, tratamento de ausências, transformação e preparação do conjunto para a modelagem.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0533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André Serrano · Departamento de Engenharia de Produção — Faculdade de Tecnologia · Universidade de Brasília (UnB)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E FONTES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Créditos do conteúdo e leituras de apoio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2  ·  Aula de PSP8  ·  Prof. Dr. André Serrano — EPR/FT/UnB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6766560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1563624"/>
            <a:ext cx="636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referência desta aula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1911096"/>
            <a:ext cx="6364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“Análise exploratória de dados”, da trilha de Ciência de </a:t>
            </a:r>
            <a:r>
              <a:rPr lang="en-US" sz="120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— </a:t>
            </a: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trilha que originou o Módulo 1. Esta apresentação reorganiza e amplia o conteúdo para uso em sala, com quadros-síntese, tabelas e notas de aula elaborados pelo professor.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1417320"/>
            <a:ext cx="4032504" cy="1371600"/>
          </a:xfrm>
          <a:prstGeom prst="roundRect">
            <a:avLst>
              <a:gd name="adj" fmla="val 4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90688" y="156362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e revisão técnica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90688" y="1911096"/>
            <a:ext cx="36301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André Serrano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Produção — Faculdade de Tecnologia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Brasília (UnB)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92608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de apoio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20040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68096" y="3200400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BRUCE, P.; BRUCE, A. Estatística Prática para Cientistas de Dados. Alta Books, 2019. — fonte das figuras citadas na aula.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3657600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ESCOVEDO, T.; KOSHIYAMA, A. Introdução a Data Science: algoritmos de Machine Learning e métodos de análise. Casa do Código.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114800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TUKEY, J. W. Exploratory Data Analysis. Addison-Wesley, 1977. — obra que estabeleceu a AED como etapa autônoma e propôs o boxplot.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57200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4572000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McKINNEY, W. Python for Data Analysis. O'Reilly Media. — referência de uso do Pandas e do NumPy.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029200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 10 minutes to pandas. Documentação oficial da biblioteca — tutorial introdutório indicado no material de referência.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48640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486400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FISHER, R. A. The use of multiple measurements in taxonomic problems. Annals of Eugenics, 1936. — popularizou o dataset iris.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943600"/>
            <a:ext cx="11055096" cy="365760"/>
          </a:xfrm>
          <a:prstGeom prst="roundRect">
            <a:avLst>
              <a:gd name="adj" fmla="val 15000"/>
            </a:avLst>
          </a:prstGeom>
          <a:solidFill>
            <a:srgbClr val="232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68096" y="6089904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PSP8 · Módulo 2 da trilha de Ciência de Dados · Material didático preparado a partir da aula de referência, com acréscimo de quadros-síntese, tabelas e notas de aula.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8349</Words>
  <Application>Microsoft Office PowerPoint</Application>
  <PresentationFormat>Widescreen</PresentationFormat>
  <Paragraphs>703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 serrano</cp:lastModifiedBy>
  <cp:revision>2</cp:revision>
  <dcterms:created xsi:type="dcterms:W3CDTF">2026-08-21T13:46:13Z</dcterms:created>
  <dcterms:modified xsi:type="dcterms:W3CDTF">2026-08-21T13:52:06Z</dcterms:modified>
</cp:coreProperties>
</file>