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272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23272A"/>
                </a:solidFill>
                <a:latin typeface="Calibri"/>
              </a:rPr>
              <a:t>Proporção de valores faltantes por coluna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Registros faltantes (%)</c:v>
                </c:pt>
              </c:strCache>
            </c:strRef>
          </c:tx>
          <c:spPr>
            <a:solidFill>
              <a:srgbClr val="8A7B66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C555C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is.employed</c:v>
                </c:pt>
                <c:pt idx="1">
                  <c:v>housing.type</c:v>
                </c:pt>
                <c:pt idx="2">
                  <c:v>recent.move</c:v>
                </c:pt>
                <c:pt idx="3">
                  <c:v>num.vehicles</c:v>
                </c:pt>
                <c:pt idx="4">
                  <c:v>demais colunas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33.299999999999997</c:v>
                </c:pt>
                <c:pt idx="1">
                  <c:v>5.6</c:v>
                </c:pt>
                <c:pt idx="2">
                  <c:v>5.6</c:v>
                </c:pt>
                <c:pt idx="3">
                  <c:v>5.6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57-407A-9FCA-15C2CAB1E4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C555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12700" cap="flat">
              <a:solidFill>
                <a:srgbClr val="E3E5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C555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5641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Módulo 3 da trilha de PSP8. Esta aula trata da terceira etapa do ciclo de um projeto de ciência de dados, apresentada no Módulo 1: o pré-processamento. É a etapa que costuma consumir a maior parte do tempo do projeto e a que menos aparece nas apresentações de resultado. Convém abrir a aula relembrando o esquema das sete etapas e situando onde estamos.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objetivos correspondem aos declarados no material de referência: compreender a etapa e sua importância; entender preparação, limpeza e tratamento; conhecer as técnicas e quando usar cada uma; e executar as operações na prática. A pergunta condutora resume a tese da aula — o desempenho de um modelo é determinado em grande medida pelas decisões tomadas sobre os dados, antes da modelagem.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da aula. Convém insistir que o pré-processamento não é uma lista de passos obrigatórios: excluir uma coluna com muitos faltantes pode ser correto num problema e destrutivo em outro. A unidade 5 é a mais importante do ponto de vista de rigor metodológico, porque o vazamento de dados é o erro mais comum e o mais difícil de perceber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da unidade. O objetivo é criar o hábito do diagnóstico: antes de qualquer transformação, olhar o resumo estatístico de cada coluna e listar o que está errado. Todas as decisões posteriores decorrem desse levantamento.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Retomada explícita do Módulo 1. Vale lembrar à turma o dado de campo mais citado da área: as etapas de coleta, análise e preparação costumam consumir a maior parte do tempo de um projeto. O fluxo também não é linear — é comum voltar à coleta depois de descobrir, no pré-processamento, que uma variável essencial está inutilizável.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problemas são os do material de referência. A distinção entre valor inválido e outlier é o ponto que mais gera erro em sala: o primeiro é uma impossibilidade lógica no domínio e sempre exige ação; o segundo é uma observação extrema que pode ser verdadeira. Descartar outliers por reflexo é uma das formas mais comuns de destruir informação — é justamente o registro atípico que costuma interessar em detecção de fraude e de falha.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achados vêm do resumo estatístico do dataset, exibido no material de referência. O ponto didático central está no banner: o mesmo valor observado admite leituras opostas, e a escolha entre elas muda completamente o tratamento. Se a renda negativa for erro, exclui-se ou zera-se; se for saldo devedor, é informação preditiva valiosa que não deve ser descartada.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 elaborado para esta aula a partir das proporções relatadas no material de referência. A regra prática mais difundida — descartar colunas com mais de 30% a 40% de ausências — é apenas um ponto de partida, não um critério absoluto. O ponto do banner merece discussão: a ausência raramente é aleatória, e tratá-la como categoria explícita costuma ser preferível a imputar ou a excluir.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Quadro montado a partir das opções indicadas no material de referência para cada coluna. O ponto central para a turma: a etapa de pré-processamento é uma sequência de decisões com consequências, não uma limpeza mecânica. Recomenda-se manter um registro das transformações aplicadas — em código versionado, e não em manipulação manual de planilha.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recomendação é literal do material de referência e vale insistir nela: separar dado bruto de dado tratado é a prática de higiene mais básica de um projeto e a mais frequentemente ignorada em trabalhos de disciplina. Na prática profissional, isso corresponde a manter camadas distintas — bruta, tratada e analítica — com o código de transformação versionado entre 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da unidade. A limpeza é a técnica mais elementar e a mais determinante: quando trabalhamos com dados reais, é muito comum que estejam incompletos, ruidosos ou inconsistentes.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ditado garbage in, garbage out é do material de referência e vale explorar: a qualidade do modelo é limitada pela qualidade dos dados, e nenhum ajuste de hiperparâmetro corrige uma base com erro sistemático. Sobre o especialista de negócio, um exemplo concreto costuma convencer: códigos sentinela como 999, −1 ou 1900-01-01 são interpretados como valores válidos por qualquer algoritmo e distorcem médias e limites sem produzir nenhum erro visível.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casos são os do material de referência; a ordem sugerida na parte inferior foi acrescentada para esta aula. É um ponto prático relevante: aplicar o critério de outlier antes de remover duplicatas produz limites inflados, porque a duplicação altera a dispersão da amostra.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cinco estratégias são as listadas no material de referência. O banner antecipa a unidade 5 e merece ênfase: imputar pela média do conjunto inteiro é uma das formas mais comuns e mais silenciosas de vazamento — o valor imputado no treino carrega informação das observações de teste.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Errata técnica registrada para esta aula. É um erro frequente em código de iniciante: aplicar fillna com a média sobre todo o dataframe, o que silenciosamente falha ou produz resultados sem sentido nas colunas categóricas. Vale mostrar em sala que pandas simplesmente ignora colunas não numéricas em df.mean(), de modo que o erro não gera exceção — apenas deixa os NA categóricos intactos.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da unidade. As três técnicas compartilham um objetivo — reduzir o conjunto sem perder o que importa — e a mesma tensão: toda redução descarta alguma informação, e a questão é sempre qual perda é aceitável.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exemplo numérico é o do material de referência. A menção a OLAP vale ser explicada rapidamente: em cubos analíticos, a mesma medida é consultada em vários níveis — dia, mês, trimestre —, e a agregação é a operação que permite navegar entre eles. O ponto sobre irreversibilidade conecta esta lâmina à boa prática da Unidade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exemplo numérico da estratificação — 1.000 linhas para 200, preservando a proporção entre Sim e Não — é o da figura do material de referência. Vale antecipar aqui que, com classes desbalanceadas, a amostragem aleatória simples pode produzir um conjunto de teste sem nenhum exemplo da classe minoritária, o que torna a avaliação inútil.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exemplo da figura do material de referência usa um histórico de clientes por ano, com 2012 e 2013 em treino e 2014 em teste — uma divisão temporal, adequada quando há ordem cronológica. Vale destacar que, em séries temporais, a divisão aleatória é incorreta: treinar com dados futuros para prever o passado é uma forma de vazamento.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passos e os valores usuais de k são do material de referência. Um esclarecimento útil: o custo computacional é k vezes o de um holdout, já que k modelos são treinados. Por isso k = 5 ou 10 é o padrão em bases médias, e k = 3 aparece quando o treino é caro. O resultado reportado deve incluir a dispersão entre as k rodadas, não apenas a média — folds com desempenho muito distinto indicam instabilidade do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e a sequência embaralhada são os do exemplo do material de referência. O ponto prático: em scikit-learn, isso corresponde a StratifiedKFold em vez de KFold, e a diferença raramente aparece em bases equilibradas — mas é decisiva em problemas como detecção de fraude ou diagnóstico de doenças raras, onde a classe de interesse é minoritária por definição.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Quadro acrescentado para esta aula. A observação final descreve o desenho de avaliação padrão em projetos sérios: o conjunto de teste é tocado uma única vez. Reutilizá-lo a cada tentativa de melhoria transforma-o, na prática, em conjunto de validação, e a estimativa final passa a ser otimista.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figura do material de referência mostra os mesmos pontos em duas e em três dimensões, e o efeito é visualmente claro: o que parecia uma nuvem razoavelmente povoada torna-se um punhado de pontos dispersos em um cubo quase vazio. É a intuição a fixar — e o argumento para as técnicas de redução da lâmina seguinte.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desvantagem do PCA é um ponto crítico em aplicações reguladas — crédito, saúde, seleção de pessoal —, em que é preciso explicar por que o modelo decidiu como decidiu. Um componente principal é uma combinação linear de dezenas de variáveis e não tem interpretação de negócio. Nesses contextos, a seleção de características costuma ser preferível, ainda que reduza menos.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abordagens e o exemplo da tabela são do material de referência. O exemplo do identificador merece um comentário: colunas de Id costumam ser aceitas por algoritmos como se fossem numéricas e podem até melhorar a acurácia de treino se houver alguma ordem histórica embutida na numeração — um caso clássico de padrão espúrio que não se sustenta em produção.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metodologias são as do material de referência; os exemplos foram acrescentados para esta aula. O cuidado registrado no fim é uma das formas mais traiçoeiras de vazamento: construir, por exemplo, uma variável de valor pago a partir de um histórico que só existe para clientes que efetivamente contrataram o crédito produz um modelo excelente em validação e inútil na decisão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da unidade. As técnicas aqui não corrigem erros — os dados já estão limpos. Elas mudam a representação, e a escolha da representação afeta diretamente o desempenho de modelos sensíveis a escala, como regressão regularizada, SVM, k-vizinhos e redes neurais.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fórmula e as duas variantes são do material de referência. O acréscimo sobre outliers é o motivo pelo qual a normalização min-max, apesar de intuitiva, não é o padrão em muitas bibliotecas: ela é a mais sensível a valores extremos de todas as técnicas de escala. Alternativas robustas, como escalar por mediana e intervalo interquartil, existem em scikit-learn como RobustScaler.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fórmulas são as do material de referência. Vale registrar a coerência: a fórmula usa contagem(x) no denominador da variância, que corresponde ao desvio padrão populacional, e é exatamente o que o StandardScaler do scikit-learn calcula. Já a função de desvio padrão amostral de várias planilhas usa n−1, o que produz um valor ligeiramente maior — diferença irrelevante em bases grandes e perceptível em amostras pequenas.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quatro orientações são literais do material de referência. A segunda merece ênfase metodológica: comparar as três alternativas é legítimo, desde que a comparação seja feita em validação e não no conjunto de teste final. Escolher a transformação pelo desempenho no teste é uma forma de sobreajuste ao próprio procedimento de avaliação.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exemplo da tabela é o do material de referência. A escolha dos pontos de corte é a decisão central e admite critérios diferentes: faixas de igual amplitude, faixas de igual frequência (quantis) ou faixas definidas pelo negócio — como as classes de renda usadas pelo próprio setor. A terceira costuma ser a mais defensável, porque o corte tem significado fora do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exemplo da cor dos olhos é o do material de referência. O ponto do banner é a razão estatística da existência do dummy encoding: com todas as c colunas mais o intercepto, a matriz de projeto fica singular — a chamada armadilha das variáveis dummy. Já em modelos baseados em árvores, a redundância é inofensiva e o one-hot completo costuma ser preferido por preservar a simetria entre as categorias.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Quadro acrescentado para esta aula como material de consulta. A primeira advertência é um erro frequente: aplicar OneHotEncoder a uma variável já ordenada. Para esses casos o scikit-learn oferece o OrdinalEncoder, citado entre as importações do material de referência.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da unidade final. Esta é a parte metodologicamente mais importante da aula: um pipeline de pré-processamento tecnicamente correto em cada passo, mas executado na ordem errada, produz estimativas de desempenho otimistas e um modelo que decepciona em produção.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definição e o exemplo da normalização são do material de referência; as duas formas adicionais foram acrescentadas porque são igualmente comuns e mais difíceis de perceber. O sintoma clássico do vazamento é o desempenho excelente em validação seguido de queda inexplicável em produção — e, quando isso acontece, o pipeline de preparação é o primeiro lugar a investigar.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passos são os do material de referência. A tradução para o código é o acréscimo mais útil desta lâmina, porque o erro em geral se manifesta como uma linha só: scaler.fit_transform(X_test) em vez de scaler.transform(X_test). Em pipelines mais longos, a proteção estrutural é usar o objeto Pipeline do scikit-learn, que garante que o fit ocorra somente sobre a partição de treino em cada rodada de validação cruzada.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ferramentas e os dois parâmetros são os do material de referência. O handle_unknown merece destaque prático: em produção, categorias novas aparecem — um novo estado, um novo tipo de contrato — e um encoder que levanta exceção derruba a aplicação. Definir explicitamente as categorias esperadas, quando conhecidas, é ainda mais seguro do que ignorá-las.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operações são as do material de referência, com os nomes de coluna traduzidos como no original. O exemplo do fillna é instrutivo por combinar estratégias: mediana para uma coluna numérica, constantes para outras e uma categoria para a variável de espécie. Cabe lembrar aqui a regra da unidade: em um projeto real, essas medidas-resumo devem ser calculadas apenas sobre o treino.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dados e os resultados são os do material de referência. Vale executar as duas transformações ao vivo e mostrar que os valores relativos dentro de cada coluna não mudam — o que muda é apenas a escala em que são expressos. É também um bom momento para exibir scaler.data_min_ e scaler.mean_, tornando visível que o objeto guarda os parâmetros aprendidos e que são esses parâmetros que serão aplicados ao teste.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exemplo é o do material de referência, com o parâmetro atualizado. Vale mostrar em sala o atributo encoder.categories_, que revela a ordem alfabética adotada e evita o erro de atribuir significado às colunas pela ordem de aparecimento nos dados originais.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Observações levantadas na preparação desta aula. Nenhuma delas compromete o conteúdo conceitual do material de referência, mas todas geram erro ou confusão se reproduzidas literalmente em código. A última é a mais interessante didaticamente, porque mostra que a classificação de um valor extremo depende do conhecimento do domínio, e não apenas da distribuição observada.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 da aula. A pergunta de reflexão é a proposta pelo material de referência e funciona bem como discussão final ou como enunciado de trabalho: pedir que a turma escolha uma coluna do estudo de caso do crédito alemão, defenda um tratamento e explicite o que se perde com ele costuma revelar melhor o entendimento do que qualquer questão de definição.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Lâmina de créditos. Convém deixar explícito à turma, no início e no fim da aula, que o conteúdo de referência é da trilha utilizada nos módulos anteriores e que esta apresentação é uma reorganização didática, com acréscimos identificados. Para quem quiser aprofundar as técnicas de pré-processamento, Tan, Steinbach e Kumar tratam o tema com mais formalismo, e Géron traz a implementação prática em scikit-learn.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PSP8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66928" y="1810512"/>
            <a:ext cx="2011680" cy="27432"/>
          </a:xfrm>
          <a:prstGeom prst="rect">
            <a:avLst/>
          </a:prstGeom>
          <a:solidFill>
            <a:srgbClr val="8A7B66"/>
          </a:solidFill>
          <a:ln w="12700">
            <a:solidFill>
              <a:srgbClr val="8A7B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66928" y="199339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Pré-processamento de dados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66928" y="29443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6CA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Limpeza, agregação, amostragem e validação, redução de dimensionalidade, transformação de variáveis e prevenção de vazamento de dados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3547872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1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— Trilha de Ciência de Dados (PSP8)  ·  Material didático de apoio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4206240"/>
            <a:ext cx="6766560" cy="1417320"/>
          </a:xfrm>
          <a:prstGeom prst="roundRect">
            <a:avLst>
              <a:gd name="adj" fmla="val 3871"/>
            </a:avLst>
          </a:prstGeom>
          <a:solidFill>
            <a:srgbClr val="2F3438"/>
          </a:solidFill>
          <a:ln w="12700">
            <a:solidFill>
              <a:srgbClr val="2F34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41248" y="437083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da aula e revisão técnica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4645152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Prof. Dr. André Serrano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41248" y="504748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B4B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Engenharia de Produção — Faculdade de Tecnologia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B4B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de Brasília (UnB)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0" y="5257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Brasília —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0" y="4206240"/>
            <a:ext cx="4032504" cy="914400"/>
          </a:xfrm>
          <a:prstGeom prst="roundRect">
            <a:avLst>
              <a:gd name="adj" fmla="val 6000"/>
            </a:avLst>
          </a:prstGeom>
          <a:solidFill>
            <a:srgbClr val="2F3438"/>
          </a:solidFill>
          <a:ln w="12700">
            <a:solidFill>
              <a:srgbClr val="2F343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90688" y="4315968"/>
            <a:ext cx="3630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B4B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de referência: aula “Análise exploratória e pré-processamento de dados” — parte 3, da trilha de Ciência de Dados. Créditos na lâmina final.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DA AULA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desta aula, espera-se que o estudante seja capaz de: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66544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66928" y="2066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20116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Situar a etapa e reconhecer os problemas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304288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o que é o pré-processamento no contexto de um projeto de ciência de dados, sua importância e os problemas típicos que um exame cuidadoso dos dados revela.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163824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66928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31089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Dominar as técnicas e saber quando usá-las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401568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limpeza, agregação, amostragem, redução de dimensionalidade e transformação de dados, e decidir qual técnica cabe em cada situação.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261104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66928" y="4261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42062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o tratamento e evitar vazamento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498848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operações de pré-processamento em Python e aplicar a ordem correta das transformações para não contaminar a avaliação do modelo.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595360" y="2011680"/>
            <a:ext cx="3026664" cy="2103120"/>
          </a:xfrm>
          <a:prstGeom prst="roundRect">
            <a:avLst>
              <a:gd name="adj" fmla="val 2609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796528" y="2157984"/>
            <a:ext cx="262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Palavras-chave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96528" y="2505456"/>
            <a:ext cx="26243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· missings · outliers · agregação · amostragem · holdout · validação cruzada · maldição da dimensionalidade · PCA · feature selection · feature engineering · normalização · padronização · discretização · one-hot e dummy encoding · data leakage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95360" y="4297680"/>
            <a:ext cx="3026664" cy="1508760"/>
          </a:xfrm>
          <a:prstGeom prst="roundRect">
            <a:avLst>
              <a:gd name="adj" fmla="val 3636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8796528" y="4443984"/>
            <a:ext cx="262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condutora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796528" y="4791456"/>
            <a:ext cx="2624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do resultado de um modelo é decidido antes de o algoritmo ser executado?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EM CINCO UNIDADES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da aula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sequência vai do diagnóstico ao método e à execução: primeiro se examina o que há de errado nos dados, depois se limpa, se reduz e se transforma, e por fim se aplica tudo em Python sem contaminar a avaliação.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212848"/>
            <a:ext cx="3538728" cy="1481328"/>
          </a:xfrm>
          <a:prstGeom prst="roundRect">
            <a:avLst>
              <a:gd name="adj" fmla="val 3704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68096" y="235915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68096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8096" y="274320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dos dados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" y="3054096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entra a etapa 3 do ciclo; unidades de medida, faltantes, inconsistentes e intervalo de valores; estudo de caso do banco de crédito alemão.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25112" y="2212848"/>
            <a:ext cx="3538728" cy="1481328"/>
          </a:xfrm>
          <a:prstGeom prst="roundRect">
            <a:avLst>
              <a:gd name="adj" fmla="val 3704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526280" y="235915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26280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274320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3054096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Redundâncias, outliers e missings; estratégias de tratamento de ausências e o papel do especialista de negócio.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83296" y="2212848"/>
            <a:ext cx="3538728" cy="1481328"/>
          </a:xfrm>
          <a:prstGeom prst="roundRect">
            <a:avLst>
              <a:gd name="adj" fmla="val 3704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284464" y="235915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284464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84464" y="274320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Agregação, amostragem e dimensionalidade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84464" y="3054096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Agregação e granularidade; holdout e validação cruzada; maldição da dimensionalidade, PCA, seleção de características e feature engineering.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3803904"/>
            <a:ext cx="3538728" cy="1481328"/>
          </a:xfrm>
          <a:prstGeom prst="roundRect">
            <a:avLst>
              <a:gd name="adj" fmla="val 3704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768096" y="39502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68096" y="3950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8096" y="4334256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 de dados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8096" y="4645152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Normalização, padronização, discretização e codificação de variáveis categóricas — com o critério de escolha entre elas.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25112" y="3803904"/>
            <a:ext cx="3538728" cy="1481328"/>
          </a:xfrm>
          <a:prstGeom prst="roundRect">
            <a:avLst>
              <a:gd name="adj" fmla="val 3704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4526280" y="39502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526280" y="3950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26280" y="4334256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Vazamento e prática em Python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26280" y="4645152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correta das operações para não vazar informação do teste e a execução com pandas e scikit-learn.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83296" y="3803904"/>
            <a:ext cx="3538728" cy="1481328"/>
          </a:xfrm>
          <a:prstGeom prst="roundRect">
            <a:avLst>
              <a:gd name="adj" fmla="val 3704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8284464" y="395020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 condutor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284464" y="4297680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pior a qualidade dos dados, pior será a qualidade dos modelos gerados — garbage in, garbage out. Nenhum algoritmo compensa uma preparação malfeita.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66928" y="5401056"/>
            <a:ext cx="11055096" cy="871728"/>
          </a:xfrm>
          <a:prstGeom prst="roundRect">
            <a:avLst>
              <a:gd name="adj" fmla="val 6294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768096" y="5529072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Advertência de método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68096" y="5821680"/>
            <a:ext cx="106527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técnicas desta aula não são um roteiro fixo a ser executado na ordem: são um repertório. A decisão sobre o que aplicar depende do domínio da aplicação, do modelo pretendido e da natureza de cada variável.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3172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1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2706624"/>
            <a:ext cx="2011680" cy="27432"/>
          </a:xfrm>
          <a:prstGeom prst="rect">
            <a:avLst/>
          </a:prstGeom>
          <a:solidFill>
            <a:srgbClr val="8A7B66"/>
          </a:solidFill>
          <a:ln w="12700">
            <a:solidFill>
              <a:srgbClr val="8A7B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66928" y="2926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dos dados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374904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6C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pré-processamento se encaixa no ciclo do projeto, que problemas um exame cuidadoso dos dados revela e como diagnosticá-los em um conjunto real.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1 · 1.1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entra o pré-processamento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Retomando o esquema básico de um projeto de ciência de dados apresentado no Módulo 1, esta aula trata da terceira etapa — aquela que prepara a matéria-prima de tudo o que vem depois.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1490472" cy="1481328"/>
          </a:xfrm>
          <a:prstGeom prst="roundRect">
            <a:avLst>
              <a:gd name="adj" fmla="val 3704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94944" y="21762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94944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4944" y="2560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do problema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176272" y="2048256"/>
            <a:ext cx="1490472" cy="1481328"/>
          </a:xfrm>
          <a:prstGeom prst="roundRect">
            <a:avLst>
              <a:gd name="adj" fmla="val 3704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304288" y="21762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304288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04288" y="2560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e análise de dados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785616" y="2048256"/>
            <a:ext cx="1490472" cy="1481328"/>
          </a:xfrm>
          <a:prstGeom prst="roundRect">
            <a:avLst>
              <a:gd name="adj" fmla="val 3704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3913632" y="21762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8A7B66"/>
          </a:solidFill>
          <a:ln w="12700">
            <a:solidFill>
              <a:srgbClr val="8A7B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913632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13632" y="2560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394960" y="2048256"/>
            <a:ext cx="1490472" cy="1481328"/>
          </a:xfrm>
          <a:prstGeom prst="roundRect">
            <a:avLst>
              <a:gd name="adj" fmla="val 3704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5522976" y="21762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522976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22976" y="2560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e inferência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04304" y="2048256"/>
            <a:ext cx="1490472" cy="1481328"/>
          </a:xfrm>
          <a:prstGeom prst="roundRect">
            <a:avLst>
              <a:gd name="adj" fmla="val 3704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132320" y="21762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132320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0" y="2560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Pós-processamento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613648" y="2048256"/>
            <a:ext cx="1490472" cy="1481328"/>
          </a:xfrm>
          <a:prstGeom prst="roundRect">
            <a:avLst>
              <a:gd name="adj" fmla="val 3704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8741664" y="21762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8741664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741664" y="2560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dos resultados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222992" y="2048256"/>
            <a:ext cx="1490472" cy="1481328"/>
          </a:xfrm>
          <a:prstGeom prst="roundRect">
            <a:avLst>
              <a:gd name="adj" fmla="val 3704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10351008" y="21762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10351008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351008" y="25603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e geração de valor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66928" y="36210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etapa entrega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66928" y="3986784"/>
            <a:ext cx="11055096" cy="603504"/>
          </a:xfrm>
          <a:prstGeom prst="roundRect">
            <a:avLst>
              <a:gd name="adj" fmla="val 9091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768096" y="398678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limpos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480560" y="3986784"/>
            <a:ext cx="6940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coletar e analisar os dados na etapa anterior, é necessário limpar, transformar e apresentar melhor os dados, corrigindo inconsistências e tratando ausências.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66928" y="4626864"/>
            <a:ext cx="11055096" cy="603504"/>
          </a:xfrm>
          <a:prstGeom prst="roundRect">
            <a:avLst>
              <a:gd name="adj" fmla="val 9091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768096" y="462686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em formato adequado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480560" y="4626864"/>
            <a:ext cx="6940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fim de obter, na etapa seguinte, os melhores resultados possíveis nos algoritmos de Machine Learning — ou simplesmente de apresentar dados mais confiáveis em soluções de Business Intelligence.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66928" y="5401056"/>
            <a:ext cx="11055096" cy="871728"/>
          </a:xfrm>
          <a:prstGeom prst="roundRect">
            <a:avLst>
              <a:gd name="adj" fmla="val 6294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768096" y="5529072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etapa é decisiva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68096" y="5821680"/>
            <a:ext cx="106527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aqui que se decide o que o modelo verá. Uma variável mal escalada, uma categoria mal codificada ou um valor ausente preenchido sem critério produzem um modelo que funciona no papel e falha em produção.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1 · 1.2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examinar nos dados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examinar com cuidado os seus dados, é possível identificar quatro classes de problema que devem ser tratadas na etapa de pré-processamento.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2667762" cy="1691640"/>
          </a:xfrm>
          <a:prstGeom prst="roundRect">
            <a:avLst>
              <a:gd name="adj" fmla="val 3243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21408"/>
            <a:ext cx="2265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de medida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68096" y="2468880"/>
            <a:ext cx="2265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Deve-se observar a unidade das variáveis — idade em meses ou anos, renda em dólares ou reais — para fazer as devidas conversões, se necessário.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53562" y="1975104"/>
            <a:ext cx="2667762" cy="1691640"/>
          </a:xfrm>
          <a:prstGeom prst="roundRect">
            <a:avLst>
              <a:gd name="adj" fmla="val 3243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554730" y="2121408"/>
            <a:ext cx="2265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faltantes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54730" y="2468880"/>
            <a:ext cx="2265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um atributo tenha muitos registros faltantes, ele não deve ser utilizado como entrada de um modelo sem um tratamento apropriado.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40196" y="1975104"/>
            <a:ext cx="2667762" cy="1691640"/>
          </a:xfrm>
          <a:prstGeom prst="roundRect">
            <a:avLst>
              <a:gd name="adj" fmla="val 3243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341364" y="2121408"/>
            <a:ext cx="2265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inconsistentes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41364" y="2468880"/>
            <a:ext cx="2265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importante entender se os valores inconsistentes são valores inválidos — impossíveis no domínio — ou outliers legítimos, porque o tratamento difere.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26830" y="1975104"/>
            <a:ext cx="2667762" cy="1691640"/>
          </a:xfrm>
          <a:prstGeom prst="roundRect">
            <a:avLst>
              <a:gd name="adj" fmla="val 3243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127998" y="2121408"/>
            <a:ext cx="2265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dos valores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27998" y="2468880"/>
            <a:ext cx="226542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intervalo muito grande pode prejudicar alguns modelos; um intervalo pequeno demais indica variável provavelmente sem informação útil.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374904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Detalhando a distinção que mais gera erro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4078224"/>
            <a:ext cx="5394960" cy="1261872"/>
          </a:xfrm>
          <a:prstGeom prst="roundRect">
            <a:avLst>
              <a:gd name="adj" fmla="val 4348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68096" y="4224528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inválidos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8096" y="4572000"/>
            <a:ext cx="4992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Ocorrem quando temos um valor negativo em um campo que só pode ser positivo, ou um texto onde se espera um número. São erros: não pertencem ao domínio da variável e devem ser corrigidos ou removidos.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27064" y="4078224"/>
            <a:ext cx="5394960" cy="1261872"/>
          </a:xfrm>
          <a:prstGeom prst="roundRect">
            <a:avLst>
              <a:gd name="adj" fmla="val 4348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428232" y="4224528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28232" y="4572000"/>
            <a:ext cx="4992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valores fora do intervalo esperado, mas possíveis. Podem ser erro de medição ou o registro raro mais informativo do conjunto — a decisão de removê-los exige conhecimento do negócio.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5401056"/>
            <a:ext cx="11055096" cy="871728"/>
          </a:xfrm>
          <a:prstGeom prst="roundRect">
            <a:avLst>
              <a:gd name="adj" fmla="val 6294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768096" y="5529072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o intervalo de valores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68096" y="5821680"/>
            <a:ext cx="106527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intervalo muito amplo pode ser reduzido por transformação logarítmica. Vale lembrar que o intervalo adequado varia conforme o domínio da aplicação — não existe faixa universalmente correta.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1 · 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caso: banco de crédito alemão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ilustrar a importância da etapa, o material de referência examina um dataset simplificado do banco de crédito alemão, adaptado do UCI Machine Learning Repository. O exame do resumo estatístico revela quatro problemas distintos.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84832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084832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54096" y="208483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resumo revela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21040" y="2084832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Natureza do problema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42032"/>
            <a:ext cx="11055096" cy="603504"/>
          </a:xfrm>
          <a:prstGeom prst="roundRect">
            <a:avLst>
              <a:gd name="adj" fmla="val 9091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68096" y="2542032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is.employed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54096" y="254203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terço dos registros está categorizado como NA (not available) — a coluna informa se a pessoa está ou não empregada.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321040" y="2542032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faltantes em proporção alta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218688"/>
            <a:ext cx="11055096" cy="603504"/>
          </a:xfrm>
          <a:prstGeom prst="roundRect">
            <a:avLst>
              <a:gd name="adj" fmla="val 9091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68096" y="3218688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054096" y="321868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valores de renda negativos, com mínimo de −8.700; e o intervalo total de valores é muito amplo.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21040" y="3218688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potencialmente inválidos e range excessivo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895344"/>
            <a:ext cx="11055096" cy="603504"/>
          </a:xfrm>
          <a:prstGeom prst="roundRect">
            <a:avLst>
              <a:gd name="adj" fmla="val 9091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68096" y="3895344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housing.type, recent.move, num.vehicles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054096" y="389534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linhas com valores faltantes, representados por NA — 5,6% do total do conjunto.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21040" y="3895344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faltantes em proporção baixa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4572000"/>
            <a:ext cx="11055096" cy="603504"/>
          </a:xfrm>
          <a:prstGeom prst="roundRect">
            <a:avLst>
              <a:gd name="adj" fmla="val 9091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68096" y="4572000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054096" y="457200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de 0,0 e máximo de 146,7 chamam a atenção em uma variável de idade.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321040" y="4572000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inválidos ou outliers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401056"/>
            <a:ext cx="11055096" cy="871728"/>
          </a:xfrm>
          <a:prstGeom prst="roundRect">
            <a:avLst>
              <a:gd name="adj" fmla="val 6294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68096" y="5529072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que o diagnóstico não responde sozinho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68096" y="5821680"/>
            <a:ext cx="106527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renda negativa é erro de digitação ou significa que o cliente tem débitos, como empréstimos e financiamentos? A resposta não está nos dados — está no negócio. É por isso que a limpeza exige a participação de quem conhece o domínio.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1 · 1.4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proporção de ausências decide o tratamento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colunas do mesmo conjunto exigem decisões opostas porque o volume de ausências é muito diferente. A proporção de faltantes é o primeiro critério de decisão.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66928" y="2048256"/>
          <a:ext cx="64008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187184" y="2048256"/>
            <a:ext cx="4434840" cy="1463040"/>
          </a:xfrm>
          <a:prstGeom prst="roundRect">
            <a:avLst>
              <a:gd name="adj" fmla="val 3750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7388352" y="2194560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terço faltante: is.employed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88352" y="2542032"/>
            <a:ext cx="40325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coluna não deve entrar em um modelo sem tratamento. As opções são excluí-la do dataset ou substituir FALSE, TRUE e NA por NÃO, SIM e DESCONHECIDO — tornando a ausência uma categoria com significado próprio.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87184" y="3602736"/>
            <a:ext cx="4434840" cy="1463040"/>
          </a:xfrm>
          <a:prstGeom prst="roundRect">
            <a:avLst>
              <a:gd name="adj" fmla="val 3750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7388352" y="3749040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5,6% faltantes: as três colunas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88352" y="4096512"/>
            <a:ext cx="40325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são poucas linhas em relação ao tamanho total do conjunto, podemos simplesmente excluí-las ou substituir os valores faltantes por uma medida-resumo das demais observações da coluna.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5401056"/>
            <a:ext cx="11055096" cy="871728"/>
          </a:xfrm>
          <a:prstGeom prst="roundRect">
            <a:avLst>
              <a:gd name="adj" fmla="val 6294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768096" y="5529072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Acréscimo do professor · por que tratar a ausência como categoria costuma ser melhor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68096" y="5821680"/>
            <a:ext cx="106527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 a coluna descarta informação; imputar inventa informação. Codificar a ausência como categoria preserva o fato de que o dado não foi informado — e essa ausência pode ser preditiva.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1 · 1.5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Quadro-síntese: opções de tratamento por coluna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opções que o material de referência aponta para cada problema diagnosticado, com o efeito de cada escolha sobre a informação disponível ao modelo.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1975104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54096" y="197510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Opção 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40880" y="1975104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Opção 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432304"/>
            <a:ext cx="11055096" cy="493776"/>
          </a:xfrm>
          <a:prstGeom prst="roundRect">
            <a:avLst>
              <a:gd name="adj" fmla="val 11111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68096" y="2432304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is.employed</a:t>
            </a:r>
            <a:endParaRPr lang="en-US" sz="115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(1/3 de NA)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54096" y="2432304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 completamente a coluna do dataset.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040880" y="2432304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FALSE, TRUE e NA por NÃO, SIM e DESCONHECIDO.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2999232"/>
            <a:ext cx="11055096" cy="493776"/>
          </a:xfrm>
          <a:prstGeom prst="roundRect">
            <a:avLst>
              <a:gd name="adj" fmla="val 11111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68096" y="2999232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negativo</a:t>
            </a:r>
            <a:endParaRPr lang="en-US" sz="115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(mín. −8.700)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054096" y="2999232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 do dataset as linhas com renda negativa.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040880" y="2999232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esses valores por zero.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566160"/>
            <a:ext cx="11055096" cy="493776"/>
          </a:xfrm>
          <a:prstGeom prst="roundRect">
            <a:avLst>
              <a:gd name="adj" fmla="val 11111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68096" y="3566160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com range amplo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054096" y="3566160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transformação logarítmica para reduzir o intervalo.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040880" y="3566160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ou padronizar a variável (Unidade 4).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4133088"/>
            <a:ext cx="11055096" cy="493776"/>
          </a:xfrm>
          <a:prstGeom prst="roundRect">
            <a:avLst>
              <a:gd name="adj" fmla="val 11111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68096" y="4133088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linhas com NA</a:t>
            </a:r>
            <a:endParaRPr lang="en-US" sz="115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(5,6% do total)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054096" y="4133088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 as linhas afetadas.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040880" y="4133088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os faltantes por medida-resumo dos demais valores da coluna.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4700016"/>
            <a:ext cx="11055096" cy="493776"/>
          </a:xfrm>
          <a:prstGeom prst="roundRect">
            <a:avLst>
              <a:gd name="adj" fmla="val 11111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68096" y="4700016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5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(mín. 0,0; máx. 146,7)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054096" y="4700016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as idades, se o valor absoluto não for importante.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040880" y="4700016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a variável numérica em categorias — bins de faixa etária.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5401056"/>
            <a:ext cx="11055096" cy="871728"/>
          </a:xfrm>
          <a:prstGeom prst="roundRect">
            <a:avLst>
              <a:gd name="adj" fmla="val 6294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768096" y="5529072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 do professor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68096" y="5821680"/>
            <a:ext cx="106527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das opções é neutra: excluir linhas reduz a amostra e pode enviesar; substituir por zero cria concentração artificial; discretizar descarta variação interna à faixa. Registre a decisão e a justificativa.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1 · 1.6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 prática: preservar o original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aplicar qualquer operação de pré-processamento, o material de referência recomenda uma disciplina simples de organização de arquivos — que é também a base da reprodutibilidade do trabalho.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3538728" cy="1737360"/>
          </a:xfrm>
          <a:prstGeom prst="roundRect">
            <a:avLst>
              <a:gd name="adj" fmla="val 3158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945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Copiar os dados de origem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2542032"/>
            <a:ext cx="31363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Recomenda-se fazer uma cópia dos dados fontes originais e nunca alterá-los. O arquivo bruto é o único ponto de retorno confiável quando uma decisão de tratamento se mostra equivocada.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2048256"/>
            <a:ext cx="3538728" cy="1737360"/>
          </a:xfrm>
          <a:prstGeom prst="roundRect">
            <a:avLst>
              <a:gd name="adj" fmla="val 3158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26280" y="21945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Aplicar as operações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542032"/>
            <a:ext cx="31363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limpeza, tratamento de ausências, transformações e codificações sobre a cópia, preferencialmente por meio de código, e não de edição manual.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83296" y="2048256"/>
            <a:ext cx="3538728" cy="1737360"/>
          </a:xfrm>
          <a:prstGeom prst="roundRect">
            <a:avLst>
              <a:gd name="adj" fmla="val 3158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84464" y="21945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Organizar em arquivo único tratado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84464" y="2542032"/>
            <a:ext cx="31363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a aplicação das operações, organizar os dados em um novo arquivo único tratado, que passa a ser a entrada da etapa de modelagem.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398678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 mais do que parece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4114800"/>
            <a:ext cx="11055096" cy="640080"/>
          </a:xfrm>
          <a:prstGeom prst="roundRect">
            <a:avLst>
              <a:gd name="adj" fmla="val 8571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68096" y="4114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Reprodutibilidade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80560" y="4114800"/>
            <a:ext cx="6940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tratamento estiver em código e o bruto preservado, qualquer pessoa reconstrói o conjunto final e verifica cada decisão. Se estiver em edições manuais, o resultado é irrecuperável.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846320"/>
            <a:ext cx="11055096" cy="640080"/>
          </a:xfrm>
          <a:prstGeom prst="roundRect">
            <a:avLst>
              <a:gd name="adj" fmla="val 8571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68096" y="4846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e correção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4846320"/>
            <a:ext cx="6940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Descobrir meses depois que a regra de imputação estava errada só é reversível se o dado original ainda existir separado do dado tratado.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5607431"/>
            <a:ext cx="11055096" cy="665353"/>
          </a:xfrm>
          <a:prstGeom prst="roundRect">
            <a:avLst>
              <a:gd name="adj" fmla="val 8246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68096" y="5735447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8096" y="6028055"/>
            <a:ext cx="1065276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melhor maneira de evitar a poluição de dados é organizar a sua entrada — o que nem sempre é possível, e por isso a limpeza permanece indispensável.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3172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2706624"/>
            <a:ext cx="2011680" cy="27432"/>
          </a:xfrm>
          <a:prstGeom prst="rect">
            <a:avLst/>
          </a:prstGeom>
          <a:solidFill>
            <a:srgbClr val="8A7B66"/>
          </a:solidFill>
          <a:ln w="12700">
            <a:solidFill>
              <a:srgbClr val="8A7B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66928" y="2926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Limpeza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374904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6C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da consistência das informações, correção de erros de preenchimento e eliminação de valores desconhecidos, redundantes ou não pertencentes ao domínio.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 · 2.1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a limpeza de dados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forma resumida, a limpeza consiste na verificação da consistência das informações, na correção de possíveis erros de preenchimento e na eliminação de valores desconhecidos, redundantes ou não pertencentes ao domínio.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5394960" cy="1517904"/>
          </a:xfrm>
          <a:prstGeom prst="roundRect">
            <a:avLst>
              <a:gd name="adj" fmla="val 3614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57984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2505456"/>
            <a:ext cx="49926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trabalhamos com dados reais, é muito comum que eles estejam incompletos, ruidosos ou inconsistentes. Bases operacionais são alimentadas por pessoas e sistemas diferentes, ao longo de anos, com regras que mudam.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27064" y="2011680"/>
            <a:ext cx="5394960" cy="1517904"/>
          </a:xfrm>
          <a:prstGeom prst="roundRect">
            <a:avLst>
              <a:gd name="adj" fmla="val 3614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28232" y="2157984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consequência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28232" y="2505456"/>
            <a:ext cx="49926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pior a qualidade dos dados, pior será a qualidade dos modelos gerados — garbage in, garbage out. Nenhuma sofisticação algorítmica compensa uma base mal preparada.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36210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especialista de negócio é indispensável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950208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68096" y="4096512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limpeza de informações ausentes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8096" y="4443984"/>
            <a:ext cx="4992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Exclusão de casos, preenchimento manual, preenchimento com valores globais constantes, preenchimento com medidas estatísticas ou preenchimento por meio de métodos de Machine Learning.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7064" y="3950208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428232" y="4096512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limpeza de inconsistências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28232" y="4443984"/>
            <a:ext cx="4992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valores não pertencentes ao domínio, exclusão de casos e correção de erros — decisões que exigem saber o que cada campo significa na operação real.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401056"/>
            <a:ext cx="11055096" cy="871728"/>
          </a:xfrm>
          <a:prstGeom prst="roundRect">
            <a:avLst>
              <a:gd name="adj" fmla="val 6294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68096" y="5529072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advertência que a experiência confirma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8096" y="5821680"/>
            <a:ext cx="106527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especialista de negócio não é um consultor opcional da etapa: é quem sabe que o código 999 significa não informado, que a unidade mudou em determinado ano e que certo campo só passou a ser obrigatório depois de uma alteração no sistema. Nada disso está documentado no dado.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 · 2.2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casos tratados pela limpeza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material de referência organiza a técnica de limpeza em três situações típicas, cada uma com procedimento próprio.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3538728" cy="1828800"/>
          </a:xfrm>
          <a:prstGeom prst="roundRect">
            <a:avLst>
              <a:gd name="adj" fmla="val 3000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5798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Redundâncias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2505456"/>
            <a:ext cx="313639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Podemos ter redundâncias que precisam ser eliminadas, seja de linhas — registros duplicados — seja de colunas, isto é, características que repetem a mesma informação sob outra forma.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2011680"/>
            <a:ext cx="3538728" cy="1828800"/>
          </a:xfrm>
          <a:prstGeom prst="roundRect">
            <a:avLst>
              <a:gd name="adj" fmla="val 3000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26280" y="215798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505456"/>
            <a:ext cx="313639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podemos ter possíveis outliers, que podem ser indicados por valores extremos. Identificá-los é o primeiro passo; decidir entre corrigir, remover ou manter exige conhecimento do domínio.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83296" y="2011680"/>
            <a:ext cx="3538728" cy="1828800"/>
          </a:xfrm>
          <a:prstGeom prst="roundRect">
            <a:avLst>
              <a:gd name="adj" fmla="val 3000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84464" y="215798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84464" y="2505456"/>
            <a:ext cx="313639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os valores faltantes. Será necessário identificá-los — marcá-los explicitamente — e, em seguida, tratá-los, por exemplo, com um valor adequado.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40416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importa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4407408"/>
            <a:ext cx="11055096" cy="603504"/>
          </a:xfrm>
          <a:prstGeom prst="roundRect">
            <a:avLst>
              <a:gd name="adj" fmla="val 9091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68096" y="440740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Marcar antes de tratar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80560" y="4407408"/>
            <a:ext cx="6940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 marcar os faltantes de forma explícita evita que valores sentinela — 0, 999, string vazia — sejam confundidos com observações válidas.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5084064"/>
            <a:ext cx="11055096" cy="603504"/>
          </a:xfrm>
          <a:prstGeom prst="roundRect">
            <a:avLst>
              <a:gd name="adj" fmla="val 9091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68096" y="508406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Duplicatas antes de estatísticas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5084064"/>
            <a:ext cx="6940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duplicados distorcem médias, medianas e limites de outlier. Removê-los primeiro evita que a distorção contamine as decisões seguintes.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5760720"/>
            <a:ext cx="11055096" cy="603504"/>
          </a:xfrm>
          <a:prstGeom prst="roundRect">
            <a:avLst>
              <a:gd name="adj" fmla="val 9091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68096" y="576072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Outliers por último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80560" y="5760720"/>
            <a:ext cx="6940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depois de eliminar duplicatas e tratar ausências os valores extremos podem ser avaliados sobre uma distribuição confiável.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 · 2.3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estratégias para informações ausentes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abordagens apontadas pelo material de referência para o preenchimento de dados ausentes, da mais simples à mais elaborada — com o custo e o risco de cada uma.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197510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197510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consiste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27264" y="1975104"/>
            <a:ext cx="3922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faz sentido e o que custa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432304"/>
            <a:ext cx="11055096" cy="493776"/>
          </a:xfrm>
          <a:prstGeom prst="roundRect">
            <a:avLst>
              <a:gd name="adj" fmla="val 11111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68096" y="2432304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Exclusão de casos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66160" y="2432304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as linhas — ou a coluna inteira — que contêm valores ausentes.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827264" y="2432304"/>
            <a:ext cx="3922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Adequada quando as ausências são poucas; reduz a amostra e introduz viés se a ausência não for aleatória.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2999232"/>
            <a:ext cx="11055096" cy="493776"/>
          </a:xfrm>
          <a:prstGeom prst="roundRect">
            <a:avLst>
              <a:gd name="adj" fmla="val 11111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68096" y="2999232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Preenchimento manual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66160" y="2999232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o valor correto na fonte original, registro a registro.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827264" y="2999232"/>
            <a:ext cx="3922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alternativa mais precisa e a menos escalável; viável apenas em bases pequenas ou críticas.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566160"/>
            <a:ext cx="11055096" cy="493776"/>
          </a:xfrm>
          <a:prstGeom prst="roundRect">
            <a:avLst>
              <a:gd name="adj" fmla="val 11111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68096" y="3566160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global constante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566160" y="3566160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Atribuir um valor fixo, como DESCONHECIDO ou uma constante numérica combinada.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827264" y="3566160"/>
            <a:ext cx="3922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 o registro e sinaliza a ausência; exige que o modelo saiba tratar essa categoria.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4133088"/>
            <a:ext cx="11055096" cy="493776"/>
          </a:xfrm>
          <a:prstGeom prst="roundRect">
            <a:avLst>
              <a:gd name="adj" fmla="val 11111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68096" y="413308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estatísticas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566160" y="4133088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com média, mediana ou moda dos demais valores da coluna.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827264" y="4133088"/>
            <a:ext cx="3922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Barato e rápido; reduz artificialmente a variabilidade e enfraquece correlações reais.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4700016"/>
            <a:ext cx="11055096" cy="493776"/>
          </a:xfrm>
          <a:prstGeom prst="roundRect">
            <a:avLst>
              <a:gd name="adj" fmla="val 11111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68096" y="470001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 Machine Learning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566160" y="4700016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o valor ausente a partir das demais variáveis, por regressão ou vizinhos mais próximos.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827264" y="4700016"/>
            <a:ext cx="3922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fiel à estrutura dos dados; custa mais e precisa ser ajustado somente no conjunto de treino.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5417566"/>
            <a:ext cx="11055096" cy="855218"/>
          </a:xfrm>
          <a:prstGeom prst="roundRect">
            <a:avLst>
              <a:gd name="adj" fmla="val 6415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768096" y="5545582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que atravessa as cinco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68096" y="5838190"/>
            <a:ext cx="10652760" cy="398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valor de preenchimento — média, mediana, moda ou modelo — deve ser calculado apenas sobre o conjunto de treino e depois aplicado ao teste. Calcular sobre o conjunto completo é vazamento de dados (Unidade 5).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 · 2.4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a medida-resumo conforme o tipo da variável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material de referência sugere substituir os faltantes pela média ou mediana dos demais valores da coluna. A recomendação exige uma qualificação técnica: ela vale para variáveis numéricas, e as colunas do estudo de caso não são todas numéricas.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0312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variável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210312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no estudo de caso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04304" y="210312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adequada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253728" y="2103120"/>
            <a:ext cx="2642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560320"/>
            <a:ext cx="11055096" cy="548640"/>
          </a:xfrm>
          <a:prstGeom prst="roundRect">
            <a:avLst>
              <a:gd name="adj" fmla="val 10000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68096" y="2560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 simétrica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66160" y="2560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num.vehicles — número de veículos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04304" y="2560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253728" y="2560320"/>
            <a:ext cx="2642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bem a posição central quando não há assimetria forte.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182112"/>
            <a:ext cx="11055096" cy="548640"/>
          </a:xfrm>
          <a:prstGeom prst="roundRect">
            <a:avLst>
              <a:gd name="adj" fmla="val 10000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68096" y="31821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 assimétrica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66160" y="31821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— renda, com cauda longa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004304" y="31821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253728" y="3182112"/>
            <a:ext cx="2642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 a valores extremos, que puxariam a média para cima.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3803904"/>
            <a:ext cx="11055096" cy="548640"/>
          </a:xfrm>
          <a:prstGeom prst="roundRect">
            <a:avLst>
              <a:gd name="adj" fmla="val 10000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68096" y="380390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 nominal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566160" y="38039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housing.type — tipo de moradia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004304" y="380390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 ou categoria própria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253728" y="3803904"/>
            <a:ext cx="2642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e mediana não são definidas para categorias sem ordem.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4425696"/>
            <a:ext cx="11055096" cy="548640"/>
          </a:xfrm>
          <a:prstGeom prst="roundRect">
            <a:avLst>
              <a:gd name="adj" fmla="val 10000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68096" y="442569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566160" y="442569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recent.move — mudou-se recentemente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004304" y="442569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 ou categoria DESCONHECIDO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253728" y="4425696"/>
            <a:ext cx="2642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 a informação de que o dado não foi informado.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5202936"/>
            <a:ext cx="11055096" cy="1069848"/>
          </a:xfrm>
          <a:prstGeom prst="roundRect">
            <a:avLst>
              <a:gd name="adj" fmla="val 5128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768096" y="5330952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 técnica registrada · imputação por média em variável categórica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68096" y="5623560"/>
            <a:ext cx="10652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texto de referência aplica a expressão “substituir os valores faltantes pela média (ou mediana)” às colunas housing.type, recent.move e num.vehicles. Como as duas primeiras não são numéricas, a operação não é definida para elas: nesses casos, o preenchimento cabível é pela moda ou pela criação de uma categoria explícita de ausência. Fica registrado para evitar a aplicação automática da média a toda coluna com NA.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3172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2706624"/>
            <a:ext cx="2011680" cy="27432"/>
          </a:xfrm>
          <a:prstGeom prst="rect">
            <a:avLst/>
          </a:prstGeom>
          <a:solidFill>
            <a:srgbClr val="8A7B66"/>
          </a:solidFill>
          <a:ln w="12700">
            <a:solidFill>
              <a:srgbClr val="8A7B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66928" y="2926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Agregação, amostragem e dimensionalidade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374904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6C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técnicas que atuam sobre o tamanho e a forma do conjunto: combinar registros, selecionar subconjuntos representativos e reduzir o número de características.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 · 3.1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Agregação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agregação consiste em combinar dois ou mais objetos em um único. Um exemplo é agregar os registros de transações de vendas diárias de produtos em lojas distintas em uma única transação mensal por loja.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5394960" cy="2066544"/>
          </a:xfrm>
          <a:prstGeom prst="roundRect">
            <a:avLst>
              <a:gd name="adj" fmla="val 2655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57984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exemplo do material de referência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2505456"/>
            <a:ext cx="499262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registros diários — relógio em Paris a 100, pilha no Rio a 3, vestido no Rio a 50 e sapatos em Paris a 35, todos de 09/06/2004 — tornam-se dois registros mensais: Paris, jun/04, 135; e Rio, jun/04, 53.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detalhe do item desaparece; a informação de local, período e valor total permanece.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27064" y="2011680"/>
            <a:ext cx="5394960" cy="2066544"/>
          </a:xfrm>
          <a:prstGeom prst="roundRect">
            <a:avLst>
              <a:gd name="adj" fmla="val 2655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28232" y="2157984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ganha e o que se perde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28232" y="2505456"/>
            <a:ext cx="499262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conjunto de dados menor tem menor custo de processamento, e a agregação pode atuar como uma mudança de granularidade — recurso muito usado em OLAP.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contrapartida, podemos perder detalhes que podem ser interessantes: com a venda agregada por mês, não é mais possível identificar o dia da semana que tem mais vendas.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4151376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de granularidade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480560"/>
            <a:ext cx="11055096" cy="548640"/>
          </a:xfrm>
          <a:prstGeom prst="roundRect">
            <a:avLst>
              <a:gd name="adj" fmla="val 10000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68096" y="4480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nível pela pergunta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4480560"/>
            <a:ext cx="6940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granularidade correta é a mais fina que a pergunta exige — nunca a mais fina disponível, nem a mais conveniente de processar.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5084064"/>
            <a:ext cx="11055096" cy="548640"/>
          </a:xfrm>
          <a:prstGeom prst="roundRect">
            <a:avLst>
              <a:gd name="adj" fmla="val 10000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68096" y="508406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é irreversível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80560" y="5084064"/>
            <a:ext cx="6940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vez agregado o conjunto, o detalhe não pode ser reconstruído. Por isso a recomendação da Unidade 1: preservar o arquivo bruto, na granularidade original.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5607431"/>
            <a:ext cx="11055096" cy="665353"/>
          </a:xfrm>
          <a:prstGeom prst="roundRect">
            <a:avLst>
              <a:gd name="adj" fmla="val 8246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68096" y="5735447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8096" y="6028055"/>
            <a:ext cx="1065276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agregação também aparece, na Unidade 3.8, como técnica de redução de dimensionalidade — combinando características em vez de registros.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 · 3.2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Amostragem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amostragem consiste em selecionar um subconjunto dos dados a serem analisados ou trabalhados. Seu princípio-chave é que usar uma amostra funcionará quase tão bem quanto usar o conjunto inteiro — desde que a amostra seja representativa.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11055096" cy="871728"/>
          </a:xfrm>
          <a:prstGeom prst="roundRect">
            <a:avLst>
              <a:gd name="adj" fmla="val 6294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03120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significa representativa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2395728"/>
            <a:ext cx="106527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amostra é representativa se tiver aproximadamente a mesma propriedade de interesse do conjunto original de dados — por exemplo, a média. A condição não é sobre tamanho: uma amostra grande e enviesada é pior do que uma amostra pequena e representativa.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92608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abordagens possíveis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255264"/>
            <a:ext cx="5394960" cy="1499616"/>
          </a:xfrm>
          <a:prstGeom prst="roundRect">
            <a:avLst>
              <a:gd name="adj" fmla="val 3659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68096" y="3401568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Amostragem aleatória simples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8096" y="3749040"/>
            <a:ext cx="4992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registro tem a mesma probabilidade de ser selecionado. Pode ser feita com substituição — o registro sorteado volta ao conjunto e pode ser escolhido novamente — ou sem substituição.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27064" y="3255264"/>
            <a:ext cx="5394960" cy="1499616"/>
          </a:xfrm>
          <a:prstGeom prst="roundRect">
            <a:avLst>
              <a:gd name="adj" fmla="val 3659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28232" y="3401568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Amostragem estratificada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28232" y="3749040"/>
            <a:ext cx="4992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Acomoda frequências diferentes: a população é dividida em estratos e a amostra preserva a proporção de cada um. De 1.000 linhas para uma amostra de 200, a divisão entre as classes Sim e Não é mantida na mesma proporção.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4828032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técnica aparece em Machine Learning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5138928"/>
            <a:ext cx="11055096" cy="548640"/>
          </a:xfrm>
          <a:prstGeom prst="roundRect">
            <a:avLst>
              <a:gd name="adj" fmla="val 10000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68096" y="51389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treino e teste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5138928"/>
            <a:ext cx="6940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o dataset em um conjunto de treinamento, para construir o modelo, geralmente maior, e um de teste, para avaliar o modelo construído, geralmente menor.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5724144"/>
            <a:ext cx="11055096" cy="548640"/>
          </a:xfrm>
          <a:prstGeom prst="roundRect">
            <a:avLst>
              <a:gd name="adj" fmla="val 10000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68096" y="572414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cruzada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80560" y="5724144"/>
            <a:ext cx="6940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Repartir o conjunto em subconjuntos disjuntos que se alternam entre treino e teste ao longo de várias rodadas — detalhado nas lâminas seguintes.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 · 3.3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Holdout: separar para avaliar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o dataset em um conjunto de treinamento e um de teste chama-se holdout. É importante porque, após construído, um modelo precisa ser validado com dados diferentes dos utilizados na sua construção.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11055096" cy="1737360"/>
          </a:xfrm>
          <a:prstGeom prst="roundRect">
            <a:avLst>
              <a:gd name="adj" fmla="val 3158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68096" y="2212848"/>
            <a:ext cx="7498080" cy="1408176"/>
          </a:xfrm>
          <a:prstGeom prst="roundRect">
            <a:avLst>
              <a:gd name="adj" fmla="val 3896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969264" y="23591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TREINAMENTO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9264" y="2688336"/>
            <a:ext cx="7095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Geralmente maior. É sobre esses registros que o algoritmo aprende os padrões e ajusta seus parâmetros. No exemplo do material de referência, os anos de 2012 e 2013 de um histórico de pagamentos.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49056" y="2212848"/>
            <a:ext cx="2971800" cy="1408176"/>
          </a:xfrm>
          <a:prstGeom prst="roundRect">
            <a:avLst>
              <a:gd name="adj" fmla="val 3896"/>
            </a:avLst>
          </a:prstGeom>
          <a:solidFill>
            <a:srgbClr val="8A7B66"/>
          </a:solidFill>
          <a:ln w="12700">
            <a:solidFill>
              <a:srgbClr val="8A7B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650224" y="23591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TESTE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50224" y="2688336"/>
            <a:ext cx="2569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Geralmente menor. Não participa da construção do modelo e serve apenas para estimar seu desempenho — no exemplo, o ano de 2014.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389534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holdout garante e o que não garante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4224528"/>
            <a:ext cx="11055096" cy="621792"/>
          </a:xfrm>
          <a:prstGeom prst="roundRect">
            <a:avLst>
              <a:gd name="adj" fmla="val 8824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68096" y="422452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independência da avaliação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4224528"/>
            <a:ext cx="6940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desempenho é medido sobre registros que o modelo nunca viu, o que impede confundir memorização com aprendizado.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901184"/>
            <a:ext cx="11055096" cy="621792"/>
          </a:xfrm>
          <a:prstGeom prst="roundRect">
            <a:avLst>
              <a:gd name="adj" fmla="val 8824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68096" y="490118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aproveita todo o conjunto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4901184"/>
            <a:ext cx="6940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acurácia de teste é medida com apenas uma parte do dataset, e o resultado depende de quais registros caíram no teste — em bases pequenas, essa variação é considerável.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5607431"/>
            <a:ext cx="11055096" cy="665353"/>
          </a:xfrm>
          <a:prstGeom prst="roundRect">
            <a:avLst>
              <a:gd name="adj" fmla="val 8246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68096" y="5735447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8096" y="6028055"/>
            <a:ext cx="1065276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conjuntos pequenos ou desbalanceados, a estimativa de desempenho obtida por um único holdout é instável — o que motiva a validação cruzada.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 · 3.4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cruzada (cross validation)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 exemplo de utilização da amostragem, usado para avaliar modelos de Machine Learning. Pode ser estratificada ou não.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3538728" cy="1828800"/>
          </a:xfrm>
          <a:prstGeom prst="roundRect">
            <a:avLst>
              <a:gd name="adj" fmla="val 3000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68096" y="215798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68096" y="2157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8096" y="254203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em k subconjuntos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" y="2852928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validação cruzada consiste em dividir aleatoriamente o conjunto de dados com n elementos em k subconjuntos disjuntos, com aproximadamente o mesmo número de elementos — cada um com cerca de n/k.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25112" y="2011680"/>
            <a:ext cx="3538728" cy="1828800"/>
          </a:xfrm>
          <a:prstGeom prst="roundRect">
            <a:avLst>
              <a:gd name="adj" fmla="val 3000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526280" y="215798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26280" y="2157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254203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Alternar treino e teste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2852928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rodada, cada um dos k subconjuntos é usado como conjunto de teste, e os conjuntos restantes são reunidos em um único conjunto de treino.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83296" y="2011680"/>
            <a:ext cx="3538728" cy="1828800"/>
          </a:xfrm>
          <a:prstGeom prst="roundRect">
            <a:avLst>
              <a:gd name="adj" fmla="val 3000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284464" y="215798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284464" y="2157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84464" y="254203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as k avaliações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84464" y="2852928"/>
            <a:ext cx="31363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é repetido k vezes, sendo gerados e avaliados k modelos. Essas avaliações são geralmente consolidadas por meio da média. Os valores mais comuns de k são 3, 5 e 10.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66928" y="398678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aproveita melhor o conjunto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" y="4315968"/>
            <a:ext cx="11055096" cy="871728"/>
          </a:xfrm>
          <a:prstGeom prst="roundRect">
            <a:avLst>
              <a:gd name="adj" fmla="val 6294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68096" y="4443984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vantagem sobre o holdout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8096" y="4736592"/>
            <a:ext cx="106527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ter a acurácia medida com apenas uma parte do dataset — como no holdout —, o modelo é testado, de alguma forma, com todos os dados do conjunto, o que resulta em melhor aproveitamento do dataset.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5212080"/>
            <a:ext cx="5394960" cy="1060704"/>
          </a:xfrm>
          <a:prstGeom prst="roundRect">
            <a:avLst>
              <a:gd name="adj" fmla="val 5172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768096" y="5358384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cruzada estratificada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8096" y="5705856"/>
            <a:ext cx="4992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gerar os subconjuntos, a proporção de exemplos em cada classe é considerada durante a amostragem.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27064" y="5212080"/>
            <a:ext cx="5394960" cy="1060704"/>
          </a:xfrm>
          <a:prstGeom prst="roundRect">
            <a:avLst>
              <a:gd name="adj" fmla="val 5172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428232" y="5358384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ela é essencial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28232" y="5705856"/>
            <a:ext cx="4992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dataset desbalanceado — por exemplo, 90% dos dados na classe 1 e 10% na classe 2.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 · 3.5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cruzada estratificada na prática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material de referência ilustra o procedimento com um conjunto desbalanceado de doze pessoas: oito homens, o que equivale a 67% da base, e quatro mulheres, 33% da base.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66544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06654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06654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faz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52944" y="2066544"/>
            <a:ext cx="4197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no exemplo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11055096" cy="731520"/>
          </a:xfrm>
          <a:prstGeom prst="roundRect">
            <a:avLst>
              <a:gd name="adj" fmla="val 7500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68096" y="2523744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Embaralhar de forma estratificada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91840" y="252374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Reordenar aleatoriamente os índices, respeitando a proporção entre as classes.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552944" y="2523744"/>
            <a:ext cx="4197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doze índices, antes em ordem crescente, passam à ordem 5, 4, 8, 3, 6, 7, 1, 2, 11, 9, 12 e 10.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328416"/>
            <a:ext cx="11055096" cy="731520"/>
          </a:xfrm>
          <a:prstGeom prst="roundRect">
            <a:avLst>
              <a:gd name="adj" fmla="val 7500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68096" y="3328416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os k conjuntos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91840" y="332841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Repartir os índices embaralhados em três pastas de quatro elementos cada.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552944" y="3328416"/>
            <a:ext cx="4197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pasta serve uma vez como teste, com os oito registros restantes formando o treino.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133088"/>
            <a:ext cx="11055096" cy="731520"/>
          </a:xfrm>
          <a:prstGeom prst="roundRect">
            <a:avLst>
              <a:gd name="adj" fmla="val 7500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68096" y="41330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 proporção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91840" y="413308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se a razão entre as classes se mantém em treino e em teste, em todas as rodadas.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552944" y="4133088"/>
            <a:ext cx="4197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proporção de homens e mulheres permanece equivalente nos conjuntos de treino e de teste das três pastas.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475488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aconteceria sem estratificação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5120640"/>
            <a:ext cx="11055096" cy="658368"/>
          </a:xfrm>
          <a:prstGeom prst="roundRect">
            <a:avLst>
              <a:gd name="adj" fmla="val 8333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68096" y="512064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fold sem a classe minoritária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80560" y="5120640"/>
            <a:ext cx="6940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quatro registros por pasta e 33% de uma das classes, um sorteio simples pode produzir uma pasta de teste sem nenhum representante — tornando a métrica daquela rodada não interpretável.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5852160"/>
            <a:ext cx="11055096" cy="548640"/>
          </a:xfrm>
          <a:prstGeom prst="roundRect">
            <a:avLst>
              <a:gd name="adj" fmla="val 10000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68096" y="5852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sobre a média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80560" y="5852160"/>
            <a:ext cx="6940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Rodadas com composição muito diferente entre si aumentam a dispersão das k avaliações e tornam a média final menos confiável como estimativa de desempenho.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 · 3.6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Quadro-síntese: holdout e validação cruzada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comparativo elaborado para esta aula, reunindo os critérios que orientam a escolha entre as duas estratégias de avaliação.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197510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197510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27264" y="1975104"/>
            <a:ext cx="3922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cruzada k-fold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432304"/>
            <a:ext cx="11055096" cy="493776"/>
          </a:xfrm>
          <a:prstGeom prst="roundRect">
            <a:avLst>
              <a:gd name="adj" fmla="val 11111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68096" y="2432304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treinados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66160" y="2432304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827264" y="2432304"/>
            <a:ext cx="3922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modelos — tipicamente 3, 5 ou 10.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2999232"/>
            <a:ext cx="11055096" cy="493776"/>
          </a:xfrm>
          <a:prstGeom prst="roundRect">
            <a:avLst>
              <a:gd name="adj" fmla="val 11111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68096" y="2999232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Aproveitamento dos dados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66160" y="2999232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uma parte é usada para avaliar; o teste nunca entra no treino.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827264" y="2999232"/>
            <a:ext cx="3922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registros participam do teste em alguma rodada e do treino nas demais.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566160"/>
            <a:ext cx="11055096" cy="493776"/>
          </a:xfrm>
          <a:prstGeom prst="roundRect">
            <a:avLst>
              <a:gd name="adj" fmla="val 11111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68096" y="3566160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Estabilidade da estimativa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566160" y="3566160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quais registros caíram no teste; instável em bases pequenas.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827264" y="3566160"/>
            <a:ext cx="3922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das k rodadas reduz a dependência de uma partição específica.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4133088"/>
            <a:ext cx="11055096" cy="493776"/>
          </a:xfrm>
          <a:prstGeom prst="roundRect">
            <a:avLst>
              <a:gd name="adj" fmla="val 11111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68096" y="413308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computacional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566160" y="4133088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— um único ajuste do modelo.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827264" y="4133088"/>
            <a:ext cx="3922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Aproximadamente k vezes o do holdout.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4700016"/>
            <a:ext cx="11055096" cy="493776"/>
          </a:xfrm>
          <a:prstGeom prst="roundRect">
            <a:avLst>
              <a:gd name="adj" fmla="val 11111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68096" y="470001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preferir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566160" y="4700016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grandes, treino caro, ou quando há ordem temporal a respeitar.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827264" y="4700016"/>
            <a:ext cx="3922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pequenas ou médias, comparação entre modelos e ajuste de hiperparâmetros.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5417566"/>
            <a:ext cx="11055096" cy="855218"/>
          </a:xfrm>
          <a:prstGeom prst="roundRect">
            <a:avLst>
              <a:gd name="adj" fmla="val 6415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768096" y="5545582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68096" y="5838190"/>
            <a:ext cx="10652760" cy="398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estratégias não são excludentes: a prática recomendada é separar um conjunto de teste final por holdout, usar validação cruzada dentro do treino para escolher modelo e hiperparâmetros, e reservar o teste para uma única medição ao fim.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 · 3.7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Dimensionalidade e sua maldição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de características de um dataset pode ser considerado a dimensionalidade dos dados. Duas variáveis de entrada delimitam um espaço com duas dimensões, e cada exemplo — cada linha — é um ponto desse espaço.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5394960" cy="1481328"/>
          </a:xfrm>
          <a:prstGeom prst="roundRect">
            <a:avLst>
              <a:gd name="adj" fmla="val 3704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94560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raciocínio escala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2542032"/>
            <a:ext cx="4992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raciocínio pode ser escalado para qualquer número de variáveis de entrada, criando espaços multidimensionais. Com três colunas, cada registro é um ponto em um cubo; com cinquenta, em um espaço de cinquenta dimensões.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27064" y="2048256"/>
            <a:ext cx="5394960" cy="1481328"/>
          </a:xfrm>
          <a:prstGeom prst="roundRect">
            <a:avLst>
              <a:gd name="adj" fmla="val 3704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28232" y="2194560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volume cresce mais rápido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28232" y="2542032"/>
            <a:ext cx="4992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maior o número de dimensões de um espaço, maior é o volume desse espaço — e mais provável que o dataset represente uma amostragem muito esparsa e provavelmente não representativa desse espaço.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657600"/>
            <a:ext cx="11055096" cy="871728"/>
          </a:xfrm>
          <a:prstGeom prst="roundRect">
            <a:avLst>
              <a:gd name="adj" fmla="val 6294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68096" y="3785616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Maldição da dimensionalidade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8096" y="4078224"/>
            <a:ext cx="106527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nome desse fenômeno: acrescentar variáveis aumenta o espaço a ser preenchido muito mais depressa do que se consegue aumentar o número de observações. A mesma quantidade de registros que descreve bem um espaço de duas dimensões torna-se rarefeita em dez.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459028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Consequências práticas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4919472"/>
            <a:ext cx="3538728" cy="1243584"/>
          </a:xfrm>
          <a:prstGeom prst="roundRect">
            <a:avLst>
              <a:gd name="adj" fmla="val 4412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68096" y="5065776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Distâncias perdem sentido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" y="5413248"/>
            <a:ext cx="3136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pontos tendem a ficar à mesma distância entre si, o que degrada métodos baseados em vizinhança.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25112" y="4919472"/>
            <a:ext cx="3538728" cy="1243584"/>
          </a:xfrm>
          <a:prstGeom prst="roundRect">
            <a:avLst>
              <a:gd name="adj" fmla="val 4412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526280" y="5065776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superajustam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26280" y="5413248"/>
            <a:ext cx="3136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muitas variáveis e poucos registros, o modelo encontra padrões que existem só na amostra.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83296" y="4919472"/>
            <a:ext cx="3538728" cy="1243584"/>
          </a:xfrm>
          <a:prstGeom prst="roundRect">
            <a:avLst>
              <a:gd name="adj" fmla="val 4412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8284464" y="5065776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cresce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84464" y="5413248"/>
            <a:ext cx="3136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colunas significam mais memória, mais tempo de treino e maior dificuldade de interpretação.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 · 3.8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Redução de dimensionalidade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atuar nesse problema, a redução de dimensionalidade consiste em projetar os dados em um espaço de dimensão inferior, mas que ainda preserva as propriedades mais importantes do dataset original.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11055096" cy="673608"/>
          </a:xfrm>
          <a:prstGeom prst="roundRect">
            <a:avLst>
              <a:gd name="adj" fmla="val 8145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03120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interessa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2395728"/>
            <a:ext cx="1065276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mundo real, os datasets podem ter muitas características, e muitos algoritmos de Machine Learning funcionam melhor se a dimensionalidade for menor.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74320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técnicas apontadas pelo material de referência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108960"/>
            <a:ext cx="3538728" cy="1298448"/>
          </a:xfrm>
          <a:prstGeom prst="roundRect">
            <a:avLst>
              <a:gd name="adj" fmla="val 4225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68096" y="325526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componentes principais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" y="3602736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PCA: gera novas variáveis, combinações das originais, ordenadas pela variância que explicam.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25112" y="3108960"/>
            <a:ext cx="3538728" cy="1298448"/>
          </a:xfrm>
          <a:prstGeom prst="roundRect">
            <a:avLst>
              <a:gd name="adj" fmla="val 4225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526280" y="325526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características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3602736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selection: mantém um subconjunto das variáveis originais e descarta as demais.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83296" y="3108960"/>
            <a:ext cx="3538728" cy="1298448"/>
          </a:xfrm>
          <a:prstGeom prst="roundRect">
            <a:avLst>
              <a:gd name="adj" fmla="val 4225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284464" y="325526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Agregação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84464" y="3602736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características em uma só, reduzindo o número de colunas por consolidação.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462686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 e desvantagens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4974336"/>
            <a:ext cx="5394960" cy="1280160"/>
          </a:xfrm>
          <a:prstGeom prst="roundRect">
            <a:avLst>
              <a:gd name="adj" fmla="val 4286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68096" y="5120640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8096" y="5468112"/>
            <a:ext cx="49926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dataset menor tem menor custo de processamento. A redução pode eliminar características irrelevantes, reduzir ruídos e remover dependências lineares entre os atributos, como variáveis correlacionadas.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27064" y="4974336"/>
            <a:ext cx="5394960" cy="1280160"/>
          </a:xfrm>
          <a:prstGeom prst="roundRect">
            <a:avLst>
              <a:gd name="adj" fmla="val 4286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428232" y="5120640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Desvantagens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28232" y="5468112"/>
            <a:ext cx="49926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sejam aplicadas técnicas como o PCA, as “novas” variáveis não estarão diretamente relacionadas às variáveis de entrada originais, tornando a projeção difícil de interpretar.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 · 3.9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Seleção de características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conhecida como feature selection, consiste em usar apenas um subconjunto das características (atributos) originais, desconsiderando as características redundantes ou irrelevantes.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3538728" cy="1691640"/>
          </a:xfrm>
          <a:prstGeom prst="roundRect">
            <a:avLst>
              <a:gd name="adj" fmla="val 3243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39696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A7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8096" y="256032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decide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" y="2889504"/>
            <a:ext cx="3136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utilizado um algoritmo que decide quais atributos usar e quais ignorar durante o próprio processo de aprendizado.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5112" y="2011680"/>
            <a:ext cx="3538728" cy="1691640"/>
          </a:xfrm>
          <a:prstGeom prst="roundRect">
            <a:avLst>
              <a:gd name="adj" fmla="val 3243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26280" y="2139696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A7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26280" y="256032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especialista pré-seleciona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6280" y="2889504"/>
            <a:ext cx="3136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atributos podem ser pré-selecionados por um especialista, com base no conhecimento do domínio sobre o que é plausivelmente relevante.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83296" y="2011680"/>
            <a:ext cx="3538728" cy="1691640"/>
          </a:xfrm>
          <a:prstGeom prst="roundRect">
            <a:avLst>
              <a:gd name="adj" fmla="val 3243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284464" y="2139696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A7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84464" y="256032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busca encontra o subconjunto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84464" y="2889504"/>
            <a:ext cx="3136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executado um algoritmo que encontre o melhor subconjunto de atributos, geralmente aqueles mais relacionados à variável de saída.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389534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efeito sobre a tabela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4224528"/>
            <a:ext cx="11055096" cy="621792"/>
          </a:xfrm>
          <a:prstGeom prst="roundRect">
            <a:avLst>
              <a:gd name="adj" fmla="val 8824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68096" y="422452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4224528"/>
            <a:ext cx="6940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tabela com Id, Nome, Sexo e Idade — quatro colunas, das quais duas não carregam informação preditiva sobre o problema em questão.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901184"/>
            <a:ext cx="11055096" cy="621792"/>
          </a:xfrm>
          <a:prstGeom prst="roundRect">
            <a:avLst>
              <a:gd name="adj" fmla="val 8824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68096" y="490118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80560" y="4901184"/>
            <a:ext cx="6940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Restam Sexo e Idade. Id é identificador, não característica; Nome é irrelevante para o padrão que se quer aprender e, além disso, é dado pessoal.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5607431"/>
            <a:ext cx="11055096" cy="665353"/>
          </a:xfrm>
          <a:prstGeom prst="roundRect">
            <a:avLst>
              <a:gd name="adj" fmla="val 8246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768096" y="5735447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essencial em relação ao PCA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68096" y="6028055"/>
            <a:ext cx="1065276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as variáveis mantidas continuam sendo as originais, com seu significado de negócio intacto — o que preserva a interpretabilidade do modelo.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 · 3.10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Criação de recursos (feature engineering)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conhecida como feature engineering, a criação de recursos consiste em criar, a partir dos atributos originais, um conjunto de atributos que capture informações importantes. O material de referência aponta três metodologias.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3538728" cy="1737360"/>
          </a:xfrm>
          <a:prstGeom prst="roundRect">
            <a:avLst>
              <a:gd name="adj" fmla="val 3158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945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de características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2542032"/>
            <a:ext cx="31363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Derivar novos atributos a partir do conteúdo bruto — por exemplo, obter dia da semana, mês e indicador de feriado a partir de um campo de data.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2048256"/>
            <a:ext cx="3538728" cy="1737360"/>
          </a:xfrm>
          <a:prstGeom prst="roundRect">
            <a:avLst>
              <a:gd name="adj" fmla="val 3158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26280" y="21945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de recursos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542032"/>
            <a:ext cx="31363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atributos existentes em uma medida mais informativa — razões, diferenças e taxas, como renda por dependente ou valor da parcela sobre a renda.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83296" y="2048256"/>
            <a:ext cx="3538728" cy="1737360"/>
          </a:xfrm>
          <a:prstGeom prst="roundRect">
            <a:avLst>
              <a:gd name="adj" fmla="val 3158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84464" y="21945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Enriquecimento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84464" y="2542032"/>
            <a:ext cx="31363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informação de fontes externas ao conjunto, associando-a aos registros — dados socioeconômicos por região, índices setoriais, séries climáticas.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4005072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etapa costuma render mais do que trocar de algoritmo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4297680"/>
            <a:ext cx="11055096" cy="585216"/>
          </a:xfrm>
          <a:prstGeom prst="roundRect">
            <a:avLst>
              <a:gd name="adj" fmla="val 9375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68096" y="4297680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só vê o que lhe é dado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80560" y="4297680"/>
            <a:ext cx="6940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algoritmo não infere que a razão entre duas colunas é a quantidade relevante: se essa razão não for construída, ela não existe para o modelo.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937760"/>
            <a:ext cx="11055096" cy="585216"/>
          </a:xfrm>
          <a:prstGeom prst="roundRect">
            <a:avLst>
              <a:gd name="adj" fmla="val 9375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68096" y="4937760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onde o conhecimento de domínio entra no modelo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4937760"/>
            <a:ext cx="6940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melhores variáveis derivadas costumam vir de quem entende o processo, não de busca automática — o que reforça, mais uma vez, a participação do especialista.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5607431"/>
            <a:ext cx="11055096" cy="665353"/>
          </a:xfrm>
          <a:prstGeom prst="roundRect">
            <a:avLst>
              <a:gd name="adj" fmla="val 8246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68096" y="5735447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8096" y="6028055"/>
            <a:ext cx="1065276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variável criada a partir da variável-resposta, ou de informação que só existiria depois da decisão, é vazamento — o assunto da Unidade 5.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3172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4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2706624"/>
            <a:ext cx="2011680" cy="27432"/>
          </a:xfrm>
          <a:prstGeom prst="rect">
            <a:avLst/>
          </a:prstGeom>
          <a:solidFill>
            <a:srgbClr val="8A7B66"/>
          </a:solidFill>
          <a:ln w="12700">
            <a:solidFill>
              <a:srgbClr val="8A7B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66928" y="2926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Transformação de dados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374904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6C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as variáveis na forma que o algoritmo consegue aproveitar: mudanças de escala, conversão de contínuo em categorias e codificação de categorias em números.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4 · 4.1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normalização redimensiona os dados de um ou mais atributos do intervalo original para o intervalo de 0 a 1, com o objetivo de alterar os valores para uma escala comum, sem distorcer as diferenças nos intervalos de valores.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39696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fórmula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2450592"/>
            <a:ext cx="4992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(x − min) / (max − min)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8096" y="2926080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Subtrai-se o valor mínimo e divide-se pelo intervalo entre máximo e mínimo. Uma alternativa mais simples é dividir todos os valores pelo máximo encontrado.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27064" y="201168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28232" y="2157984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vêm os valores extremos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28232" y="2505456"/>
            <a:ext cx="49926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utilizados os valores mínimo e máximo observáveis, sendo possível estimá-los a partir dos dados disponíveis. Também é possível definir mínimo e máximo de acordo com o conhecimento do negócio, e não simplesmente se ater aos valores observados.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362102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3986784"/>
            <a:ext cx="11055096" cy="585216"/>
          </a:xfrm>
          <a:prstGeom prst="roundRect">
            <a:avLst>
              <a:gd name="adj" fmla="val 9375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68096" y="3986784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desconhecida ou não normal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3986784"/>
            <a:ext cx="6940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boa técnica para usar quando não se conhece bem a distribuição dos dados, ou quando se sabe que a distribuição não é gaussiana.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626864"/>
            <a:ext cx="11055096" cy="585216"/>
          </a:xfrm>
          <a:prstGeom prst="roundRect">
            <a:avLst>
              <a:gd name="adj" fmla="val 9375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68096" y="4626864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faixa limitada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4626864"/>
            <a:ext cx="6940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método seguinte exige entradas em intervalo fechado — caso de várias arquiteturas de rede neural e de medidas de distância comparáveis entre variáveis.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5401056"/>
            <a:ext cx="11055096" cy="871728"/>
          </a:xfrm>
          <a:prstGeom prst="roundRect">
            <a:avLst>
              <a:gd name="adj" fmla="val 6294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68096" y="5529072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Acréscimo do professor · o efeito dos extremos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8096" y="5821680"/>
            <a:ext cx="106527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fórmula depende só do mínimo e do máximo, um único outlier comprime as demais observações: se a renda vai de 0 a 100 mil e há um registro de 8 milhões, quase todos os clientes ficam próximos de zero. Tratar o extremo antes, ou fixar o máximo por conhecimento de negócio, é preferível.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4 · 4.2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Padronização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padronização redimensiona a distribuição de um ou mais atributos dos valores observados para que eles tenham as propriedades de uma distribuição normal padrão — média 0 e desvio padrão 1.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39696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fórmulas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2468880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 = soma(x) / contagem(x)</a:t>
            </a:r>
            <a:endParaRPr lang="en-US" sz="15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desvio padrão = √( soma((x − média)²) / contagem(x) )</a:t>
            </a:r>
            <a:endParaRPr lang="en-US" sz="15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(x − média) / desvio padrão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8096" y="3712464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Calculam-se a média e o desvio padrão dos valores do atributo, subtrai-se a média de cada valor e divide-se o resultado pelo desvio padrão.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27064" y="2011680"/>
            <a:ext cx="5394960" cy="1005840"/>
          </a:xfrm>
          <a:prstGeom prst="roundRect">
            <a:avLst>
              <a:gd name="adj" fmla="val 5455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28232" y="2157984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premissa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28232" y="2505456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Pressupõe que as observações sigam uma distribuição normal — é possível padronizar sem isso, com menor eficácia.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27064" y="3108960"/>
            <a:ext cx="5394960" cy="1005840"/>
          </a:xfrm>
          <a:prstGeom prst="roundRect">
            <a:avLst>
              <a:gd name="adj" fmla="val 5455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28232" y="3255264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interpretar o valor transformado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28232" y="3602736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quantos desvios padrão separam a observação da média — o escore Z.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422452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Consequências da transformação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4553712"/>
            <a:ext cx="11055096" cy="530352"/>
          </a:xfrm>
          <a:prstGeom prst="roundRect">
            <a:avLst>
              <a:gd name="adj" fmla="val 10345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68096" y="455371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positivos e negativos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4553712"/>
            <a:ext cx="694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padronização resulta em valores positivos e negativos, pode ser interessante normalizar os dados após a padronização, se a etapa seguinte exigir faixa fechada.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5120640"/>
            <a:ext cx="11055096" cy="530352"/>
          </a:xfrm>
          <a:prstGeom prst="roundRect">
            <a:avLst>
              <a:gd name="adj" fmla="val 10345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68096" y="512064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faixa fixa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80560" y="5120640"/>
            <a:ext cx="694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Diferentemente da normalização, não há limite superior nem inferior: a amplitude do resultado depende de quão extremos são os valores observados.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5615686"/>
            <a:ext cx="11055096" cy="657098"/>
          </a:xfrm>
          <a:prstGeom prst="roundRect">
            <a:avLst>
              <a:gd name="adj" fmla="val 8349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68096" y="5743702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de implementação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8096" y="6036310"/>
            <a:ext cx="10652760" cy="199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denominador da fórmula é a contagem de observações — o mesmo divisor adotado pelo StandardScaler do scikit-learn.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4 · 4.3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normalizar e quando padronizar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orientações do material de referência para a escolha entre as duas transformações — e a ordem de investigação recomendada quando a decisão não é clara.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66928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33856" y="193852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pela forma da distribuição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33856" y="2231136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distribuição é normal, padronize. Caso contrário, normalize. É o critério mais direto e resolve a maioria dos casos.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880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66928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33856" y="284378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dúvida, normalize e teste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33856" y="3136392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problemas de modelagem preditiva são muitas vezes complexos, e nem sempre é clara a melhor transformação. Na dúvida, use a normalização; se tiver tempo, explore os modelos sem transformação, com padronização e com normalização, e veja se os resultados diferem de forma significativa e se o custo-benefício compensa.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7856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66928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33856" y="37490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Combine, se necessário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33856" y="404164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padronização resulta em valores positivos e negativos, pode ser interessante normalizar os dados após a padronização.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690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66928" y="4690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33856" y="46542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conhecimento do negócio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33856" y="4946904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possível definir os valores de mínimo e máximo de acordo com o conhecimento no negócio, e não simplesmente se ater aos valores observados.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5607431"/>
            <a:ext cx="11055096" cy="665353"/>
          </a:xfrm>
          <a:prstGeom prst="roundRect">
            <a:avLst>
              <a:gd name="adj" fmla="val 8246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68096" y="5735447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que precede todas as outras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8096" y="6028055"/>
            <a:ext cx="1065276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transformação de escala é ajustada apenas no conjunto de treino e depois aplicada ao teste — ver Unidade 5.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4 · 4.4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Discretização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discretização consiste em transformar um atributo contínuo em categorias ordinais — as chamadas bins. É a operação sugerida na Unidade 1 para a coluna age do estudo de caso.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01168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201168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 discretizado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98464" y="2011680"/>
            <a:ext cx="5751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468880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68096" y="246888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R$ 1.000,00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08960" y="246888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98464" y="2468880"/>
            <a:ext cx="5751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próximos passam a compartilhar a mesma categoria.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2944368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68096" y="294436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R$ 500,00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08960" y="29443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98464" y="2944368"/>
            <a:ext cx="5751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entre 500 e 1.000 deixa de existir para o modelo.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419856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68096" y="341985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R$ 5.000,00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108960" y="341985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98464" y="3419856"/>
            <a:ext cx="5751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faixa intermediária concentra a maior parte dos casos típicos.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3895344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68096" y="389534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R$ 10.000,00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108960" y="389534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998464" y="3895344"/>
            <a:ext cx="5751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limiar entre médio e alto é uma decisão de negócio, não estatística.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4370832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68096" y="437083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R$ 20.000,00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108960" y="437083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998464" y="4370832"/>
            <a:ext cx="5751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muito distintos tornam-se equivalentes dentro da faixa.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493776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ganha e o que se perde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66928" y="5230368"/>
            <a:ext cx="5394960" cy="1042416"/>
          </a:xfrm>
          <a:prstGeom prst="roundRect">
            <a:avLst>
              <a:gd name="adj" fmla="val 5263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768096" y="5376672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68096" y="572414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o efeito de outliers, torna a variável legível para o negócio e simplifica regras de decisão.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27064" y="5230368"/>
            <a:ext cx="5394960" cy="1042416"/>
          </a:xfrm>
          <a:prstGeom prst="roundRect">
            <a:avLst>
              <a:gd name="adj" fmla="val 5263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428232" y="5376672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28232" y="572414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 a variação interna a cada faixa e cria descontinuidades artificiais nos limites.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4 · 4.5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One-hot encoding e dummy encoding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 em transformar atributos categóricos nominais — sem ordenação existente entre eles — em colunas binárias. Para tal, é criada uma variável binária para cada valor único da variável original.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5394960" cy="1225296"/>
          </a:xfrm>
          <a:prstGeom prst="roundRect">
            <a:avLst>
              <a:gd name="adj" fmla="val 4478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21408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encoding: c colunas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2468880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atributo “cor dos olhos” com os valores azuis, verdes e castanhos teria estes valores codificados, respectivamente, para [1,0,0], [0,1,0] e [0,0,1].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27064" y="1975104"/>
            <a:ext cx="5394960" cy="1225296"/>
          </a:xfrm>
          <a:prstGeom prst="roundRect">
            <a:avLst>
              <a:gd name="adj" fmla="val 4478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28232" y="2121408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 encoding: c − 1 colunas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28232" y="2468880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[1,0,0] é azuis e [0,1,0] é verdes, não é preciso outra variável para castanhos: usa-se [0,0] — c categorias em c−1 variáveis binárias.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329184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conjunto sob as duas codificações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621024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68096" y="362102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original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23360" y="362102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(3 colunas)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27264" y="3621024"/>
            <a:ext cx="3922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 (2 colunas)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078224"/>
            <a:ext cx="11055096" cy="365760"/>
          </a:xfrm>
          <a:prstGeom prst="roundRect">
            <a:avLst>
              <a:gd name="adj" fmla="val 15000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68096" y="40782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Azuis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023360" y="40782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1  0  0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827264" y="4078224"/>
            <a:ext cx="3922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517136"/>
            <a:ext cx="11055096" cy="365760"/>
          </a:xfrm>
          <a:prstGeom prst="roundRect">
            <a:avLst>
              <a:gd name="adj" fmla="val 15000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68096" y="45171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023360" y="45171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0  1  0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827264" y="4517136"/>
            <a:ext cx="3922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0  1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4956048"/>
            <a:ext cx="11055096" cy="365760"/>
          </a:xfrm>
          <a:prstGeom prst="roundRect">
            <a:avLst>
              <a:gd name="adj" fmla="val 15000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768096" y="4956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Castanhos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023360" y="4956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0  0  1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827264" y="4956048"/>
            <a:ext cx="3922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0  — a categoria de referência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5417566"/>
            <a:ext cx="11055096" cy="855218"/>
          </a:xfrm>
          <a:prstGeom prst="roundRect">
            <a:avLst>
              <a:gd name="adj" fmla="val 6415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768096" y="5545582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redundância importa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68096" y="5838190"/>
            <a:ext cx="10652760" cy="398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última coluna do one-hot é dedutível das demais. Em modelos lineares com intercepto, essa dependência exata impede a estimação dos coeficientes — daí o dummy encoding.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4 · 4.6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Quadro-síntese das transformações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elaborado para esta aula, reunindo as quatro transformações da unidade com o tipo de variável a que se aplicam e o critério de escolha.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0482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04825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Aplica-se 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41264" y="204825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87968" y="2048256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Escolha-a quando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505456"/>
            <a:ext cx="11055096" cy="548640"/>
          </a:xfrm>
          <a:prstGeom prst="roundRect">
            <a:avLst>
              <a:gd name="adj" fmla="val 10000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68096" y="250545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91840" y="250545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541264" y="250545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os valores para o intervalo de 0 a 1 usando mínimo e máximo.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887968" y="2505456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distribuição não é normal ou é desconhecida; a etapa seguinte exige faixa fechada.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127248"/>
            <a:ext cx="11055096" cy="548640"/>
          </a:xfrm>
          <a:prstGeom prst="roundRect">
            <a:avLst>
              <a:gd name="adj" fmla="val 10000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68096" y="31272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91840" y="31272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541264" y="31272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 em média 0 e escala para desvio padrão 1.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87968" y="3127248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distribuição é aproximadamente normal; há outliers que a normalização comprimiria.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3749040"/>
            <a:ext cx="11055096" cy="548640"/>
          </a:xfrm>
          <a:prstGeom prst="roundRect">
            <a:avLst>
              <a:gd name="adj" fmla="val 10000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68096" y="3749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Discretização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91840" y="3749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541264" y="3749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 o contínuo em categorias ordinais por faixa.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887968" y="3749040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exato importa menos que a faixa; há relação não linear ou extremos implausíveis.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4370832"/>
            <a:ext cx="11055096" cy="548640"/>
          </a:xfrm>
          <a:prstGeom prst="roundRect">
            <a:avLst>
              <a:gd name="adj" fmla="val 10000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68096" y="43708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/ dummy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91840" y="43708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 nominal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541264" y="43708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 categorias em colunas binárias — c ou c−1 colunas.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887968" y="4370832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exige entrada numérica e não há ordem natural entre as categorias.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5401056"/>
            <a:ext cx="11055096" cy="871728"/>
          </a:xfrm>
          <a:prstGeom prst="roundRect">
            <a:avLst>
              <a:gd name="adj" fmla="val 6294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768096" y="5529072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advertências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68096" y="5821680"/>
            <a:ext cx="106527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Primeira: variáveis categóricas ordinais — como baixo, médio e alto — não devem ser codificadas em one-hot, porque isso descarta a ordem; nesse caso cabe uma codificação ordinal. Segunda: nenhuma dessas transformações deve ser ajustada sobre o conjunto completo, pelo motivo tratado na unidade seguinte.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31720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5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2706624"/>
            <a:ext cx="2011680" cy="27432"/>
          </a:xfrm>
          <a:prstGeom prst="rect">
            <a:avLst/>
          </a:prstGeom>
          <a:solidFill>
            <a:srgbClr val="8A7B66"/>
          </a:solidFill>
          <a:ln w="12700">
            <a:solidFill>
              <a:srgbClr val="8A7B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66928" y="2926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Vazamento de dados e prática em Python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374904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6C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correta das operações para que a avaliação do modelo continue significando alguma coisa — e a execução do pré-processamento com pandas e scikit-learn.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5 · 5.1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Atenção: cuidado com o data leakage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caso da normalização e da padronização, uma abordagem ingênua — e incorreta — para preparar dados aplica a transformação em todo o conjunto de dados antes do particionamento em bases de treino e teste.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11055096" cy="871728"/>
          </a:xfrm>
          <a:prstGeom prst="roundRect">
            <a:avLst>
              <a:gd name="adj" fmla="val 6294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03120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vazamento de dados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2395728"/>
            <a:ext cx="106527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resulta em um problema conhecido como vazamento de dados (data leakage): algum conhecimento sobre o conjunto de teste vaza para o conjunto de dados usado para treinar o modelo, podendo resultar em uma estimativa incorreta do desempenho do modelo ao fazer predições sobre novos dados.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92608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vazamento acontece na normalização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255264"/>
            <a:ext cx="5394960" cy="1499616"/>
          </a:xfrm>
          <a:prstGeom prst="roundRect">
            <a:avLst>
              <a:gd name="adj" fmla="val 3659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68096" y="3401568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operação exige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8096" y="3749040"/>
            <a:ext cx="4992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fazemos a normalização, convertemos as variáveis de entrada para um intervalo entre 0 e 1. Para tal, precisamos calcular os valores mínimo e máximo para cada variável e, então, reescalar as variáveis.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27064" y="3255264"/>
            <a:ext cx="5394960" cy="1499616"/>
          </a:xfrm>
          <a:prstGeom prst="roundRect">
            <a:avLst>
              <a:gd name="adj" fmla="val 3659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28232" y="3401568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está o erro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28232" y="3749040"/>
            <a:ext cx="4992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fizermos isso com todo o dataset e depois o particionarmos, possivelmente o conjunto de treino saberá algo sobre o conjunto de teste, pois foram utilizados os valores mínimo e máximo globais, e não apenas os do conjunto de treino.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4828032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formas do mesmo erro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5138928"/>
            <a:ext cx="11055096" cy="530352"/>
          </a:xfrm>
          <a:prstGeom prst="roundRect">
            <a:avLst>
              <a:gd name="adj" fmla="val 10345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68096" y="513892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Imputação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5138928"/>
            <a:ext cx="694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ausências com a média calculada sobre o conjunto completo carrega informação das observações de teste para o treino.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5724144"/>
            <a:ext cx="11055096" cy="530352"/>
          </a:xfrm>
          <a:prstGeom prst="roundRect">
            <a:avLst>
              <a:gd name="adj" fmla="val 10345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68096" y="572414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características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80560" y="5724144"/>
            <a:ext cx="694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variáveis pela correlação com a resposta medida no conjunto inteiro seleciona, em parte, com base no teste.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5 · 5.2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forma correta de aplicar as transformações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quatro passos indicados pelo material de referência para preparar os dados sem contaminar a avaliação do modelo.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2667762" cy="1883664"/>
          </a:xfrm>
          <a:prstGeom prst="roundRect">
            <a:avLst>
              <a:gd name="adj" fmla="val 2913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68096" y="215798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68096" y="2157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8096" y="2542032"/>
            <a:ext cx="2265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o dataset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" y="2871216"/>
            <a:ext cx="226542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os conjuntos de treino e teste antes de qualquer transformação. Esta é a primeira operação do pipeline, não a última.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64992" y="2011680"/>
            <a:ext cx="2667762" cy="1883664"/>
          </a:xfrm>
          <a:prstGeom prst="roundRect">
            <a:avLst>
              <a:gd name="adj" fmla="val 2913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566160" y="215798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566160" y="2157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2542032"/>
            <a:ext cx="2265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no treino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2871216"/>
            <a:ext cx="226542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a preparação de dados no conjunto de dados de treino — por exemplo, determinar o mínimo e o máximo desse conjunto.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63056" y="2011680"/>
            <a:ext cx="2667762" cy="1883664"/>
          </a:xfrm>
          <a:prstGeom prst="roundRect">
            <a:avLst>
              <a:gd name="adj" fmla="val 2913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364224" y="215798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364224" y="2157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64224" y="2542032"/>
            <a:ext cx="2265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separadamente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64224" y="2871216"/>
            <a:ext cx="226542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 preparação de dados no conjunto de treino e no de teste separadamente, utilizando os valores mínimo e máximo do conjunto de treino.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61120" y="2011680"/>
            <a:ext cx="2667762" cy="1883664"/>
          </a:xfrm>
          <a:prstGeom prst="roundRect">
            <a:avLst>
              <a:gd name="adj" fmla="val 2913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162288" y="215798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8A7B66"/>
          </a:solidFill>
          <a:ln w="12700">
            <a:solidFill>
              <a:srgbClr val="8A7B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162288" y="2157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62288" y="2542032"/>
            <a:ext cx="2265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 avaliar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62288" y="2871216"/>
            <a:ext cx="226542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os modelos sobre o treino transformado e avaliá-los sobre o teste transformado com os parâmetros do treino.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" y="40416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para o código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6928" y="4370832"/>
            <a:ext cx="11055096" cy="566928"/>
          </a:xfrm>
          <a:prstGeom prst="roundRect">
            <a:avLst>
              <a:gd name="adj" fmla="val 9677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768096" y="43708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no treino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80560" y="4370832"/>
            <a:ext cx="6940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método fit calcula os parâmetros da transformação — mínimo, máximo, média, desvio, categorias. Ele só pode ver o conjunto de treino.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" y="4992624"/>
            <a:ext cx="11055096" cy="566928"/>
          </a:xfrm>
          <a:prstGeom prst="roundRect">
            <a:avLst>
              <a:gd name="adj" fmla="val 9677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768096" y="499262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nos dois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480560" y="4992624"/>
            <a:ext cx="6940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método transform aplica os parâmetros já calculados. É chamado no treino e no teste, sempre com os mesmos parâmetros.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" y="5607431"/>
            <a:ext cx="11055096" cy="665353"/>
          </a:xfrm>
          <a:prstGeom prst="roundRect">
            <a:avLst>
              <a:gd name="adj" fmla="val 8246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768096" y="5735447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atalho perigoso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68096" y="6028055"/>
            <a:ext cx="1065276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fit_transform aplicado ao conjunto de teste é o erro mais comum: ele recalcula os parâmetros sobre o teste. No teste, use apenas transform.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5 · 5.3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ferramentas da prática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Podemos realizar as operações de normalização, padronização e codificação usando o módulo de pré-processamento da biblioteca scikit-learn, com o tratamento de ausências feito em pandas.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04825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204825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95744" y="2048256"/>
            <a:ext cx="4288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68096" y="250545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os dados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840480" y="250545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095744" y="2505456"/>
            <a:ext cx="4288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a coluna ao intervalo 0–1 com mín. e máx. do treino.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2980944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68096" y="298094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 os dados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40480" y="298094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095744" y="2980944"/>
            <a:ext cx="4288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 em média 0 e escala para desvio padrão 1.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456432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68096" y="345643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840480" y="345643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095744" y="3456432"/>
            <a:ext cx="4288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uma coluna binária por categoria.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3931920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68096" y="39319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 encoding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840480" y="393192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 com drop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095744" y="3931920"/>
            <a:ext cx="4288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parâmetro drop indica a categoria de referência.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4407408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68096" y="440740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Codificação ordinal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840480" y="440740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OrdinalEncoder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095744" y="4407408"/>
            <a:ext cx="4288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 a ordem entre categorias ordenadas.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4882896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768096" y="488289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ausências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840480" y="488289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dropna e fillna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095744" y="4882896"/>
            <a:ext cx="4288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ou preenche faltantes no dataframe.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5401056"/>
            <a:ext cx="11055096" cy="871728"/>
          </a:xfrm>
          <a:prstGeom prst="roundRect">
            <a:avLst>
              <a:gd name="adj" fmla="val 6294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768096" y="5529072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parâmetros do OneHotEncoder que evitam erro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68096" y="5821680"/>
            <a:ext cx="106527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ordena as categorias alfabeticamente; a lista pode ser fixada em categories, e espera-se que o treino contenha ao menos um exemplo de cada uma. Para categorias não vistas no treinamento, use handle_unknown='ignore'.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5 · 5.4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Prática: tratamento de missings no dataset iris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exemplificar a limpeza, o material de referência retoma o dataset iris usado na aula anterior, que não tem valores faltantes, e insere linhas com missings para demonstrar cada operação.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5394960" cy="1883664"/>
          </a:xfrm>
          <a:prstGeom prst="roundRect">
            <a:avLst>
              <a:gd name="adj" fmla="val 2913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39696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do dataset iris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68096" y="2432304"/>
            <a:ext cx="499262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'https://archive.ics.uci.edu/ml/machine-'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'learning-databases/iris/iris.data'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 = ['comprimento_sepala', 'largura_sepala',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'comprimento_petala', 'largura_petala',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'especie']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 = pd.read_csv(url, names=labels)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27064" y="2011680"/>
            <a:ext cx="5394960" cy="1883664"/>
          </a:xfrm>
          <a:prstGeom prst="roundRect">
            <a:avLst>
              <a:gd name="adj" fmla="val 2913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28232" y="2139696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Exclusão de linhas com ausências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28232" y="2432304"/>
            <a:ext cx="499262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FA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elimina linhas que tenham ALGUM valor missing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df.dropna(how='any')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FA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elimina apenas linhas totalmente vazias: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FA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linha com um único missing permanece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df.dropna(how='all')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df.tail()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398678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Preenchimento com valores definidos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315968"/>
            <a:ext cx="11055096" cy="1207008"/>
          </a:xfrm>
          <a:prstGeom prst="roundRect">
            <a:avLst>
              <a:gd name="adj" fmla="val 4545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68096" y="4443984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 com um dicionário de valores por coluna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68096" y="473659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FA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definindo valores para o preenchimento de missings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= {'comprimento_sepala': iris['comprimento_sepala'].median(), 'largura_sepala': 5.0,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'comprimento_petala': 4.0, 'largura_petala': 0.1, 'especie': 'Iris-setosa'}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df.fillna(value=values)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5607431"/>
            <a:ext cx="11055096" cy="665353"/>
          </a:xfrm>
          <a:prstGeom prst="roundRect">
            <a:avLst>
              <a:gd name="adj" fmla="val 8246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68096" y="5735447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das duas variantes de dropna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" y="6028055"/>
            <a:ext cx="1065276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how='any' remove a linha se houver qualquer ausência; how='all' remove apenas se todos os campos estiverem ausentes — critérios muito diferentes.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5 · 5.5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Prática: transformações numéricas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exemplificar as transformações numéricas, o material de referência utiliza um dataset pequeno e artificial, de modo que o efeito de cada operação seja fácil de notar.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3538728" cy="2103120"/>
          </a:xfrm>
          <a:prstGeom prst="roundRect">
            <a:avLst>
              <a:gd name="adj" fmla="val 2609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39696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do exemplo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68096" y="2432304"/>
            <a:ext cx="3136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np.asarray([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[100, 0.001],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  8, 0.05 ],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[ 50, 0.005],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[ 88, 0.07 ],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  4, 0.1  ]])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25112" y="2011680"/>
            <a:ext cx="3538728" cy="2103120"/>
          </a:xfrm>
          <a:prstGeom prst="roundRect">
            <a:avLst>
              <a:gd name="adj" fmla="val 2609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26280" y="2139696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26280" y="2432304"/>
            <a:ext cx="3136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\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import MinMaxScaler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MinMaxScaler()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scaled = scaler.fit_transform(data)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FA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1a coluna: 1, 0.041, 0.479,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FA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0.875, 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83296" y="2011680"/>
            <a:ext cx="3538728" cy="2103120"/>
          </a:xfrm>
          <a:prstGeom prst="roundRect">
            <a:avLst>
              <a:gd name="adj" fmla="val 2609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84464" y="2139696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84464" y="2432304"/>
            <a:ext cx="3136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\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import StandardScaler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scaled = scaler.fit_transform(data)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FA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1a coluna: 1.264, -1.062,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FA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0, 0.961, -1.163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4187952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resultados mostram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4517136"/>
            <a:ext cx="11055096" cy="548640"/>
          </a:xfrm>
          <a:prstGeom prst="roundRect">
            <a:avLst>
              <a:gd name="adj" fmla="val 10000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68096" y="45171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originais incomparáveis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80560" y="4517136"/>
            <a:ext cx="6940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coluna varia de 4 a 100 e a segunda de 0,001 a 0,1 — sem transformação, a primeira dominaria qualquer medida de distância.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5120640"/>
            <a:ext cx="11055096" cy="548640"/>
          </a:xfrm>
          <a:prstGeom prst="roundRect">
            <a:avLst>
              <a:gd name="adj" fmla="val 10000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68096" y="5120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da normalização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5120640"/>
            <a:ext cx="6940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as colunas passam a ocupar o intervalo de 0 a 1, com o mínimo em 0 e o máximo em 1, preservando as posições relativas.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5724144"/>
            <a:ext cx="11055096" cy="548640"/>
          </a:xfrm>
          <a:prstGeom prst="roundRect">
            <a:avLst>
              <a:gd name="adj" fmla="val 10000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68096" y="572414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da padronização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80560" y="5724144"/>
            <a:ext cx="6940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coluna passa a ter média 0, com valores positivos e negativos indicando a posição relativa à média em desvios padrão.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5 · 5.6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Prática: transformações categóricas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mesmas categorias submetidas às duas codificações, sobre um dataset pequeno e artificial. A diferença aparece no número de colunas geradas.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39696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68096" y="2432304"/>
            <a:ext cx="4992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OneHotEncoder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FA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definindo o transformador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 = OneHotEncoder(sparse_output=False)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onehot = encoder.fit_transform(data)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FA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[[0. 1. 0.] [0. 0. 1.] [1. 0. 0.]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FA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[1. 0. 0.] [0. 1. 0.] [1. 0. 0.]]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27064" y="201168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28232" y="2139696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 encoding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28232" y="2432304"/>
            <a:ext cx="4992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FA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mesmo transformador, com drop da 1a categoria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 = OneHotEncoder(drop='first',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sparse_output=False)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D9DC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dummy = encoder.fit_transform(data)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FA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[[1. 0.] [0. 1.] [0. 0.]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FA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[0. 0.] [1. 0.] [0. 0.]]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402336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 a saída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352544"/>
            <a:ext cx="11055096" cy="566928"/>
          </a:xfrm>
          <a:prstGeom prst="roundRect">
            <a:avLst>
              <a:gd name="adj" fmla="val 9677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68096" y="43525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colunas contra duas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4352544"/>
            <a:ext cx="6940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one-hot gera uma coluna por categoria; o dummy suprime a primeira, que passa a ser representada pela linha de zeros — a categoria de referência.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974336"/>
            <a:ext cx="11055096" cy="566928"/>
          </a:xfrm>
          <a:prstGeom prst="roundRect">
            <a:avLst>
              <a:gd name="adj" fmla="val 9677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68096" y="497433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das colunas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80560" y="4974336"/>
            <a:ext cx="6940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OneHotEncoder ordena as categorias alfabeticamente, a primeira coluna corresponde à primeira categoria em ordem alfabética, e não à primeira que aparece nos dados.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5615686"/>
            <a:ext cx="11055096" cy="657098"/>
          </a:xfrm>
          <a:prstGeom prst="roundRect">
            <a:avLst>
              <a:gd name="adj" fmla="val 8349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68096" y="5743702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de biblioteca registrada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8096" y="6036310"/>
            <a:ext cx="10652760" cy="199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material usa o parâmetro sparse; desde o scikit-learn 1.2 ele se chama sparse_output. As lâminas adotam a forma atual.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TÉCNICA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Observações e atualizações registradas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do material de referência que exigem correção ou atualização antes do uso em sala e em código. Registrados aqui com a forma original ao lado da forma correta.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11055096" cy="402336"/>
          </a:xfrm>
          <a:prstGeom prst="roundRect">
            <a:avLst>
              <a:gd name="adj" fmla="val 13636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04825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204825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aparece no material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52944" y="2048256"/>
            <a:ext cx="3831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correta e efeito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1055096" cy="493776"/>
          </a:xfrm>
          <a:prstGeom prst="roundRect">
            <a:avLst>
              <a:gd name="adj" fmla="val 11111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68096" y="2505456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da classe de padronização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74720" y="2505456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“Para padronizar os dados, usamos o StandardScale.”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552944" y="2505456"/>
            <a:ext cx="3831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é StandardScaler. Sem o r final, a importação falha.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072384"/>
            <a:ext cx="11055096" cy="493776"/>
          </a:xfrm>
          <a:prstGeom prst="roundRect">
            <a:avLst>
              <a:gd name="adj" fmla="val 11111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68096" y="3072384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Imputação em coluna categórica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74720" y="3072384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 substituir os faltantes pela média ou mediana em housing.type e recent.move.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552944" y="3072384"/>
            <a:ext cx="3831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colunas não são numéricas: cabe moda ou categoria explícita de ausência.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639312"/>
            <a:ext cx="11055096" cy="493776"/>
          </a:xfrm>
          <a:prstGeom prst="roundRect">
            <a:avLst>
              <a:gd name="adj" fmla="val 11111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68096" y="363931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“pela média”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74720" y="3639312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“Poderíamos normalizar as idades pela média.”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552944" y="3639312"/>
            <a:ext cx="3831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Subtrair a média é padronização; a normalização usa mínimo e máximo. Os efeitos são distintos.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4206240"/>
            <a:ext cx="11055096" cy="493776"/>
          </a:xfrm>
          <a:prstGeom prst="roundRect">
            <a:avLst>
              <a:gd name="adj" fmla="val 11111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68096" y="4206240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 do OneHotEncoder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474720" y="4206240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OneHotEncoder(sparse=False)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552944" y="4206240"/>
            <a:ext cx="3831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do scikit-learn 1.2, sparse_output=False.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4773168"/>
            <a:ext cx="11055096" cy="493776"/>
          </a:xfrm>
          <a:prstGeom prst="roundRect">
            <a:avLst>
              <a:gd name="adj" fmla="val 11111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68096" y="477316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 de linhas no dataframe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474720" y="477316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df.append para inserir registros de exemplo.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552944" y="4773168"/>
            <a:ext cx="3831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método foi removido no pandas 2.0: usar pd.concat.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5417566"/>
            <a:ext cx="11055096" cy="855218"/>
          </a:xfrm>
          <a:prstGeom prst="roundRect">
            <a:avLst>
              <a:gd name="adj" fmla="val 6415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768096" y="5545582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a idade máxima de 146,7 anos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68096" y="5838190"/>
            <a:ext cx="10652760" cy="398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é apresentado como possível outlier. Do ponto de vista do domínio, é uma impossibilidade — trata-se, portanto, de valor inválido, e não de outlier: a distinção da Unidade 1.2 se aplica diretamente ao caso.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DA AULA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terceira aula percorremos a etapa que prepara a matéria-prima do modelo: o diagnóstico dos problemas presentes nos dados, a limpeza, as técnicas que atuam sobre o tamanho e a forma do conjunto, as transformações de escala e de representação, e a disciplina de ordem que impede o vazamento de dados.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2121408" cy="2286000"/>
          </a:xfrm>
          <a:prstGeom prst="roundRect">
            <a:avLst>
              <a:gd name="adj" fmla="val 2586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49808" y="2249424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615184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Unidades, faltantes, inconsistentes e intervalo de valores; a proporção de ausências e a natureza da variável orientam o tratamento.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07208" y="2103120"/>
            <a:ext cx="2121408" cy="2286000"/>
          </a:xfrm>
          <a:prstGeom prst="roundRect">
            <a:avLst>
              <a:gd name="adj" fmla="val 2586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990088" y="2249424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90088" y="2615184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Redundâncias, outliers e missings, com cinco estratégias para ausências e a participação indispensável do especialista de negócio.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47488" y="2103120"/>
            <a:ext cx="2121408" cy="2286000"/>
          </a:xfrm>
          <a:prstGeom prst="roundRect">
            <a:avLst>
              <a:gd name="adj" fmla="val 2586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230368" y="2249424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e forma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30368" y="2615184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Agregação, amostragem, holdout e validação cruzada; maldição da dimensionalidade, seleção de características e criação de recursos.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87768" y="2103120"/>
            <a:ext cx="2121408" cy="2286000"/>
          </a:xfrm>
          <a:prstGeom prst="roundRect">
            <a:avLst>
              <a:gd name="adj" fmla="val 2586"/>
            </a:avLst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470648" y="2249424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70648" y="2615184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Normalização, padronização, discretização e codificação categórica, cada uma com um critério próprio de escolha.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528048" y="2103120"/>
            <a:ext cx="2121408" cy="2286000"/>
          </a:xfrm>
          <a:prstGeom prst="roundRect">
            <a:avLst>
              <a:gd name="adj" fmla="val 2586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710928" y="2249424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correta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710928" y="2615184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Dividir, ajustar no treino, aplicar separadamente e avaliar — a sequência que preserva o significado da estimativa de desempenho.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572000"/>
            <a:ext cx="11055096" cy="871728"/>
          </a:xfrm>
          <a:prstGeom prst="roundRect">
            <a:avLst>
              <a:gd name="adj" fmla="val 6294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68096" y="4700016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fio que atravessa a aula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8096" y="4992624"/>
            <a:ext cx="106527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pior a qualidade dos dados, pior será a qualidade dos modelos gerados. O pré-processamento não é uma etapa preparatória menor: é onde a maior parte do resultado é decidida, e a única em que o conhecimento do domínio entra no modelo de forma explícita.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5504688"/>
            <a:ext cx="11055096" cy="658368"/>
          </a:xfrm>
          <a:prstGeom prst="roundRect">
            <a:avLst>
              <a:gd name="adj" fmla="val 8333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68096" y="550468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refletir: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03120" y="5504688"/>
            <a:ext cx="9317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cuidados devemos ter quando executamos as técnicas de pré-processamento de dados, e quais são as consequências da sua não utilização?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E FONTES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Créditos do conteúdo e leituras de apoio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36422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— Módulo 3  ·  Aula de PSP8  ·  Prof. Dr. André Serrano — EPR/FT/UnB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364224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7589520" cy="1325880"/>
          </a:xfrm>
          <a:prstGeom prst="roundRect">
            <a:avLst>
              <a:gd name="adj" fmla="val 4138"/>
            </a:avLst>
          </a:prstGeom>
          <a:solidFill>
            <a:srgbClr val="F0F1F2"/>
          </a:solidFill>
          <a:ln w="12700">
            <a:solidFill>
              <a:srgbClr val="F0F1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68096" y="1627632"/>
            <a:ext cx="7187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de referência desta aula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" y="1956816"/>
            <a:ext cx="7187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— “Pré-processamento de dados”, do material “Análise exploratória e pré-processamento de dados”, da trilha de Ciência </a:t>
            </a:r>
            <a:r>
              <a:rPr lang="en-US" sz="110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Dados— </a:t>
            </a:r>
            <a:r>
              <a:rPr lang="en-US" sz="110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trilha que serve de referência aos módulos anteriores de PSP8. Inclui o estudo de caso do banco de crédito alemão, adaptado do UCI Machine Learning Repository, e a prática em Python com os datasets iris, diabetes e breast cancer.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9260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Leituras de apoio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32004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ESCOVEDO, T.; KOSHIYAMA, A. Introdução a Data Science: algoritmos de Machine Learning e métodos de análise. Casa do Código.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362102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HAN, J.; KAMBER, M.; PEI, J. Data Mining: Concepts and Techniques. Elsevier, 2011.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404164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TAN, P.-N.; STEINBACH, M.; KUMAR, V. Introduction to Data Mining. Pearson, 2019.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446227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GÉRON, A. Hands-On Machine Learning with Scikit-Learn, Keras and TensorFlow. O'Reilly Media, 2022.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488289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PEDREGOSA, F. et al. Scikit-learn: Machine Learning in Python. JMLR, v. 12, 2011 — documentação do módulo sklearn.preprocessing.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53035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C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MACHINE LEARNING REPOSITORY. Statlog (German Credit Data) e Iris Data Set.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576072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6F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apresentação reorganiza e amplia o conteúdo da aula de referência para uso didático em PSP8. Os quadros-síntese, as tabelas comparativas, o gráfico de ausências e as observações da lâmina de revisão técnica foram elaborados pelo professor.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95360" y="1481328"/>
            <a:ext cx="3026664" cy="3383280"/>
          </a:xfrm>
          <a:prstGeom prst="roundRect">
            <a:avLst>
              <a:gd name="adj" fmla="val 1813"/>
            </a:avLst>
          </a:prstGeom>
          <a:solidFill>
            <a:srgbClr val="23272A"/>
          </a:solidFill>
          <a:ln w="12700">
            <a:solidFill>
              <a:srgbClr val="232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796528" y="1664208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A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e revisão técnica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96528" y="1975104"/>
            <a:ext cx="2624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Prof. Dr.</a:t>
            </a:r>
            <a:endParaRPr lang="en-US" sz="2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André Serrano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796528" y="2889504"/>
            <a:ext cx="2624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B4B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Engenharia de Produção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B4B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Faculdade de Tecnologia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B4B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de Brasília (UnB)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96528" y="3895344"/>
            <a:ext cx="2624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8B9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PSP8 · Módulo 3 da trilha de Ciência de Dados · Material didático preparado a partir da aula de referência, com acréscimo de quadros-síntese, tabelas comparativas e notas de aula.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12542</Words>
  <Application>Microsoft Office PowerPoint</Application>
  <PresentationFormat>Widescreen</PresentationFormat>
  <Paragraphs>932</Paragraphs>
  <Slides>43</Slides>
  <Notes>43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PSP8 — Módulo 3: Pré-processamento de dados</dc:title>
  <dc:subject>PptxGenJS Presentation</dc:subject>
  <dc:creator>Prof. Dr. André Serrano — EPR/FT/UnB</dc:creator>
  <cp:lastModifiedBy>andre serrano</cp:lastModifiedBy>
  <cp:revision>2</cp:revision>
  <dcterms:created xsi:type="dcterms:W3CDTF">2026-08-21T14:06:35Z</dcterms:created>
  <dcterms:modified xsi:type="dcterms:W3CDTF">2026-08-21T14:13:42Z</dcterms:modified>
</cp:coreProperties>
</file>