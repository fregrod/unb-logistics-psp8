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41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do Módulo 1 da trilha de PSP8. A aula faz o primeiro contato com o conceito de ciência de dados: contextualiza o cenário atual, apresenta desafios, técnicas e ferramentas, diferencia os tipos de problema de aprendizado de máquina e percorre as sete etapas de um projeto. O material de referência é a aula de Tatiana Escovedo, professora do Departamento de Informática da PUC-Rio, com participação de Arthur Barbosa, coordenador de dados e analytics na Petrobras; esta apresentação reorganiza e amplia esse conteúdo para uso em sala, com créditos registrados na lâmina final.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três objetivos são os declarados no material de referência. A pergunta condutora costura as cinco unidades: a Unidade 1 descreve o cenário e os conceitos; a 2 formaliza o processo de descoberta de conhecimento; a 3 trata da matéria-prima e de onde ela é armazenada; a 4 apresenta as famílias de problema; a 5 organiza tudo em um ciclo de projeto.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da aula. O card final antecipa a tese central do material de referência e convém repeti-la ao longo da exposição: executar um algoritmo não é fazer ciência de dados. O que caracteriza o campo é o ciclo completo — entender o problema, obter e preparar dados, modelar, avaliar, comunicar e implantar.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da unidade. O objetivo é organizar um vocabulário que circula de forma imprecisa no mercado — os termos não são sinônimos e têm relações de contenção bem definidas.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números citados são os do material de referência e devem ser apresentados como ordens de grandeza, não como medidas exatas: estimativas de volume global de dados variam bastante entre fontes e envelhecem rápido. O que importa didaticamente é a natureza exponencial do crescimento e a impossibilidade prática de tratar esse volume manualmente — que é o argumento para a automação discutida na lâmina seguinte.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 mencionar que a literatura ampliou a lista original dos três V — veracidade e valor são as adições mais frequentes —, mas a formulação de Laney com volume, velocidade e variedade continua sendo a referência. Do ponto de vista prático de engenharia, o V que mais frequentemente determina a arquitetura escolhida é a velocidade, porque distingue processamento em lote de processamento em fluxo.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relação a fixar: Data Mining é um processo com objetivo de negócio; Machine Learning é um conjunto de técnicas que o processo emprega. Confundi-los leva ao erro comum de acreditar que aplicar um algoritmo equivale a minerar dados — sem definição do problema, seleção e preparação, o algoritmo produz saída, mas não descoberta.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escala de análise — descritiva, diagnóstica, preditiva e prescritiva — é a espinha dorsal da unidade 4 desta aula, e convém apresentá-la aqui apenas em panorama. Sobre a matéria-prima, vale antecipar o dado de campo mais citado na área: a preparação costuma consumir a maior parte do tempo de um projeto, e é a etapa que menos aparece nas apresentações de resultado.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lâmina é útil para dimensionar expectativas: o estudante que domina estatística clássica já domina boa parte do instrumental de Machine Learning. O que mudou foi a escala dos dados, o custo do processamento e a disponibilidade de ferramentas — e, mais recentemente, arquiteturas de rede profunda que de fato representam avanço teórico, sobretudo em dados não estruturados.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cinco disciplinas são as citadas no material de referência; as duas competências adicionais foram acrescentadas nesta aula. Vale advertir que a expectativa de domínio simultâneo e profundo de todas elas é irrealista para um único profissional — na prática das organizações, o trabalho é de equipe, e o que se exige de cada integrante é fluência suficiente para dialogar com as demais especialidades.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material de referência apresenta os exemplos em um podcast de cerca de dois minutos e encoraja o estudante a pesquisar outras áreas beneficiadas. Os seis domínios desta lâmina foram organizados para esta aula, com ênfase em setores próximos à engenharia de produção — indústria, energia, logística e setor público —, de modo a facilitar a conexão com a trajetória da turma.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da unidade. O ponto central: em problemas de ciência de dados, o valor dos dados armazenados está diretamente ligado à capacidade de extrair deles conhecimento de alto nível.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progressão dado → informação → conhecimento é clássica na literatura de sistemas de informação e costuma aparecer com um quarto nível, a sabedoria, que corresponde ao julgamento sobre o que fazer com o conhecimento disponível. O material de referência ilustra a progressão graficamente: pontos dispersos, depois coloridos por categoria e, por fim, conectados por relações.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definição envolve profissionais distintos: o analista e/ou o cientista de dados para analisar os dados e construir os modelos, e o especialista de domínio para interpretar os resultados. Convém sublinhar que 'iterativo' e 'interativo' não são sinônimos e ambos constam da definição: o primeiro se refere a voltar etapas; o segundo, à participação humana ao longo do processo.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nota final é um acréscimo desta aula e antecipa um tema que reaparece em módulos avançados: em espaços de alta dimensão, as distâncias entre observações tendem a se uniformizar, o que degrada métodos baseados em vizinhança e reforça a importância da seleção de atributos.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Devem-se definir previamente a tarefa a ser executada e a expectativa dos conhecedores do domínio: taxa de erro aceitável, necessidade de o modelo ser transparente para os especialistas, natureza das variáveis envolvidas. Vale destacar o requisito de transparência: em crédito e em saúde, um modelo mais preciso porém inexplicável pode ser inaceitável do ponto de vista regulatório, ainda que tecnicamente superior.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lâmina é a que melhor traduz a diferença entre o exercício acadêmico e o projeto real. Em sala, é comum receber um conjunto limpo e uma pergunta pronta; na organização, ambos precisam ser construídos, e é aí que a maior parte do trabalho acontece.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da unidade. O critério que organiza tudo aqui é o grau de estruturação, que determina tanto a dificuldade do trabalho quanto o tipo de repositório adequado.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percentual de 80% é uma estimativa amplamente citada no setor e deve ser apresentado como ordem de grandeza. O ponto didático relevante é que o crescimento recente do volume global de dados vem majoritariamente de fontes não estruturadas — vídeo, imagem, sensores e texto —, o que explica a centralidade que aprendizado profundo assumiu na última década.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oposição resume-se ao momento em que o esquema é imposto: antes da gravação, no Data Warehouse; no momento da leitura, no Data Lake. A flexibilidade do segundo tem contrapartida conhecida: sem governança, catálogo e controle de qualidade, o repositório degenera no que o mercado chama de pântano de dados, em que tudo está guardado e nada é confiável — versão contemporânea do 'bando de dados' discutido na Unidade 1.</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da unidade. Aqui se responde à pergunta que o estudante faz ao encontrar um problema real: que tipo de problema é este e, portanto, que família de técnica se aplica.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quadro reproduz a escada de análise apresentada no material de referência, que separa o BI tradicional — descritivo e diagnóstico — da ciência de dados — preditiva e prescritiva. Convém observar que a fronteira é mais didática do que prática: uma boa análise descritiva já exige tratamento estatístico cuidadoso, e muitos projetos rotulados como preditivos entregam, na verdade, diagnóstico bem-feito.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Convém mencionar que existem famílias intermediárias e adicionais não cobertas nesta aula introdutória: o aprendizado semissupervisionado, que combina poucos dados rotulados com muitos não rotulados, e o aprendizado por reforço, em que o agente aprende por tentativa e erro a partir de recompensas. A avaliação de resultados não supervisionados é o ponto mais delicado: sem rótulo, a validação depende de métricas internas e, sobretudo, do julgamento do especialista de domínio.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material de referência registra que o conjunto de teste também aparece na literatura como conjunto de validação. Vale esclarecer que, em textos mais recentes, os dois termos designam conjuntos distintos: validação para ajuste de hiperparâmetros e teste para a avaliação final e única do modelo escolhido. A distinção importa porque usar o conjunto de teste repetidamente para ajustar decisões o contamina e volta a inflar o desempenho medido.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desbalanceamento mencionado na faixa é um acréscimo desta aula e merece um minuto: em detecção de fraude, um modelo que classifica tudo como legítimo pode alcançar acurácia altíssima e ser completamente inútil. Precisão, revocação e a área sob a curva são as métricas apropriadas nesses casos, tema retomado em módulos posteriores.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material de referência ilustra a regressão com um gráfico de dispersão e reta ajustada. Vale destacar que regressão linear, além de técnica preditiva, é ferramenta explicativa: os coeficientes informam a direção e a magnitude da relação entre cada atributo e a saída, o que a torna atraente em contextos que exigem transparência.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ressalva sobre avaliação por especialista é central: em clusterização, o algoritmo sempre devolve grupos, mesmo quando não há estrutura real nos dados. Cabe ao conhecedor do domínio julgar se a partição encontrada é interpretável e acionável. Em associação, o alerta equivalente é o de que coocorrência não é causalidade — a regra descreve o que acontece junto, não o que provoca o quê.</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Quadro elaborado para esta aula. É o slide de consulta rápida da unidade e o roteiro sugerido para o exercício em sala: apresentar quatro situações curtas de negócio e pedir que a turma classifique cada uma antes de discutir técnica. O diagnóstico do tipo de problema é onde reside a dificuldade real; a escolha do algoritmo vem depois e é comparativamente simples.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da unidade final. O material de referência insiste que, tanto em KDD quanto em Machine Learning, a construção do modelo é apenas uma parte do trabalho — e raramente a que determina o sucesso do projeto.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caráter iterativo é o traço mais importante do esquema e o mais frequentemente ignorado em planejamento de projeto. Sobre a última linha: modelos degradam com o tempo porque a realidade que os gerou muda — fenômeno conhecido como deriva de dados ou de conceito. Um modelo de crédito calibrado antes de uma crise econômica deixa de descrever o comportamento dos clientes depois dela.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material de referência apresenta as sete etapas em blocos expansíveis; o detalhamento desta lâmina e da seguinte foi redigido para esta aula a partir da narrativa do próprio texto, que descreve o encadeamento — entender o problema, coletar e analisar, preparar, construir o modelo, avaliar e criticar, apresentar e distribuir com monitoramento.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etapa 7 é a que aproxima ciência de dados de engenharia de software: implantar e monitorar exige versionamento, integração com sistemas existentes, controle de latência e registro de desempenho ao longo do tempo. Não por acaso, a autora do material de referência dedica um livro inteiro a boas práticas de engenharia de software aplicadas à construção de sistemas de aprendizado de máquina.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questão do card final é a proposta de reflexão do material de referência, apresentada após o depoimento de Arthur Barbosa sobre a importância de enxergar dados como ativos das empresas. É um bom encerramento participativo: pedir que dois ou três estudantes relatem o estágio de maturidade analítica das organizações em que atuam costuma render discussão mais concreta do que qualquer definição de cultura data driven.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Fecho da aula. Vale encerrar retomando a pergunta condutora e a resposta construída ao longo das cinco unidades: o que transforma registros brutos em conhecimento é um processo — com objetivos declarados, dados preparados, método adequado ao tipo de problema e alguém capaz de interpretar e comunicar o resultado.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Lâmina de créditos. Convém deixar explícito à turma, no início e no fim da aula, que o conteúdo de referência é de autoria de Tatiana Escovedo e que esta apresentação é uma reorganização didática, com acréscimos identificados. As duas primeiras leituras de apoio são de autoria da própria professora e são o caminho natural para quem quiser aprofundar tanto os algoritmos quanto as práticas de engenharia aplicadas a sistemas de aprendizado de máquina.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72A"/>
        </a:solidFill>
        <a:effectLst/>
      </p:bgPr>
    </p:bg>
    <p:spTree>
      <p:nvGrpSpPr>
        <p:cNvPr id="1" name=""/>
        <p:cNvGrpSpPr/>
        <p:nvPr/>
      </p:nvGrpSpPr>
      <p:grpSpPr>
        <a:xfrm>
          <a:off x="0" y="0"/>
          <a:ext cx="0" cy="0"/>
          <a:chOff x="0" y="0"/>
          <a:chExt cx="0" cy="0"/>
        </a:xfrm>
      </p:grpSpPr>
      <p:sp>
        <p:nvSpPr>
          <p:cNvPr id="2" name="Text 0"/>
          <p:cNvSpPr/>
          <p:nvPr/>
        </p:nvSpPr>
        <p:spPr>
          <a:xfrm>
            <a:off x="566928" y="1234440"/>
            <a:ext cx="10058400" cy="457200"/>
          </a:xfrm>
          <a:prstGeom prst="rect">
            <a:avLst/>
          </a:prstGeom>
          <a:noFill/>
          <a:ln/>
        </p:spPr>
        <p:txBody>
          <a:bodyPr wrap="square" lIns="0" tIns="0" rIns="0" bIns="0" rtlCol="0" anchor="ctr"/>
          <a:lstStyle/>
          <a:p>
            <a:pPr marL="0" indent="0">
              <a:buNone/>
            </a:pPr>
            <a:r>
              <a:rPr lang="en-US" sz="2000" b="1" kern="0" spc="400" dirty="0">
                <a:solidFill>
                  <a:srgbClr val="8A7B66"/>
                </a:solidFill>
                <a:latin typeface="Calibri" pitchFamily="34" charset="0"/>
                <a:ea typeface="Calibri" pitchFamily="34" charset="-122"/>
                <a:cs typeface="Calibri" pitchFamily="34" charset="-120"/>
              </a:rPr>
              <a:t>AULA DE PSP8</a:t>
            </a:r>
            <a:endParaRPr lang="en-US" sz="2000" dirty="0"/>
          </a:p>
        </p:txBody>
      </p:sp>
      <p:sp>
        <p:nvSpPr>
          <p:cNvPr id="3" name="Shape 1"/>
          <p:cNvSpPr/>
          <p:nvPr/>
        </p:nvSpPr>
        <p:spPr>
          <a:xfrm>
            <a:off x="566928" y="1810512"/>
            <a:ext cx="2011680" cy="27432"/>
          </a:xfrm>
          <a:prstGeom prst="rect">
            <a:avLst/>
          </a:prstGeom>
          <a:solidFill>
            <a:srgbClr val="8A7B66"/>
          </a:solidFill>
          <a:ln w="12700">
            <a:solidFill>
              <a:srgbClr val="8A7B66"/>
            </a:solidFill>
            <a:prstDash val="solid"/>
          </a:ln>
        </p:spPr>
        <p:txBody>
          <a:bodyPr/>
          <a:lstStyle/>
          <a:p>
            <a:endParaRPr lang="pt-BR"/>
          </a:p>
        </p:txBody>
      </p:sp>
      <p:sp>
        <p:nvSpPr>
          <p:cNvPr id="4" name="Text 2"/>
          <p:cNvSpPr/>
          <p:nvPr/>
        </p:nvSpPr>
        <p:spPr>
          <a:xfrm>
            <a:off x="566928" y="1901952"/>
            <a:ext cx="10607040" cy="1298448"/>
          </a:xfrm>
          <a:prstGeom prst="rect">
            <a:avLst/>
          </a:prstGeom>
          <a:noFill/>
          <a:ln/>
        </p:spPr>
        <p:txBody>
          <a:bodyPr wrap="square" lIns="0" tIns="0" rIns="0" bIns="0" rtlCol="0" anchor="ctr"/>
          <a:lstStyle/>
          <a:p>
            <a:pPr marL="0" indent="0">
              <a:lnSpc>
                <a:spcPct val="102000"/>
              </a:lnSpc>
              <a:buNone/>
            </a:pPr>
            <a:r>
              <a:rPr lang="en-US" sz="4200" b="1" dirty="0">
                <a:solidFill>
                  <a:srgbClr val="FFFFFF"/>
                </a:solidFill>
                <a:latin typeface="Cambria" pitchFamily="34" charset="0"/>
                <a:ea typeface="Cambria" pitchFamily="34" charset="-122"/>
                <a:cs typeface="Cambria" pitchFamily="34" charset="-120"/>
              </a:rPr>
              <a:t>Introdução e aplicações</a:t>
            </a:r>
            <a:endParaRPr lang="en-US" sz="4200" dirty="0"/>
          </a:p>
          <a:p>
            <a:pPr marL="0" indent="0">
              <a:lnSpc>
                <a:spcPct val="102000"/>
              </a:lnSpc>
              <a:buNone/>
            </a:pPr>
            <a:r>
              <a:rPr lang="en-US" sz="4200" b="1" dirty="0">
                <a:solidFill>
                  <a:srgbClr val="FFFFFF"/>
                </a:solidFill>
                <a:latin typeface="Cambria" pitchFamily="34" charset="0"/>
                <a:ea typeface="Cambria" pitchFamily="34" charset="-122"/>
                <a:cs typeface="Cambria" pitchFamily="34" charset="-120"/>
              </a:rPr>
              <a:t>de ciência de dados</a:t>
            </a:r>
            <a:endParaRPr lang="en-US" sz="4200" dirty="0"/>
          </a:p>
        </p:txBody>
      </p:sp>
      <p:sp>
        <p:nvSpPr>
          <p:cNvPr id="5" name="Text 3"/>
          <p:cNvSpPr/>
          <p:nvPr/>
        </p:nvSpPr>
        <p:spPr>
          <a:xfrm>
            <a:off x="566928" y="3255264"/>
            <a:ext cx="10424160" cy="548640"/>
          </a:xfrm>
          <a:prstGeom prst="rect">
            <a:avLst/>
          </a:prstGeom>
          <a:noFill/>
          <a:ln/>
        </p:spPr>
        <p:txBody>
          <a:bodyPr wrap="square" lIns="0" tIns="0" rIns="0" bIns="0" rtlCol="0" anchor="ctr"/>
          <a:lstStyle/>
          <a:p>
            <a:pPr marL="0" indent="0">
              <a:buNone/>
            </a:pPr>
            <a:r>
              <a:rPr lang="en-US" sz="1700" dirty="0">
                <a:solidFill>
                  <a:srgbClr val="C6CACD"/>
                </a:solidFill>
                <a:latin typeface="Cambria" pitchFamily="34" charset="0"/>
                <a:ea typeface="Cambria" pitchFamily="34" charset="-122"/>
                <a:cs typeface="Cambria" pitchFamily="34" charset="-120"/>
              </a:rPr>
              <a:t>Cenário e conceitos, descoberta de conhecimento em bases de dados, tipos de dados e repositórios, aprendizado supervisionado e não supervisionado, e as sete etapas de um projeto</a:t>
            </a:r>
            <a:endParaRPr lang="en-US" sz="1700" dirty="0"/>
          </a:p>
        </p:txBody>
      </p:sp>
      <p:sp>
        <p:nvSpPr>
          <p:cNvPr id="6" name="Text 4"/>
          <p:cNvSpPr/>
          <p:nvPr/>
        </p:nvSpPr>
        <p:spPr>
          <a:xfrm>
            <a:off x="566928" y="3803904"/>
            <a:ext cx="9875520" cy="329184"/>
          </a:xfrm>
          <a:prstGeom prst="rect">
            <a:avLst/>
          </a:prstGeom>
          <a:noFill/>
          <a:ln/>
        </p:spPr>
        <p:txBody>
          <a:bodyPr wrap="square" lIns="0" tIns="0" rIns="0" bIns="0" rtlCol="0" anchor="ctr"/>
          <a:lstStyle/>
          <a:p>
            <a:pPr marL="0" indent="0">
              <a:buNone/>
            </a:pPr>
            <a:r>
              <a:rPr lang="en-US" sz="1300" dirty="0">
                <a:solidFill>
                  <a:srgbClr val="9AA1A7"/>
                </a:solidFill>
                <a:latin typeface="Calibri" pitchFamily="34" charset="0"/>
                <a:ea typeface="Calibri" pitchFamily="34" charset="-122"/>
                <a:cs typeface="Calibri" pitchFamily="34" charset="-120"/>
              </a:rPr>
              <a:t>Módulo 1 — Trilha de Ciência de Dados (PSP8)  ·  Material didático de apoio</a:t>
            </a:r>
            <a:endParaRPr lang="en-US" sz="1300" dirty="0"/>
          </a:p>
        </p:txBody>
      </p:sp>
      <p:sp>
        <p:nvSpPr>
          <p:cNvPr id="7" name="Shape 5"/>
          <p:cNvSpPr/>
          <p:nvPr/>
        </p:nvSpPr>
        <p:spPr>
          <a:xfrm>
            <a:off x="566928" y="4206240"/>
            <a:ext cx="6766560" cy="1417320"/>
          </a:xfrm>
          <a:prstGeom prst="roundRect">
            <a:avLst>
              <a:gd name="adj" fmla="val 3871"/>
            </a:avLst>
          </a:prstGeom>
          <a:solidFill>
            <a:srgbClr val="2F3438"/>
          </a:solidFill>
          <a:ln w="12700">
            <a:solidFill>
              <a:srgbClr val="2F3438"/>
            </a:solidFill>
            <a:prstDash val="solid"/>
          </a:ln>
        </p:spPr>
        <p:txBody>
          <a:bodyPr/>
          <a:lstStyle/>
          <a:p>
            <a:endParaRPr lang="pt-BR"/>
          </a:p>
        </p:txBody>
      </p:sp>
      <p:sp>
        <p:nvSpPr>
          <p:cNvPr id="8" name="Text 6"/>
          <p:cNvSpPr/>
          <p:nvPr/>
        </p:nvSpPr>
        <p:spPr>
          <a:xfrm>
            <a:off x="841248" y="4370832"/>
            <a:ext cx="6217920" cy="256032"/>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Elaboração da aula e revisão técnica</a:t>
            </a:r>
            <a:endParaRPr lang="en-US" sz="1050" dirty="0"/>
          </a:p>
        </p:txBody>
      </p:sp>
      <p:sp>
        <p:nvSpPr>
          <p:cNvPr id="9" name="Text 7"/>
          <p:cNvSpPr/>
          <p:nvPr/>
        </p:nvSpPr>
        <p:spPr>
          <a:xfrm>
            <a:off x="841248" y="4645152"/>
            <a:ext cx="6217920" cy="402336"/>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Prof. Dr. André Serrano</a:t>
            </a:r>
            <a:endParaRPr lang="en-US" sz="2200" dirty="0"/>
          </a:p>
        </p:txBody>
      </p:sp>
      <p:sp>
        <p:nvSpPr>
          <p:cNvPr id="10" name="Text 8"/>
          <p:cNvSpPr/>
          <p:nvPr/>
        </p:nvSpPr>
        <p:spPr>
          <a:xfrm>
            <a:off x="841248" y="5047488"/>
            <a:ext cx="6217920" cy="457200"/>
          </a:xfrm>
          <a:prstGeom prst="rect">
            <a:avLst/>
          </a:prstGeom>
          <a:noFill/>
          <a:ln/>
        </p:spPr>
        <p:txBody>
          <a:bodyPr wrap="square" lIns="0" tIns="0" rIns="0" bIns="0" rtlCol="0" anchor="t"/>
          <a:lstStyle/>
          <a:p>
            <a:pPr marL="0" indent="0">
              <a:lnSpc>
                <a:spcPct val="106000"/>
              </a:lnSpc>
              <a:buNone/>
            </a:pPr>
            <a:r>
              <a:rPr lang="en-US" sz="1250" dirty="0">
                <a:solidFill>
                  <a:srgbClr val="B4B9BD"/>
                </a:solidFill>
                <a:latin typeface="Calibri" pitchFamily="34" charset="0"/>
                <a:ea typeface="Calibri" pitchFamily="34" charset="-122"/>
                <a:cs typeface="Calibri" pitchFamily="34" charset="-120"/>
              </a:rPr>
              <a:t>Departamento de Engenharia de Produção — Faculdade de Tecnologia</a:t>
            </a:r>
            <a:endParaRPr lang="en-US" sz="1250" dirty="0"/>
          </a:p>
          <a:p>
            <a:pPr marL="0" indent="0">
              <a:lnSpc>
                <a:spcPct val="106000"/>
              </a:lnSpc>
              <a:buNone/>
            </a:pPr>
            <a:r>
              <a:rPr lang="en-US" sz="1250" dirty="0">
                <a:solidFill>
                  <a:srgbClr val="B4B9BD"/>
                </a:solidFill>
                <a:latin typeface="Calibri" pitchFamily="34" charset="0"/>
                <a:ea typeface="Calibri" pitchFamily="34" charset="-122"/>
                <a:cs typeface="Calibri" pitchFamily="34" charset="-120"/>
              </a:rPr>
              <a:t>Universidade de Brasília (UnB)</a:t>
            </a:r>
            <a:endParaRPr lang="en-US" sz="1250" dirty="0"/>
          </a:p>
        </p:txBody>
      </p:sp>
      <p:sp>
        <p:nvSpPr>
          <p:cNvPr id="11" name="Text 9"/>
          <p:cNvSpPr/>
          <p:nvPr/>
        </p:nvSpPr>
        <p:spPr>
          <a:xfrm>
            <a:off x="7772400" y="5257800"/>
            <a:ext cx="3840480" cy="274320"/>
          </a:xfrm>
          <a:prstGeom prst="rect">
            <a:avLst/>
          </a:prstGeom>
          <a:noFill/>
          <a:ln/>
        </p:spPr>
        <p:txBody>
          <a:bodyPr wrap="square" lIns="0" tIns="0" rIns="0" bIns="0" rtlCol="0" anchor="ctr"/>
          <a:lstStyle/>
          <a:p>
            <a:pPr marL="0" indent="0" algn="r">
              <a:buNone/>
            </a:pPr>
            <a:r>
              <a:rPr lang="en-US" sz="1200" dirty="0">
                <a:solidFill>
                  <a:srgbClr val="8B9297"/>
                </a:solidFill>
                <a:latin typeface="Calibri" pitchFamily="34" charset="0"/>
                <a:ea typeface="Calibri" pitchFamily="34" charset="-122"/>
                <a:cs typeface="Calibri" pitchFamily="34" charset="-120"/>
              </a:rPr>
              <a:t>Brasília — 2026</a:t>
            </a:r>
            <a:endParaRPr lang="en-US" sz="1200" dirty="0"/>
          </a:p>
        </p:txBody>
      </p:sp>
      <p:sp>
        <p:nvSpPr>
          <p:cNvPr id="12" name="Shape 10"/>
          <p:cNvSpPr/>
          <p:nvPr/>
        </p:nvSpPr>
        <p:spPr>
          <a:xfrm>
            <a:off x="7589520" y="4206240"/>
            <a:ext cx="4032504" cy="914400"/>
          </a:xfrm>
          <a:prstGeom prst="roundRect">
            <a:avLst>
              <a:gd name="adj" fmla="val 6000"/>
            </a:avLst>
          </a:prstGeom>
          <a:solidFill>
            <a:srgbClr val="2F3438"/>
          </a:solidFill>
          <a:ln w="12700">
            <a:solidFill>
              <a:srgbClr val="2F3438"/>
            </a:solidFill>
            <a:prstDash val="solid"/>
          </a:ln>
        </p:spPr>
        <p:txBody>
          <a:bodyPr/>
          <a:lstStyle/>
          <a:p>
            <a:endParaRPr lang="pt-B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APRESENTAÇÃO DA AULA</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Objetivos de aprendizagem</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Ao final desta aula, espera-se que o estudante seja capaz de:</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66928" y="2066544"/>
            <a:ext cx="420624" cy="420624"/>
          </a:xfrm>
          <a:prstGeom prst="roundRect">
            <a:avLst>
              <a:gd name="adj" fmla="val 13043"/>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566928" y="206654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a:t>
            </a:r>
            <a:endParaRPr lang="en-US" sz="1200" dirty="0"/>
          </a:p>
        </p:txBody>
      </p:sp>
      <p:sp>
        <p:nvSpPr>
          <p:cNvPr id="9" name="Text 7"/>
          <p:cNvSpPr/>
          <p:nvPr/>
        </p:nvSpPr>
        <p:spPr>
          <a:xfrm>
            <a:off x="1188720" y="2011680"/>
            <a:ext cx="6949440" cy="274320"/>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Compreender o contexto do campo</a:t>
            </a:r>
            <a:endParaRPr lang="en-US" sz="1500" dirty="0"/>
          </a:p>
        </p:txBody>
      </p:sp>
      <p:sp>
        <p:nvSpPr>
          <p:cNvPr id="10" name="Text 8"/>
          <p:cNvSpPr/>
          <p:nvPr/>
        </p:nvSpPr>
        <p:spPr>
          <a:xfrm>
            <a:off x="1188720" y="2304288"/>
            <a:ext cx="7223760" cy="603504"/>
          </a:xfrm>
          <a:prstGeom prst="rect">
            <a:avLst/>
          </a:prstGeom>
          <a:noFill/>
          <a:ln/>
        </p:spPr>
        <p:txBody>
          <a:bodyPr wrap="square" lIns="0" tIns="0" rIns="0" bIns="0" rtlCol="0" anchor="t"/>
          <a:lstStyle/>
          <a:p>
            <a:pPr marL="0" indent="0">
              <a:lnSpc>
                <a:spcPct val="106000"/>
              </a:lnSpc>
              <a:buNone/>
            </a:pPr>
            <a:r>
              <a:rPr lang="en-US" sz="1250" dirty="0">
                <a:solidFill>
                  <a:srgbClr val="6F7880"/>
                </a:solidFill>
                <a:latin typeface="Calibri" pitchFamily="34" charset="0"/>
                <a:ea typeface="Calibri" pitchFamily="34" charset="-122"/>
                <a:cs typeface="Calibri" pitchFamily="34" charset="-120"/>
              </a:rPr>
              <a:t>Situar a ciência de dados no cenário atual de crescimento exponencial de bases de dados e reconhecer habilidades, desafios, técnicas e ferramentas envolvidas.</a:t>
            </a:r>
            <a:endParaRPr lang="en-US" sz="1250" dirty="0"/>
          </a:p>
        </p:txBody>
      </p:sp>
      <p:sp>
        <p:nvSpPr>
          <p:cNvPr id="11" name="Shape 9"/>
          <p:cNvSpPr/>
          <p:nvPr/>
        </p:nvSpPr>
        <p:spPr>
          <a:xfrm>
            <a:off x="566928" y="3163824"/>
            <a:ext cx="420624" cy="420624"/>
          </a:xfrm>
          <a:prstGeom prst="roundRect">
            <a:avLst>
              <a:gd name="adj" fmla="val 13043"/>
            </a:avLst>
          </a:prstGeom>
          <a:solidFill>
            <a:srgbClr val="23272A"/>
          </a:solidFill>
          <a:ln w="12700">
            <a:solidFill>
              <a:srgbClr val="23272A"/>
            </a:solidFill>
            <a:prstDash val="solid"/>
          </a:ln>
        </p:spPr>
        <p:txBody>
          <a:bodyPr/>
          <a:lstStyle/>
          <a:p>
            <a:endParaRPr lang="pt-BR"/>
          </a:p>
        </p:txBody>
      </p:sp>
      <p:sp>
        <p:nvSpPr>
          <p:cNvPr id="12" name="Text 10"/>
          <p:cNvSpPr/>
          <p:nvPr/>
        </p:nvSpPr>
        <p:spPr>
          <a:xfrm>
            <a:off x="566928" y="316382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II</a:t>
            </a:r>
            <a:endParaRPr lang="en-US" sz="1200" dirty="0"/>
          </a:p>
        </p:txBody>
      </p:sp>
      <p:sp>
        <p:nvSpPr>
          <p:cNvPr id="13" name="Text 11"/>
          <p:cNvSpPr/>
          <p:nvPr/>
        </p:nvSpPr>
        <p:spPr>
          <a:xfrm>
            <a:off x="1188720" y="3108960"/>
            <a:ext cx="6949440" cy="274320"/>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Diferenciar tipos de problema</a:t>
            </a:r>
            <a:endParaRPr lang="en-US" sz="1500" dirty="0"/>
          </a:p>
        </p:txBody>
      </p:sp>
      <p:sp>
        <p:nvSpPr>
          <p:cNvPr id="14" name="Text 12"/>
          <p:cNvSpPr/>
          <p:nvPr/>
        </p:nvSpPr>
        <p:spPr>
          <a:xfrm>
            <a:off x="1188720" y="3401568"/>
            <a:ext cx="7223760" cy="603504"/>
          </a:xfrm>
          <a:prstGeom prst="rect">
            <a:avLst/>
          </a:prstGeom>
          <a:noFill/>
          <a:ln/>
        </p:spPr>
        <p:txBody>
          <a:bodyPr wrap="square" lIns="0" tIns="0" rIns="0" bIns="0" rtlCol="0" anchor="t"/>
          <a:lstStyle/>
          <a:p>
            <a:pPr marL="0" indent="0">
              <a:lnSpc>
                <a:spcPct val="106000"/>
              </a:lnSpc>
              <a:buNone/>
            </a:pPr>
            <a:r>
              <a:rPr lang="en-US" sz="1250" dirty="0">
                <a:solidFill>
                  <a:srgbClr val="6F7880"/>
                </a:solidFill>
                <a:latin typeface="Calibri" pitchFamily="34" charset="0"/>
                <a:ea typeface="Calibri" pitchFamily="34" charset="-122"/>
                <a:cs typeface="Calibri" pitchFamily="34" charset="-120"/>
              </a:rPr>
              <a:t>Distinguir aprendizado supervisionado e não supervisionado e caracterizar problemas de classificação, regressão, clusterização e associação.</a:t>
            </a:r>
            <a:endParaRPr lang="en-US" sz="1250" dirty="0"/>
          </a:p>
        </p:txBody>
      </p:sp>
      <p:sp>
        <p:nvSpPr>
          <p:cNvPr id="15" name="Shape 13"/>
          <p:cNvSpPr/>
          <p:nvPr/>
        </p:nvSpPr>
        <p:spPr>
          <a:xfrm>
            <a:off x="566928" y="4261104"/>
            <a:ext cx="420624" cy="420624"/>
          </a:xfrm>
          <a:prstGeom prst="roundRect">
            <a:avLst>
              <a:gd name="adj" fmla="val 13043"/>
            </a:avLst>
          </a:prstGeom>
          <a:solidFill>
            <a:srgbClr val="23272A"/>
          </a:solidFill>
          <a:ln w="12700">
            <a:solidFill>
              <a:srgbClr val="23272A"/>
            </a:solidFill>
            <a:prstDash val="solid"/>
          </a:ln>
        </p:spPr>
        <p:txBody>
          <a:bodyPr/>
          <a:lstStyle/>
          <a:p>
            <a:endParaRPr lang="pt-BR"/>
          </a:p>
        </p:txBody>
      </p:sp>
      <p:sp>
        <p:nvSpPr>
          <p:cNvPr id="16" name="Text 14"/>
          <p:cNvSpPr/>
          <p:nvPr/>
        </p:nvSpPr>
        <p:spPr>
          <a:xfrm>
            <a:off x="566928" y="42611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III</a:t>
            </a:r>
            <a:endParaRPr lang="en-US" sz="1200" dirty="0"/>
          </a:p>
        </p:txBody>
      </p:sp>
      <p:sp>
        <p:nvSpPr>
          <p:cNvPr id="17" name="Text 15"/>
          <p:cNvSpPr/>
          <p:nvPr/>
        </p:nvSpPr>
        <p:spPr>
          <a:xfrm>
            <a:off x="1188720" y="4206240"/>
            <a:ext cx="6949440" cy="274320"/>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Percorrer o ciclo de um projeto</a:t>
            </a:r>
            <a:endParaRPr lang="en-US" sz="1500" dirty="0"/>
          </a:p>
        </p:txBody>
      </p:sp>
      <p:sp>
        <p:nvSpPr>
          <p:cNvPr id="18" name="Text 16"/>
          <p:cNvSpPr/>
          <p:nvPr/>
        </p:nvSpPr>
        <p:spPr>
          <a:xfrm>
            <a:off x="1188720" y="4498848"/>
            <a:ext cx="7223760" cy="603504"/>
          </a:xfrm>
          <a:prstGeom prst="rect">
            <a:avLst/>
          </a:prstGeom>
          <a:noFill/>
          <a:ln/>
        </p:spPr>
        <p:txBody>
          <a:bodyPr wrap="square" lIns="0" tIns="0" rIns="0" bIns="0" rtlCol="0" anchor="t"/>
          <a:lstStyle/>
          <a:p>
            <a:pPr marL="0" indent="0">
              <a:lnSpc>
                <a:spcPct val="106000"/>
              </a:lnSpc>
              <a:buNone/>
            </a:pPr>
            <a:r>
              <a:rPr lang="en-US" sz="1250" dirty="0">
                <a:solidFill>
                  <a:srgbClr val="6F7880"/>
                </a:solidFill>
                <a:latin typeface="Calibri" pitchFamily="34" charset="0"/>
                <a:ea typeface="Calibri" pitchFamily="34" charset="-122"/>
                <a:cs typeface="Calibri" pitchFamily="34" charset="-120"/>
              </a:rPr>
              <a:t>Entender as sete etapas de um projeto de ciência de dados e as atividades esperadas em cada uma delas, do problema à implantação.</a:t>
            </a:r>
            <a:endParaRPr lang="en-US" sz="1250" dirty="0"/>
          </a:p>
        </p:txBody>
      </p:sp>
      <p:sp>
        <p:nvSpPr>
          <p:cNvPr id="19" name="Shape 17"/>
          <p:cNvSpPr/>
          <p:nvPr/>
        </p:nvSpPr>
        <p:spPr>
          <a:xfrm>
            <a:off x="8595360" y="2011680"/>
            <a:ext cx="3026664" cy="2103120"/>
          </a:xfrm>
          <a:prstGeom prst="roundRect">
            <a:avLst>
              <a:gd name="adj" fmla="val 2609"/>
            </a:avLst>
          </a:prstGeom>
          <a:solidFill>
            <a:srgbClr val="F0F1F2"/>
          </a:solidFill>
          <a:ln w="12700">
            <a:solidFill>
              <a:srgbClr val="F0F1F2"/>
            </a:solidFill>
            <a:prstDash val="solid"/>
          </a:ln>
        </p:spPr>
        <p:txBody>
          <a:bodyPr/>
          <a:lstStyle/>
          <a:p>
            <a:endParaRPr lang="pt-BR"/>
          </a:p>
        </p:txBody>
      </p:sp>
      <p:sp>
        <p:nvSpPr>
          <p:cNvPr id="20" name="Text 18"/>
          <p:cNvSpPr/>
          <p:nvPr/>
        </p:nvSpPr>
        <p:spPr>
          <a:xfrm>
            <a:off x="8796528" y="2157984"/>
            <a:ext cx="2624328" cy="292608"/>
          </a:xfrm>
          <a:prstGeom prst="rect">
            <a:avLst/>
          </a:prstGeom>
          <a:noFill/>
          <a:ln/>
        </p:spPr>
        <p:txBody>
          <a:bodyPr wrap="square" lIns="0" tIns="0" rIns="0" bIns="0" rtlCol="0" anchor="ctr"/>
          <a:lstStyle/>
          <a:p>
            <a:pPr marL="0" indent="0">
              <a:buNone/>
            </a:pPr>
            <a:r>
              <a:rPr lang="en-US" sz="1400" b="1" dirty="0">
                <a:solidFill>
                  <a:srgbClr val="23272A"/>
                </a:solidFill>
                <a:latin typeface="Calibri" pitchFamily="34" charset="0"/>
                <a:ea typeface="Calibri" pitchFamily="34" charset="-122"/>
                <a:cs typeface="Calibri" pitchFamily="34" charset="-120"/>
              </a:rPr>
              <a:t>Palavras-chave</a:t>
            </a:r>
            <a:endParaRPr lang="en-US" sz="1400" dirty="0"/>
          </a:p>
        </p:txBody>
      </p:sp>
      <p:sp>
        <p:nvSpPr>
          <p:cNvPr id="21" name="Text 19"/>
          <p:cNvSpPr/>
          <p:nvPr/>
        </p:nvSpPr>
        <p:spPr>
          <a:xfrm>
            <a:off x="8796528" y="2505456"/>
            <a:ext cx="2624328" cy="146304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Big Data · inteligência artificial · Data Mining · Machine Learning · KDD · dados estruturados e não estruturados · Data Warehouse · Data Lake · classificação · regressão · clusterização · associação</a:t>
            </a:r>
            <a:endParaRPr lang="en-US" sz="1250" dirty="0"/>
          </a:p>
        </p:txBody>
      </p:sp>
      <p:sp>
        <p:nvSpPr>
          <p:cNvPr id="22" name="Shape 20"/>
          <p:cNvSpPr/>
          <p:nvPr/>
        </p:nvSpPr>
        <p:spPr>
          <a:xfrm>
            <a:off x="8595360" y="4297680"/>
            <a:ext cx="3026664" cy="1508760"/>
          </a:xfrm>
          <a:prstGeom prst="roundRect">
            <a:avLst>
              <a:gd name="adj" fmla="val 3636"/>
            </a:avLst>
          </a:prstGeom>
          <a:solidFill>
            <a:srgbClr val="23272A"/>
          </a:solidFill>
          <a:ln w="12700">
            <a:solidFill>
              <a:srgbClr val="23272A"/>
            </a:solidFill>
            <a:prstDash val="solid"/>
          </a:ln>
        </p:spPr>
        <p:txBody>
          <a:bodyPr/>
          <a:lstStyle/>
          <a:p>
            <a:endParaRPr lang="pt-BR"/>
          </a:p>
        </p:txBody>
      </p:sp>
      <p:sp>
        <p:nvSpPr>
          <p:cNvPr id="23" name="Text 21"/>
          <p:cNvSpPr/>
          <p:nvPr/>
        </p:nvSpPr>
        <p:spPr>
          <a:xfrm>
            <a:off x="8796528" y="4443984"/>
            <a:ext cx="2624328"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Pergunta condutora</a:t>
            </a:r>
            <a:endParaRPr lang="en-US" sz="1400" dirty="0"/>
          </a:p>
        </p:txBody>
      </p:sp>
      <p:sp>
        <p:nvSpPr>
          <p:cNvPr id="24" name="Text 22"/>
          <p:cNvSpPr/>
          <p:nvPr/>
        </p:nvSpPr>
        <p:spPr>
          <a:xfrm>
            <a:off x="8796528" y="4791456"/>
            <a:ext cx="2624328" cy="868680"/>
          </a:xfrm>
          <a:prstGeom prst="rect">
            <a:avLst/>
          </a:prstGeom>
          <a:noFill/>
          <a:ln/>
        </p:spPr>
        <p:txBody>
          <a:bodyPr wrap="square" lIns="0" tIns="0" rIns="0" bIns="0" rtlCol="0" anchor="t"/>
          <a:lstStyle/>
          <a:p>
            <a:pPr marL="0" indent="0">
              <a:lnSpc>
                <a:spcPct val="108000"/>
              </a:lnSpc>
              <a:buNone/>
            </a:pPr>
            <a:r>
              <a:rPr lang="en-US" sz="1300" dirty="0">
                <a:solidFill>
                  <a:srgbClr val="D9DCDE"/>
                </a:solidFill>
                <a:latin typeface="Calibri" pitchFamily="34" charset="0"/>
                <a:ea typeface="Calibri" pitchFamily="34" charset="-122"/>
                <a:cs typeface="Calibri" pitchFamily="34" charset="-120"/>
              </a:rPr>
              <a:t>O que transforma um volume bruto de registros em conhecimento capaz de apoiar uma decisão de negócio?</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ESTRUTURA EM CINCO UNIDADES</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Plano da aula</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A sequência vai do contexto ao método: primeiro se entende por que o campo surgiu, depois como o conhecimento é extraído, com que matéria-prima se trabalha, que tipos de problema existem e, por fim, como se organiza um projeto.</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66928" y="2286000"/>
            <a:ext cx="3538728" cy="1572768"/>
          </a:xfrm>
          <a:prstGeom prst="roundRect">
            <a:avLst>
              <a:gd name="adj" fmla="val 3488"/>
            </a:avLst>
          </a:prstGeom>
          <a:solidFill>
            <a:srgbClr val="F0F1F2"/>
          </a:solidFill>
          <a:ln w="12700">
            <a:solidFill>
              <a:srgbClr val="F0F1F2"/>
            </a:solidFill>
            <a:prstDash val="solid"/>
          </a:ln>
        </p:spPr>
        <p:txBody>
          <a:bodyPr/>
          <a:lstStyle/>
          <a:p>
            <a:endParaRPr lang="pt-BR"/>
          </a:p>
        </p:txBody>
      </p:sp>
      <p:sp>
        <p:nvSpPr>
          <p:cNvPr id="8" name="Shape 6"/>
          <p:cNvSpPr/>
          <p:nvPr/>
        </p:nvSpPr>
        <p:spPr>
          <a:xfrm>
            <a:off x="768096" y="2468880"/>
            <a:ext cx="365760" cy="365760"/>
          </a:xfrm>
          <a:prstGeom prst="roundRect">
            <a:avLst>
              <a:gd name="adj" fmla="val 15000"/>
            </a:avLst>
          </a:prstGeom>
          <a:solidFill>
            <a:srgbClr val="23272A"/>
          </a:solidFill>
          <a:ln w="12700">
            <a:solidFill>
              <a:srgbClr val="23272A"/>
            </a:solidFill>
            <a:prstDash val="solid"/>
          </a:ln>
        </p:spPr>
        <p:txBody>
          <a:bodyPr/>
          <a:lstStyle/>
          <a:p>
            <a:endParaRPr lang="pt-BR"/>
          </a:p>
        </p:txBody>
      </p:sp>
      <p:sp>
        <p:nvSpPr>
          <p:cNvPr id="9" name="Text 7"/>
          <p:cNvSpPr/>
          <p:nvPr/>
        </p:nvSpPr>
        <p:spPr>
          <a:xfrm>
            <a:off x="768096" y="24688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243584" y="2450592"/>
            <a:ext cx="2660904" cy="402336"/>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Cenário e conceitos fundamentais</a:t>
            </a:r>
            <a:endParaRPr lang="en-US" sz="1350" dirty="0"/>
          </a:p>
        </p:txBody>
      </p:sp>
      <p:sp>
        <p:nvSpPr>
          <p:cNvPr id="11" name="Text 9"/>
          <p:cNvSpPr/>
          <p:nvPr/>
        </p:nvSpPr>
        <p:spPr>
          <a:xfrm>
            <a:off x="768096" y="2980944"/>
            <a:ext cx="3136392" cy="731520"/>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Big Data, inteligência artificial, Data Mining, Machine Learning e Data Science: fronteiras e relações.</a:t>
            </a:r>
            <a:endParaRPr lang="en-US" sz="1200" dirty="0"/>
          </a:p>
        </p:txBody>
      </p:sp>
      <p:sp>
        <p:nvSpPr>
          <p:cNvPr id="12" name="Shape 10"/>
          <p:cNvSpPr/>
          <p:nvPr/>
        </p:nvSpPr>
        <p:spPr>
          <a:xfrm>
            <a:off x="4325112" y="2286000"/>
            <a:ext cx="3538728" cy="1572768"/>
          </a:xfrm>
          <a:prstGeom prst="roundRect">
            <a:avLst>
              <a:gd name="adj" fmla="val 3488"/>
            </a:avLst>
          </a:prstGeom>
          <a:solidFill>
            <a:srgbClr val="F7F8F8"/>
          </a:solidFill>
          <a:ln w="12700">
            <a:solidFill>
              <a:srgbClr val="F7F8F8"/>
            </a:solidFill>
            <a:prstDash val="solid"/>
          </a:ln>
        </p:spPr>
        <p:txBody>
          <a:bodyPr/>
          <a:lstStyle/>
          <a:p>
            <a:endParaRPr lang="pt-BR"/>
          </a:p>
        </p:txBody>
      </p:sp>
      <p:sp>
        <p:nvSpPr>
          <p:cNvPr id="13" name="Shape 11"/>
          <p:cNvSpPr/>
          <p:nvPr/>
        </p:nvSpPr>
        <p:spPr>
          <a:xfrm>
            <a:off x="4526280" y="2468880"/>
            <a:ext cx="365760" cy="365760"/>
          </a:xfrm>
          <a:prstGeom prst="roundRect">
            <a:avLst>
              <a:gd name="adj" fmla="val 15000"/>
            </a:avLst>
          </a:prstGeom>
          <a:solidFill>
            <a:srgbClr val="23272A"/>
          </a:solidFill>
          <a:ln w="12700">
            <a:solidFill>
              <a:srgbClr val="23272A"/>
            </a:solidFill>
            <a:prstDash val="solid"/>
          </a:ln>
        </p:spPr>
        <p:txBody>
          <a:bodyPr/>
          <a:lstStyle/>
          <a:p>
            <a:endParaRPr lang="pt-BR"/>
          </a:p>
        </p:txBody>
      </p:sp>
      <p:sp>
        <p:nvSpPr>
          <p:cNvPr id="14" name="Text 12"/>
          <p:cNvSpPr/>
          <p:nvPr/>
        </p:nvSpPr>
        <p:spPr>
          <a:xfrm>
            <a:off x="4526280" y="24688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5001768" y="2450592"/>
            <a:ext cx="2660904" cy="402336"/>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Descoberta de conhecimento (KDD)</a:t>
            </a:r>
            <a:endParaRPr lang="en-US" sz="1350" dirty="0"/>
          </a:p>
        </p:txBody>
      </p:sp>
      <p:sp>
        <p:nvSpPr>
          <p:cNvPr id="16" name="Text 14"/>
          <p:cNvSpPr/>
          <p:nvPr/>
        </p:nvSpPr>
        <p:spPr>
          <a:xfrm>
            <a:off x="4526280" y="2980944"/>
            <a:ext cx="3136392" cy="731520"/>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De dados a informação e conhecimento; o processo, o dataset e as etapas de aprender e aplicar.</a:t>
            </a:r>
            <a:endParaRPr lang="en-US" sz="1200" dirty="0"/>
          </a:p>
        </p:txBody>
      </p:sp>
      <p:sp>
        <p:nvSpPr>
          <p:cNvPr id="17" name="Shape 15"/>
          <p:cNvSpPr/>
          <p:nvPr/>
        </p:nvSpPr>
        <p:spPr>
          <a:xfrm>
            <a:off x="8083296" y="2286000"/>
            <a:ext cx="3538728" cy="1572768"/>
          </a:xfrm>
          <a:prstGeom prst="roundRect">
            <a:avLst>
              <a:gd name="adj" fmla="val 3488"/>
            </a:avLst>
          </a:prstGeom>
          <a:solidFill>
            <a:srgbClr val="F0F1F2"/>
          </a:solidFill>
          <a:ln w="12700">
            <a:solidFill>
              <a:srgbClr val="F0F1F2"/>
            </a:solidFill>
            <a:prstDash val="solid"/>
          </a:ln>
        </p:spPr>
        <p:txBody>
          <a:bodyPr/>
          <a:lstStyle/>
          <a:p>
            <a:endParaRPr lang="pt-BR"/>
          </a:p>
        </p:txBody>
      </p:sp>
      <p:sp>
        <p:nvSpPr>
          <p:cNvPr id="18" name="Shape 16"/>
          <p:cNvSpPr/>
          <p:nvPr/>
        </p:nvSpPr>
        <p:spPr>
          <a:xfrm>
            <a:off x="8284464" y="2468880"/>
            <a:ext cx="365760" cy="365760"/>
          </a:xfrm>
          <a:prstGeom prst="roundRect">
            <a:avLst>
              <a:gd name="adj" fmla="val 15000"/>
            </a:avLst>
          </a:prstGeom>
          <a:solidFill>
            <a:srgbClr val="23272A"/>
          </a:solidFill>
          <a:ln w="12700">
            <a:solidFill>
              <a:srgbClr val="23272A"/>
            </a:solidFill>
            <a:prstDash val="solid"/>
          </a:ln>
        </p:spPr>
        <p:txBody>
          <a:bodyPr/>
          <a:lstStyle/>
          <a:p>
            <a:endParaRPr lang="pt-BR"/>
          </a:p>
        </p:txBody>
      </p:sp>
      <p:sp>
        <p:nvSpPr>
          <p:cNvPr id="19" name="Text 17"/>
          <p:cNvSpPr/>
          <p:nvPr/>
        </p:nvSpPr>
        <p:spPr>
          <a:xfrm>
            <a:off x="8284464" y="24688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8759952" y="2450592"/>
            <a:ext cx="2660904" cy="402336"/>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Tipos de dados e repositórios</a:t>
            </a:r>
            <a:endParaRPr lang="en-US" sz="1350" dirty="0"/>
          </a:p>
        </p:txBody>
      </p:sp>
      <p:sp>
        <p:nvSpPr>
          <p:cNvPr id="21" name="Text 19"/>
          <p:cNvSpPr/>
          <p:nvPr/>
        </p:nvSpPr>
        <p:spPr>
          <a:xfrm>
            <a:off x="8284464" y="2980944"/>
            <a:ext cx="3136392" cy="731520"/>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Estruturados, semiestruturados e não estruturados; Data Warehouse e Data Lake.</a:t>
            </a:r>
            <a:endParaRPr lang="en-US" sz="1200" dirty="0"/>
          </a:p>
        </p:txBody>
      </p:sp>
      <p:sp>
        <p:nvSpPr>
          <p:cNvPr id="22" name="Shape 20"/>
          <p:cNvSpPr/>
          <p:nvPr/>
        </p:nvSpPr>
        <p:spPr>
          <a:xfrm>
            <a:off x="566928" y="4069080"/>
            <a:ext cx="3538728" cy="1572768"/>
          </a:xfrm>
          <a:prstGeom prst="roundRect">
            <a:avLst>
              <a:gd name="adj" fmla="val 3488"/>
            </a:avLst>
          </a:prstGeom>
          <a:solidFill>
            <a:srgbClr val="F7F8F8"/>
          </a:solidFill>
          <a:ln w="12700">
            <a:solidFill>
              <a:srgbClr val="F7F8F8"/>
            </a:solidFill>
            <a:prstDash val="solid"/>
          </a:ln>
        </p:spPr>
        <p:txBody>
          <a:bodyPr/>
          <a:lstStyle/>
          <a:p>
            <a:endParaRPr lang="pt-BR"/>
          </a:p>
        </p:txBody>
      </p:sp>
      <p:sp>
        <p:nvSpPr>
          <p:cNvPr id="23" name="Shape 21"/>
          <p:cNvSpPr/>
          <p:nvPr/>
        </p:nvSpPr>
        <p:spPr>
          <a:xfrm>
            <a:off x="768096" y="4251960"/>
            <a:ext cx="365760" cy="365760"/>
          </a:xfrm>
          <a:prstGeom prst="roundRect">
            <a:avLst>
              <a:gd name="adj" fmla="val 15000"/>
            </a:avLst>
          </a:prstGeom>
          <a:solidFill>
            <a:srgbClr val="23272A"/>
          </a:solidFill>
          <a:ln w="12700">
            <a:solidFill>
              <a:srgbClr val="23272A"/>
            </a:solidFill>
            <a:prstDash val="solid"/>
          </a:ln>
        </p:spPr>
        <p:txBody>
          <a:bodyPr/>
          <a:lstStyle/>
          <a:p>
            <a:endParaRPr lang="pt-BR"/>
          </a:p>
        </p:txBody>
      </p:sp>
      <p:sp>
        <p:nvSpPr>
          <p:cNvPr id="24" name="Text 22"/>
          <p:cNvSpPr/>
          <p:nvPr/>
        </p:nvSpPr>
        <p:spPr>
          <a:xfrm>
            <a:off x="768096" y="42519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243584" y="4233672"/>
            <a:ext cx="2660904" cy="402336"/>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Tipos de problemas e aprendizado</a:t>
            </a:r>
            <a:endParaRPr lang="en-US" sz="1350" dirty="0"/>
          </a:p>
        </p:txBody>
      </p:sp>
      <p:sp>
        <p:nvSpPr>
          <p:cNvPr id="26" name="Text 24"/>
          <p:cNvSpPr/>
          <p:nvPr/>
        </p:nvSpPr>
        <p:spPr>
          <a:xfrm>
            <a:off x="768096" y="4764024"/>
            <a:ext cx="3136392" cy="731520"/>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Análises descritiva a prescritiva; supervisionado e não supervisionado; as quatro famílias de problema.</a:t>
            </a:r>
            <a:endParaRPr lang="en-US" sz="1200" dirty="0"/>
          </a:p>
        </p:txBody>
      </p:sp>
      <p:sp>
        <p:nvSpPr>
          <p:cNvPr id="27" name="Shape 25"/>
          <p:cNvSpPr/>
          <p:nvPr/>
        </p:nvSpPr>
        <p:spPr>
          <a:xfrm>
            <a:off x="4325112" y="4069080"/>
            <a:ext cx="3538728" cy="1572768"/>
          </a:xfrm>
          <a:prstGeom prst="roundRect">
            <a:avLst>
              <a:gd name="adj" fmla="val 3488"/>
            </a:avLst>
          </a:prstGeom>
          <a:solidFill>
            <a:srgbClr val="F0F1F2"/>
          </a:solidFill>
          <a:ln w="12700">
            <a:solidFill>
              <a:srgbClr val="F0F1F2"/>
            </a:solidFill>
            <a:prstDash val="solid"/>
          </a:ln>
        </p:spPr>
        <p:txBody>
          <a:bodyPr/>
          <a:lstStyle/>
          <a:p>
            <a:endParaRPr lang="pt-BR"/>
          </a:p>
        </p:txBody>
      </p:sp>
      <p:sp>
        <p:nvSpPr>
          <p:cNvPr id="28" name="Shape 26"/>
          <p:cNvSpPr/>
          <p:nvPr/>
        </p:nvSpPr>
        <p:spPr>
          <a:xfrm>
            <a:off x="4526280" y="4251960"/>
            <a:ext cx="365760" cy="365760"/>
          </a:xfrm>
          <a:prstGeom prst="roundRect">
            <a:avLst>
              <a:gd name="adj" fmla="val 15000"/>
            </a:avLst>
          </a:prstGeom>
          <a:solidFill>
            <a:srgbClr val="23272A"/>
          </a:solidFill>
          <a:ln w="12700">
            <a:solidFill>
              <a:srgbClr val="23272A"/>
            </a:solidFill>
            <a:prstDash val="solid"/>
          </a:ln>
        </p:spPr>
        <p:txBody>
          <a:bodyPr/>
          <a:lstStyle/>
          <a:p>
            <a:endParaRPr lang="pt-BR"/>
          </a:p>
        </p:txBody>
      </p:sp>
      <p:sp>
        <p:nvSpPr>
          <p:cNvPr id="29" name="Text 27"/>
          <p:cNvSpPr/>
          <p:nvPr/>
        </p:nvSpPr>
        <p:spPr>
          <a:xfrm>
            <a:off x="4526280" y="42519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5001768" y="4233672"/>
            <a:ext cx="2660904" cy="402336"/>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As sete etapas de um projeto</a:t>
            </a:r>
            <a:endParaRPr lang="en-US" sz="1350" dirty="0"/>
          </a:p>
        </p:txBody>
      </p:sp>
      <p:sp>
        <p:nvSpPr>
          <p:cNvPr id="31" name="Text 29"/>
          <p:cNvSpPr/>
          <p:nvPr/>
        </p:nvSpPr>
        <p:spPr>
          <a:xfrm>
            <a:off x="4526280" y="4764024"/>
            <a:ext cx="3136392" cy="731520"/>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Do entendimento do problema à implantação e ao monitoramento do modelo em produção.</a:t>
            </a:r>
            <a:endParaRPr lang="en-US" sz="1200" dirty="0"/>
          </a:p>
        </p:txBody>
      </p:sp>
      <p:sp>
        <p:nvSpPr>
          <p:cNvPr id="32" name="Shape 30"/>
          <p:cNvSpPr/>
          <p:nvPr/>
        </p:nvSpPr>
        <p:spPr>
          <a:xfrm>
            <a:off x="8083296" y="4069080"/>
            <a:ext cx="3538728" cy="1572768"/>
          </a:xfrm>
          <a:prstGeom prst="roundRect">
            <a:avLst>
              <a:gd name="adj" fmla="val 3488"/>
            </a:avLst>
          </a:prstGeom>
          <a:solidFill>
            <a:srgbClr val="23272A"/>
          </a:solidFill>
          <a:ln w="12700">
            <a:solidFill>
              <a:srgbClr val="23272A"/>
            </a:solidFill>
            <a:prstDash val="solid"/>
          </a:ln>
        </p:spPr>
        <p:txBody>
          <a:bodyPr/>
          <a:lstStyle/>
          <a:p>
            <a:endParaRPr lang="pt-BR"/>
          </a:p>
        </p:txBody>
      </p:sp>
      <p:sp>
        <p:nvSpPr>
          <p:cNvPr id="33" name="Text 31"/>
          <p:cNvSpPr/>
          <p:nvPr/>
        </p:nvSpPr>
        <p:spPr>
          <a:xfrm>
            <a:off x="8284464" y="4215384"/>
            <a:ext cx="3136392"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Fio condutor</a:t>
            </a:r>
            <a:endParaRPr lang="en-US" sz="1400" dirty="0"/>
          </a:p>
        </p:txBody>
      </p:sp>
      <p:sp>
        <p:nvSpPr>
          <p:cNvPr id="34" name="Text 32"/>
          <p:cNvSpPr/>
          <p:nvPr/>
        </p:nvSpPr>
        <p:spPr>
          <a:xfrm>
            <a:off x="8284464" y="4562856"/>
            <a:ext cx="3136392" cy="932688"/>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Ciência de dados não é uma ferramenta, e sim um conjunto de métodos com o objetivo de apoiar decisões de negócio baseadas em dados.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72A"/>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1</a:t>
            </a:r>
            <a:endParaRPr lang="en-US" sz="1050" dirty="0"/>
          </a:p>
        </p:txBody>
      </p:sp>
      <p:sp>
        <p:nvSpPr>
          <p:cNvPr id="3" name="Shape 1"/>
          <p:cNvSpPr/>
          <p:nvPr/>
        </p:nvSpPr>
        <p:spPr>
          <a:xfrm>
            <a:off x="566928" y="2706624"/>
            <a:ext cx="2011680" cy="27432"/>
          </a:xfrm>
          <a:prstGeom prst="rect">
            <a:avLst/>
          </a:prstGeom>
          <a:solidFill>
            <a:srgbClr val="8A7B66"/>
          </a:solidFill>
          <a:ln w="12700">
            <a:solidFill>
              <a:srgbClr val="8A7B66"/>
            </a:solidFill>
            <a:prstDash val="solid"/>
          </a:ln>
        </p:spPr>
        <p:txBody>
          <a:bodyPr/>
          <a:lstStyle/>
          <a:p>
            <a:endParaRPr lang="pt-BR"/>
          </a:p>
        </p:txBody>
      </p:sp>
      <p:sp>
        <p:nvSpPr>
          <p:cNvPr id="4" name="Text 2"/>
          <p:cNvSpPr/>
          <p:nvPr/>
        </p:nvSpPr>
        <p:spPr>
          <a:xfrm>
            <a:off x="566928" y="2926080"/>
            <a:ext cx="100584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Cenário e conceitos fundamentais</a:t>
            </a:r>
            <a:endParaRPr lang="en-US" sz="4000" dirty="0"/>
          </a:p>
        </p:txBody>
      </p:sp>
      <p:sp>
        <p:nvSpPr>
          <p:cNvPr id="5" name="Text 3"/>
          <p:cNvSpPr/>
          <p:nvPr/>
        </p:nvSpPr>
        <p:spPr>
          <a:xfrm>
            <a:off x="566928" y="3749040"/>
            <a:ext cx="7863840" cy="822960"/>
          </a:xfrm>
          <a:prstGeom prst="rect">
            <a:avLst/>
          </a:prstGeom>
          <a:noFill/>
          <a:ln/>
        </p:spPr>
        <p:txBody>
          <a:bodyPr wrap="square" lIns="0" tIns="0" rIns="0" bIns="0" rtlCol="0" anchor="t"/>
          <a:lstStyle/>
          <a:p>
            <a:pPr marL="0" indent="0">
              <a:lnSpc>
                <a:spcPct val="110000"/>
              </a:lnSpc>
              <a:buNone/>
            </a:pPr>
            <a:r>
              <a:rPr lang="en-US" sz="1350" dirty="0">
                <a:solidFill>
                  <a:srgbClr val="C6CACD"/>
                </a:solidFill>
                <a:latin typeface="Calibri" pitchFamily="34" charset="0"/>
                <a:ea typeface="Calibri" pitchFamily="34" charset="-122"/>
                <a:cs typeface="Calibri" pitchFamily="34" charset="-120"/>
              </a:rPr>
              <a:t>Por que o campo emergiu agora, o que distingue Big Data, inteligência artificial, mineração de dados, aprendizado de máquina e ciência de dados, e que perfil profissional o trabalho exige.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1 · 1.1</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Banco de dados ou “bando” de dados?</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O cenário mundial atual é caracterizado pela criação e pelo crescimento de inúmeras bases de dados, diariamente, em fluxo contínuo e em velocidade exponencial. Dois levantamentos citados no material de referência dão a dimensão do fenômeno.</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66928" y="2048256"/>
            <a:ext cx="5394960" cy="1234440"/>
          </a:xfrm>
          <a:prstGeom prst="roundRect">
            <a:avLst>
              <a:gd name="adj" fmla="val 4444"/>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194560"/>
            <a:ext cx="4992624"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Pesquisa da Forbes (2017)</a:t>
            </a:r>
            <a:endParaRPr lang="en-US" sz="1400" dirty="0"/>
          </a:p>
        </p:txBody>
      </p:sp>
      <p:sp>
        <p:nvSpPr>
          <p:cNvPr id="9" name="Text 7"/>
          <p:cNvSpPr/>
          <p:nvPr/>
        </p:nvSpPr>
        <p:spPr>
          <a:xfrm>
            <a:off x="768096" y="2542032"/>
            <a:ext cx="4992624" cy="59436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Estimava-se que cerca de 90% dos dados armazenados na web tivessem sido gerados nos dois anos anteriores — indício de que o crescimento não é linear, e sim exponencial.</a:t>
            </a:r>
            <a:endParaRPr lang="en-US" sz="1250" dirty="0"/>
          </a:p>
        </p:txBody>
      </p:sp>
      <p:sp>
        <p:nvSpPr>
          <p:cNvPr id="10" name="Shape 8"/>
          <p:cNvSpPr/>
          <p:nvPr/>
        </p:nvSpPr>
        <p:spPr>
          <a:xfrm>
            <a:off x="6227064" y="2048256"/>
            <a:ext cx="5394960" cy="1234440"/>
          </a:xfrm>
          <a:prstGeom prst="roundRect">
            <a:avLst>
              <a:gd name="adj" fmla="val 4444"/>
            </a:avLst>
          </a:prstGeom>
          <a:solidFill>
            <a:srgbClr val="F0F1F2"/>
          </a:solidFill>
          <a:ln w="12700">
            <a:solidFill>
              <a:srgbClr val="F0F1F2"/>
            </a:solidFill>
            <a:prstDash val="solid"/>
          </a:ln>
        </p:spPr>
        <p:txBody>
          <a:bodyPr/>
          <a:lstStyle/>
          <a:p>
            <a:endParaRPr lang="pt-BR"/>
          </a:p>
        </p:txBody>
      </p:sp>
      <p:sp>
        <p:nvSpPr>
          <p:cNvPr id="11" name="Text 9"/>
          <p:cNvSpPr/>
          <p:nvPr/>
        </p:nvSpPr>
        <p:spPr>
          <a:xfrm>
            <a:off x="6428232" y="2194560"/>
            <a:ext cx="4992624" cy="292608"/>
          </a:xfrm>
          <a:prstGeom prst="rect">
            <a:avLst/>
          </a:prstGeom>
          <a:noFill/>
          <a:ln/>
        </p:spPr>
        <p:txBody>
          <a:bodyPr wrap="square" lIns="0" tIns="0" rIns="0" bIns="0" rtlCol="0" anchor="ctr"/>
          <a:lstStyle/>
          <a:p>
            <a:pPr marL="0" indent="0">
              <a:buNone/>
            </a:pPr>
            <a:r>
              <a:rPr lang="en-US" sz="1400" b="1" dirty="0">
                <a:solidFill>
                  <a:srgbClr val="23272A"/>
                </a:solidFill>
                <a:latin typeface="Calibri" pitchFamily="34" charset="0"/>
                <a:ea typeface="Calibri" pitchFamily="34" charset="-122"/>
                <a:cs typeface="Calibri" pitchFamily="34" charset="-120"/>
              </a:rPr>
              <a:t>Pesquisa da DOMO (2025)</a:t>
            </a:r>
            <a:endParaRPr lang="en-US" sz="1400" dirty="0"/>
          </a:p>
        </p:txBody>
      </p:sp>
      <p:sp>
        <p:nvSpPr>
          <p:cNvPr id="12" name="Text 10"/>
          <p:cNvSpPr/>
          <p:nvPr/>
        </p:nvSpPr>
        <p:spPr>
          <a:xfrm>
            <a:off x="6428232" y="2542032"/>
            <a:ext cx="4992624" cy="59436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A internet já alcançava mais de 60% da população mundial, e o total de dados gerados no mundo foi estimado em cerca </a:t>
            </a:r>
            <a:r>
              <a:rPr lang="en-US" sz="1250">
                <a:solidFill>
                  <a:srgbClr val="4C555C"/>
                </a:solidFill>
                <a:latin typeface="Calibri" pitchFamily="34" charset="0"/>
                <a:ea typeface="Calibri" pitchFamily="34" charset="-122"/>
                <a:cs typeface="Calibri" pitchFamily="34" charset="-120"/>
              </a:rPr>
              <a:t>de 230 </a:t>
            </a:r>
            <a:r>
              <a:rPr lang="en-US" sz="1250" dirty="0">
                <a:solidFill>
                  <a:srgbClr val="4C555C"/>
                </a:solidFill>
                <a:latin typeface="Calibri" pitchFamily="34" charset="0"/>
                <a:ea typeface="Calibri" pitchFamily="34" charset="-122"/>
                <a:cs typeface="Calibri" pitchFamily="34" charset="-120"/>
              </a:rPr>
              <a:t>zettabytes — </a:t>
            </a:r>
            <a:r>
              <a:rPr lang="en-US" sz="1250" dirty="0" err="1">
                <a:solidFill>
                  <a:srgbClr val="4C555C"/>
                </a:solidFill>
                <a:latin typeface="Calibri" pitchFamily="34" charset="0"/>
                <a:ea typeface="Calibri" pitchFamily="34" charset="-122"/>
                <a:cs typeface="Calibri" pitchFamily="34" charset="-120"/>
              </a:rPr>
              <a:t>aproximadamente</a:t>
            </a:r>
            <a:r>
              <a:rPr lang="en-US" sz="1250" dirty="0">
                <a:solidFill>
                  <a:srgbClr val="4C555C"/>
                </a:solidFill>
                <a:latin typeface="Calibri" pitchFamily="34" charset="0"/>
                <a:ea typeface="Calibri" pitchFamily="34" charset="-122"/>
                <a:cs typeface="Calibri" pitchFamily="34" charset="-120"/>
              </a:rPr>
              <a:t> 230 </a:t>
            </a:r>
            <a:r>
              <a:rPr lang="en-US" sz="1250" dirty="0" err="1">
                <a:solidFill>
                  <a:srgbClr val="4C555C"/>
                </a:solidFill>
                <a:latin typeface="Calibri" pitchFamily="34" charset="0"/>
                <a:ea typeface="Calibri" pitchFamily="34" charset="-122"/>
                <a:cs typeface="Calibri" pitchFamily="34" charset="-120"/>
              </a:rPr>
              <a:t>trilhões</a:t>
            </a:r>
            <a:r>
              <a:rPr lang="en-US" sz="1250" dirty="0">
                <a:solidFill>
                  <a:srgbClr val="4C555C"/>
                </a:solidFill>
                <a:latin typeface="Calibri" pitchFamily="34" charset="0"/>
                <a:ea typeface="Calibri" pitchFamily="34" charset="-122"/>
                <a:cs typeface="Calibri" pitchFamily="34" charset="-120"/>
              </a:rPr>
              <a:t> de gigabytes.</a:t>
            </a:r>
            <a:endParaRPr lang="en-US" sz="1250" dirty="0"/>
          </a:p>
        </p:txBody>
      </p:sp>
      <p:sp>
        <p:nvSpPr>
          <p:cNvPr id="13" name="Text 11"/>
          <p:cNvSpPr/>
          <p:nvPr/>
        </p:nvSpPr>
        <p:spPr>
          <a:xfrm>
            <a:off x="566928" y="348386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De onde vêm esses dados</a:t>
            </a:r>
            <a:endParaRPr lang="en-US" sz="1300" dirty="0"/>
          </a:p>
        </p:txBody>
      </p:sp>
      <p:sp>
        <p:nvSpPr>
          <p:cNvPr id="14" name="Shape 12"/>
          <p:cNvSpPr/>
          <p:nvPr/>
        </p:nvSpPr>
        <p:spPr>
          <a:xfrm>
            <a:off x="566928" y="3849624"/>
            <a:ext cx="3538728" cy="1371600"/>
          </a:xfrm>
          <a:prstGeom prst="roundRect">
            <a:avLst>
              <a:gd name="adj" fmla="val 4000"/>
            </a:avLst>
          </a:prstGeom>
          <a:solidFill>
            <a:srgbClr val="F0F1F2"/>
          </a:solidFill>
          <a:ln w="12700">
            <a:solidFill>
              <a:srgbClr val="F0F1F2"/>
            </a:solidFill>
            <a:prstDash val="solid"/>
          </a:ln>
        </p:spPr>
        <p:txBody>
          <a:bodyPr/>
          <a:lstStyle/>
          <a:p>
            <a:endParaRPr lang="pt-BR"/>
          </a:p>
        </p:txBody>
      </p:sp>
      <p:sp>
        <p:nvSpPr>
          <p:cNvPr id="15" name="Text 13"/>
          <p:cNvSpPr/>
          <p:nvPr/>
        </p:nvSpPr>
        <p:spPr>
          <a:xfrm>
            <a:off x="768096" y="3995928"/>
            <a:ext cx="3136392" cy="310896"/>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Redes sociais e aplicativos</a:t>
            </a:r>
            <a:endParaRPr lang="en-US" sz="1300" dirty="0"/>
          </a:p>
        </p:txBody>
      </p:sp>
      <p:sp>
        <p:nvSpPr>
          <p:cNvPr id="16" name="Text 14"/>
          <p:cNvSpPr/>
          <p:nvPr/>
        </p:nvSpPr>
        <p:spPr>
          <a:xfrm>
            <a:off x="768096" y="4343400"/>
            <a:ext cx="3136392" cy="804672"/>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Interações, publicações, curtidas e registros de uso geram volume contínuo e majoritariamente não estruturado.</a:t>
            </a:r>
            <a:endParaRPr lang="en-US" sz="1200" dirty="0"/>
          </a:p>
        </p:txBody>
      </p:sp>
      <p:sp>
        <p:nvSpPr>
          <p:cNvPr id="17" name="Shape 15"/>
          <p:cNvSpPr/>
          <p:nvPr/>
        </p:nvSpPr>
        <p:spPr>
          <a:xfrm>
            <a:off x="4325112" y="3849624"/>
            <a:ext cx="3538728" cy="1371600"/>
          </a:xfrm>
          <a:prstGeom prst="roundRect">
            <a:avLst>
              <a:gd name="adj" fmla="val 4000"/>
            </a:avLst>
          </a:prstGeom>
          <a:solidFill>
            <a:srgbClr val="F7F8F8"/>
          </a:solidFill>
          <a:ln w="12700">
            <a:solidFill>
              <a:srgbClr val="F7F8F8"/>
            </a:solidFill>
            <a:prstDash val="solid"/>
          </a:ln>
        </p:spPr>
        <p:txBody>
          <a:bodyPr/>
          <a:lstStyle/>
          <a:p>
            <a:endParaRPr lang="pt-BR"/>
          </a:p>
        </p:txBody>
      </p:sp>
      <p:sp>
        <p:nvSpPr>
          <p:cNvPr id="18" name="Text 16"/>
          <p:cNvSpPr/>
          <p:nvPr/>
        </p:nvSpPr>
        <p:spPr>
          <a:xfrm>
            <a:off x="4526280" y="3995928"/>
            <a:ext cx="3136392" cy="310896"/>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Bancos e e-commerce</a:t>
            </a:r>
            <a:endParaRPr lang="en-US" sz="1300" dirty="0"/>
          </a:p>
        </p:txBody>
      </p:sp>
      <p:sp>
        <p:nvSpPr>
          <p:cNvPr id="19" name="Text 17"/>
          <p:cNvSpPr/>
          <p:nvPr/>
        </p:nvSpPr>
        <p:spPr>
          <a:xfrm>
            <a:off x="4526280" y="4343400"/>
            <a:ext cx="3136392" cy="804672"/>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Transações financeiras e de compra produzem registros estruturados de alta frequência e alto valor analítico.</a:t>
            </a:r>
            <a:endParaRPr lang="en-US" sz="1200" dirty="0"/>
          </a:p>
        </p:txBody>
      </p:sp>
      <p:sp>
        <p:nvSpPr>
          <p:cNvPr id="20" name="Shape 18"/>
          <p:cNvSpPr/>
          <p:nvPr/>
        </p:nvSpPr>
        <p:spPr>
          <a:xfrm>
            <a:off x="8083296" y="3849624"/>
            <a:ext cx="3538728" cy="1371600"/>
          </a:xfrm>
          <a:prstGeom prst="roundRect">
            <a:avLst>
              <a:gd name="adj" fmla="val 4000"/>
            </a:avLst>
          </a:prstGeom>
          <a:solidFill>
            <a:srgbClr val="F0F1F2"/>
          </a:solidFill>
          <a:ln w="12700">
            <a:solidFill>
              <a:srgbClr val="F0F1F2"/>
            </a:solidFill>
            <a:prstDash val="solid"/>
          </a:ln>
        </p:spPr>
        <p:txBody>
          <a:bodyPr/>
          <a:lstStyle/>
          <a:p>
            <a:endParaRPr lang="pt-BR"/>
          </a:p>
        </p:txBody>
      </p:sp>
      <p:sp>
        <p:nvSpPr>
          <p:cNvPr id="21" name="Text 19"/>
          <p:cNvSpPr/>
          <p:nvPr/>
        </p:nvSpPr>
        <p:spPr>
          <a:xfrm>
            <a:off x="8284464" y="3995928"/>
            <a:ext cx="3136392" cy="310896"/>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Sistemas internos das empresas</a:t>
            </a:r>
            <a:endParaRPr lang="en-US" sz="1300" dirty="0"/>
          </a:p>
        </p:txBody>
      </p:sp>
      <p:sp>
        <p:nvSpPr>
          <p:cNvPr id="22" name="Text 20"/>
          <p:cNvSpPr/>
          <p:nvPr/>
        </p:nvSpPr>
        <p:spPr>
          <a:xfrm>
            <a:off x="8284464" y="4343400"/>
            <a:ext cx="3136392" cy="804672"/>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Operação, logística, atendimento e produção alimentam bases corporativas que sustentam a decisão gerencial.</a:t>
            </a:r>
            <a:endParaRPr lang="en-US" sz="1200" dirty="0"/>
          </a:p>
        </p:txBody>
      </p:sp>
      <p:sp>
        <p:nvSpPr>
          <p:cNvPr id="23" name="Shape 21"/>
          <p:cNvSpPr/>
          <p:nvPr/>
        </p:nvSpPr>
        <p:spPr>
          <a:xfrm>
            <a:off x="566928" y="5358384"/>
            <a:ext cx="11055096" cy="877824"/>
          </a:xfrm>
          <a:prstGeom prst="roundRect">
            <a:avLst>
              <a:gd name="adj" fmla="val 6250"/>
            </a:avLst>
          </a:prstGeom>
          <a:solidFill>
            <a:srgbClr val="23272A"/>
          </a:solidFill>
          <a:ln w="12700">
            <a:solidFill>
              <a:srgbClr val="23272A"/>
            </a:solidFill>
            <a:prstDash val="solid"/>
          </a:ln>
        </p:spPr>
        <p:txBody>
          <a:bodyPr/>
          <a:lstStyle/>
          <a:p>
            <a:endParaRPr lang="pt-BR"/>
          </a:p>
        </p:txBody>
      </p:sp>
      <p:sp>
        <p:nvSpPr>
          <p:cNvPr id="24" name="Text 22"/>
          <p:cNvSpPr/>
          <p:nvPr/>
        </p:nvSpPr>
        <p:spPr>
          <a:xfrm>
            <a:off x="768096" y="5486400"/>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A pergunta do título</a:t>
            </a:r>
            <a:endParaRPr lang="en-US" sz="1300" dirty="0"/>
          </a:p>
        </p:txBody>
      </p:sp>
      <p:sp>
        <p:nvSpPr>
          <p:cNvPr id="25" name="Text 23"/>
          <p:cNvSpPr/>
          <p:nvPr/>
        </p:nvSpPr>
        <p:spPr>
          <a:xfrm>
            <a:off x="768096" y="5779008"/>
            <a:ext cx="10652760" cy="402336"/>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Acumular registros não produz valor por si só. Sem organização, propósito e método, um banco de dados é apenas um bando de dados — e o custo de armazená-los não retorna em decisão melhor.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1 · 1.2</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Big Data e a necessidade de automação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Esses dados formam o que conhecemos como Big Data: dados de alto volume, alta velocidade e/ou alta variedade. Para processar e obter informação útil a partir deles, é necessário automatizar as tarefas de coleta, processamento e análise — o que, nesse volume, é inviável fazer manualmente.</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66928" y="2103120"/>
            <a:ext cx="3538728" cy="1737360"/>
          </a:xfrm>
          <a:prstGeom prst="roundRect">
            <a:avLst>
              <a:gd name="adj" fmla="val 3158"/>
            </a:avLst>
          </a:prstGeom>
          <a:solidFill>
            <a:srgbClr val="F0F1F2"/>
          </a:solidFill>
          <a:ln w="12700">
            <a:solidFill>
              <a:srgbClr val="F0F1F2"/>
            </a:solidFill>
            <a:prstDash val="solid"/>
          </a:ln>
        </p:spPr>
        <p:txBody>
          <a:bodyPr/>
          <a:lstStyle/>
          <a:p>
            <a:endParaRPr lang="pt-BR"/>
          </a:p>
        </p:txBody>
      </p:sp>
      <p:sp>
        <p:nvSpPr>
          <p:cNvPr id="8" name="Text 6"/>
          <p:cNvSpPr/>
          <p:nvPr/>
        </p:nvSpPr>
        <p:spPr>
          <a:xfrm>
            <a:off x="768096" y="2249424"/>
            <a:ext cx="3136392" cy="292608"/>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Volume</a:t>
            </a:r>
            <a:endParaRPr lang="en-US" sz="1500" dirty="0"/>
          </a:p>
        </p:txBody>
      </p:sp>
      <p:sp>
        <p:nvSpPr>
          <p:cNvPr id="9" name="Text 7"/>
          <p:cNvSpPr/>
          <p:nvPr/>
        </p:nvSpPr>
        <p:spPr>
          <a:xfrm>
            <a:off x="768096" y="2596896"/>
            <a:ext cx="3136392" cy="109728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A quantidade de registros ultrapassa a capacidade das ferramentas e dos procedimentos tradicionais de armazenamento e análise.</a:t>
            </a:r>
            <a:endParaRPr lang="en-US" sz="1200" dirty="0"/>
          </a:p>
        </p:txBody>
      </p:sp>
      <p:sp>
        <p:nvSpPr>
          <p:cNvPr id="10" name="Shape 8"/>
          <p:cNvSpPr/>
          <p:nvPr/>
        </p:nvSpPr>
        <p:spPr>
          <a:xfrm>
            <a:off x="4325112" y="2103120"/>
            <a:ext cx="3538728" cy="1737360"/>
          </a:xfrm>
          <a:prstGeom prst="roundRect">
            <a:avLst>
              <a:gd name="adj" fmla="val 3158"/>
            </a:avLst>
          </a:prstGeom>
          <a:solidFill>
            <a:srgbClr val="F7F8F8"/>
          </a:solidFill>
          <a:ln w="12700">
            <a:solidFill>
              <a:srgbClr val="F7F8F8"/>
            </a:solidFill>
            <a:prstDash val="solid"/>
          </a:ln>
        </p:spPr>
        <p:txBody>
          <a:bodyPr/>
          <a:lstStyle/>
          <a:p>
            <a:endParaRPr lang="pt-BR"/>
          </a:p>
        </p:txBody>
      </p:sp>
      <p:sp>
        <p:nvSpPr>
          <p:cNvPr id="11" name="Text 9"/>
          <p:cNvSpPr/>
          <p:nvPr/>
        </p:nvSpPr>
        <p:spPr>
          <a:xfrm>
            <a:off x="4526280" y="2249424"/>
            <a:ext cx="3136392" cy="292608"/>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Velocidade</a:t>
            </a:r>
            <a:endParaRPr lang="en-US" sz="1500" dirty="0"/>
          </a:p>
        </p:txBody>
      </p:sp>
      <p:sp>
        <p:nvSpPr>
          <p:cNvPr id="12" name="Text 10"/>
          <p:cNvSpPr/>
          <p:nvPr/>
        </p:nvSpPr>
        <p:spPr>
          <a:xfrm>
            <a:off x="4526280" y="2596896"/>
            <a:ext cx="3136392" cy="109728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Os dados chegam em fluxo contínuo, e boa parte do seu valor depende de serem processados próximo ao momento em que são gerados.</a:t>
            </a:r>
            <a:endParaRPr lang="en-US" sz="1200" dirty="0"/>
          </a:p>
        </p:txBody>
      </p:sp>
      <p:sp>
        <p:nvSpPr>
          <p:cNvPr id="13" name="Shape 11"/>
          <p:cNvSpPr/>
          <p:nvPr/>
        </p:nvSpPr>
        <p:spPr>
          <a:xfrm>
            <a:off x="8083296" y="2103120"/>
            <a:ext cx="3538728" cy="1737360"/>
          </a:xfrm>
          <a:prstGeom prst="roundRect">
            <a:avLst>
              <a:gd name="adj" fmla="val 3158"/>
            </a:avLst>
          </a:prstGeom>
          <a:solidFill>
            <a:srgbClr val="F0F1F2"/>
          </a:solidFill>
          <a:ln w="12700">
            <a:solidFill>
              <a:srgbClr val="F0F1F2"/>
            </a:solidFill>
            <a:prstDash val="solid"/>
          </a:ln>
        </p:spPr>
        <p:txBody>
          <a:bodyPr/>
          <a:lstStyle/>
          <a:p>
            <a:endParaRPr lang="pt-BR"/>
          </a:p>
        </p:txBody>
      </p:sp>
      <p:sp>
        <p:nvSpPr>
          <p:cNvPr id="14" name="Text 12"/>
          <p:cNvSpPr/>
          <p:nvPr/>
        </p:nvSpPr>
        <p:spPr>
          <a:xfrm>
            <a:off x="8284464" y="2249424"/>
            <a:ext cx="3136392" cy="292608"/>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Variedade</a:t>
            </a:r>
            <a:endParaRPr lang="en-US" sz="1500" dirty="0"/>
          </a:p>
        </p:txBody>
      </p:sp>
      <p:sp>
        <p:nvSpPr>
          <p:cNvPr id="15" name="Text 13"/>
          <p:cNvSpPr/>
          <p:nvPr/>
        </p:nvSpPr>
        <p:spPr>
          <a:xfrm>
            <a:off x="8284464" y="2596896"/>
            <a:ext cx="3136392" cy="109728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Convivem formatos muito distintos — tabelas, textos, imagens, áudios, registros de sensores —, o que impede um tratamento único.</a:t>
            </a:r>
            <a:endParaRPr lang="en-US" sz="1200" dirty="0"/>
          </a:p>
        </p:txBody>
      </p:sp>
      <p:sp>
        <p:nvSpPr>
          <p:cNvPr id="16" name="Text 14"/>
          <p:cNvSpPr/>
          <p:nvPr/>
        </p:nvSpPr>
        <p:spPr>
          <a:xfrm>
            <a:off x="566928" y="4041648"/>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A resposta tecnológica</a:t>
            </a:r>
            <a:endParaRPr lang="en-US" sz="1300" dirty="0"/>
          </a:p>
        </p:txBody>
      </p:sp>
      <p:sp>
        <p:nvSpPr>
          <p:cNvPr id="17" name="Shape 15"/>
          <p:cNvSpPr/>
          <p:nvPr/>
        </p:nvSpPr>
        <p:spPr>
          <a:xfrm>
            <a:off x="566928" y="4370832"/>
            <a:ext cx="5394960" cy="914400"/>
          </a:xfrm>
          <a:prstGeom prst="roundRect">
            <a:avLst>
              <a:gd name="adj" fmla="val 6000"/>
            </a:avLst>
          </a:prstGeom>
          <a:solidFill>
            <a:srgbClr val="23272A"/>
          </a:solidFill>
          <a:ln w="12700">
            <a:solidFill>
              <a:srgbClr val="23272A"/>
            </a:solidFill>
            <a:prstDash val="solid"/>
          </a:ln>
        </p:spPr>
        <p:txBody>
          <a:bodyPr/>
          <a:lstStyle/>
          <a:p>
            <a:endParaRPr lang="pt-BR"/>
          </a:p>
        </p:txBody>
      </p:sp>
      <p:sp>
        <p:nvSpPr>
          <p:cNvPr id="18" name="Text 16"/>
          <p:cNvSpPr/>
          <p:nvPr/>
        </p:nvSpPr>
        <p:spPr>
          <a:xfrm>
            <a:off x="768096" y="4517136"/>
            <a:ext cx="4992624"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Inteligência artificial</a:t>
            </a:r>
            <a:endParaRPr lang="en-US" sz="1300" dirty="0"/>
          </a:p>
        </p:txBody>
      </p:sp>
      <p:sp>
        <p:nvSpPr>
          <p:cNvPr id="19" name="Text 17"/>
          <p:cNvSpPr/>
          <p:nvPr/>
        </p:nvSpPr>
        <p:spPr>
          <a:xfrm>
            <a:off x="768096" y="4864608"/>
            <a:ext cx="4992624" cy="27432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Nesse contexto surge a inteligência artificial, que visa simular o comportamento de um cérebro humano utilizando máquinas.</a:t>
            </a:r>
            <a:endParaRPr lang="en-US" sz="1250" dirty="0"/>
          </a:p>
        </p:txBody>
      </p:sp>
      <p:sp>
        <p:nvSpPr>
          <p:cNvPr id="20" name="Shape 18"/>
          <p:cNvSpPr/>
          <p:nvPr/>
        </p:nvSpPr>
        <p:spPr>
          <a:xfrm>
            <a:off x="6227064" y="4370832"/>
            <a:ext cx="5394960" cy="914400"/>
          </a:xfrm>
          <a:prstGeom prst="roundRect">
            <a:avLst>
              <a:gd name="adj" fmla="val 6000"/>
            </a:avLst>
          </a:prstGeom>
          <a:solidFill>
            <a:srgbClr val="F0F1F2"/>
          </a:solidFill>
          <a:ln w="12700">
            <a:solidFill>
              <a:srgbClr val="F0F1F2"/>
            </a:solidFill>
            <a:prstDash val="solid"/>
          </a:ln>
        </p:spPr>
        <p:txBody>
          <a:bodyPr/>
          <a:lstStyle/>
          <a:p>
            <a:endParaRPr lang="pt-BR"/>
          </a:p>
        </p:txBody>
      </p:sp>
      <p:sp>
        <p:nvSpPr>
          <p:cNvPr id="21" name="Text 19"/>
          <p:cNvSpPr/>
          <p:nvPr/>
        </p:nvSpPr>
        <p:spPr>
          <a:xfrm>
            <a:off x="6428232" y="4517136"/>
            <a:ext cx="4992624" cy="29260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Consequência prática</a:t>
            </a:r>
            <a:endParaRPr lang="en-US" sz="1300" dirty="0"/>
          </a:p>
        </p:txBody>
      </p:sp>
      <p:sp>
        <p:nvSpPr>
          <p:cNvPr id="22" name="Text 20"/>
          <p:cNvSpPr/>
          <p:nvPr/>
        </p:nvSpPr>
        <p:spPr>
          <a:xfrm>
            <a:off x="6428232" y="4864608"/>
            <a:ext cx="4992624" cy="27432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A automação deixa de ser conveniência e passa a ser condição: sem ela, o volume disponível simplesmente não se converte em informação para decisão.</a:t>
            </a:r>
            <a:endParaRPr lang="en-US" sz="1250" dirty="0"/>
          </a:p>
        </p:txBody>
      </p:sp>
      <p:sp>
        <p:nvSpPr>
          <p:cNvPr id="23" name="Shape 21"/>
          <p:cNvSpPr/>
          <p:nvPr/>
        </p:nvSpPr>
        <p:spPr>
          <a:xfrm>
            <a:off x="566928" y="5358384"/>
            <a:ext cx="11055096" cy="877824"/>
          </a:xfrm>
          <a:prstGeom prst="roundRect">
            <a:avLst>
              <a:gd name="adj" fmla="val 6250"/>
            </a:avLst>
          </a:prstGeom>
          <a:solidFill>
            <a:srgbClr val="23272A"/>
          </a:solidFill>
          <a:ln w="12700">
            <a:solidFill>
              <a:srgbClr val="23272A"/>
            </a:solidFill>
            <a:prstDash val="solid"/>
          </a:ln>
        </p:spPr>
        <p:txBody>
          <a:bodyPr/>
          <a:lstStyle/>
          <a:p>
            <a:endParaRPr lang="pt-BR"/>
          </a:p>
        </p:txBody>
      </p:sp>
      <p:sp>
        <p:nvSpPr>
          <p:cNvPr id="24" name="Text 22"/>
          <p:cNvSpPr/>
          <p:nvPr/>
        </p:nvSpPr>
        <p:spPr>
          <a:xfrm>
            <a:off x="768096" y="5486400"/>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Observação</a:t>
            </a:r>
            <a:endParaRPr lang="en-US" sz="1300" dirty="0"/>
          </a:p>
        </p:txBody>
      </p:sp>
      <p:sp>
        <p:nvSpPr>
          <p:cNvPr id="25" name="Text 23"/>
          <p:cNvSpPr/>
          <p:nvPr/>
        </p:nvSpPr>
        <p:spPr>
          <a:xfrm>
            <a:off x="768096" y="5779008"/>
            <a:ext cx="10652760" cy="402336"/>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Os três V são critérios de caracterização, não um limiar: um conjunto não precisa satisfazer os três simultaneamente para exigir tratamento de Big Data.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1 · 1.3</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Mineração de dados e aprendizado de máquina</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Dois termos frequentemente confundidos, com definições consolidadas e relação de dependência entre si.</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66928" y="2048256"/>
            <a:ext cx="5394960" cy="1463040"/>
          </a:xfrm>
          <a:prstGeom prst="roundRect">
            <a:avLst>
              <a:gd name="adj" fmla="val 3750"/>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194560"/>
            <a:ext cx="4992624"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Data Mining (mineração de dados)</a:t>
            </a:r>
            <a:endParaRPr lang="en-US" sz="1400" dirty="0"/>
          </a:p>
        </p:txBody>
      </p:sp>
      <p:sp>
        <p:nvSpPr>
          <p:cNvPr id="9" name="Text 7"/>
          <p:cNvSpPr/>
          <p:nvPr/>
        </p:nvSpPr>
        <p:spPr>
          <a:xfrm>
            <a:off x="768096" y="2542032"/>
            <a:ext cx="4992624" cy="82296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Conforme a definição do Gartner Group, é o processo de descoberta de correlações, padrões e tendências significativas em grandes volumes de dados, por meio de técnicas de reconhecimento de padrões, estatística e outras ferramentas matemáticas.</a:t>
            </a:r>
            <a:endParaRPr lang="en-US" sz="1250" dirty="0"/>
          </a:p>
        </p:txBody>
      </p:sp>
      <p:sp>
        <p:nvSpPr>
          <p:cNvPr id="10" name="Shape 8"/>
          <p:cNvSpPr/>
          <p:nvPr/>
        </p:nvSpPr>
        <p:spPr>
          <a:xfrm>
            <a:off x="6227064" y="2048256"/>
            <a:ext cx="5394960" cy="1463040"/>
          </a:xfrm>
          <a:prstGeom prst="roundRect">
            <a:avLst>
              <a:gd name="adj" fmla="val 3750"/>
            </a:avLst>
          </a:prstGeom>
          <a:solidFill>
            <a:srgbClr val="F0F1F2"/>
          </a:solidFill>
          <a:ln w="12700">
            <a:solidFill>
              <a:srgbClr val="F0F1F2"/>
            </a:solidFill>
            <a:prstDash val="solid"/>
          </a:ln>
        </p:spPr>
        <p:txBody>
          <a:bodyPr/>
          <a:lstStyle/>
          <a:p>
            <a:endParaRPr lang="pt-BR"/>
          </a:p>
        </p:txBody>
      </p:sp>
      <p:sp>
        <p:nvSpPr>
          <p:cNvPr id="11" name="Text 9"/>
          <p:cNvSpPr/>
          <p:nvPr/>
        </p:nvSpPr>
        <p:spPr>
          <a:xfrm>
            <a:off x="6428232" y="2194560"/>
            <a:ext cx="4992624" cy="292608"/>
          </a:xfrm>
          <a:prstGeom prst="rect">
            <a:avLst/>
          </a:prstGeom>
          <a:noFill/>
          <a:ln/>
        </p:spPr>
        <p:txBody>
          <a:bodyPr wrap="square" lIns="0" tIns="0" rIns="0" bIns="0" rtlCol="0" anchor="ctr"/>
          <a:lstStyle/>
          <a:p>
            <a:pPr marL="0" indent="0">
              <a:buNone/>
            </a:pPr>
            <a:r>
              <a:rPr lang="en-US" sz="1400" b="1" dirty="0">
                <a:solidFill>
                  <a:srgbClr val="23272A"/>
                </a:solidFill>
                <a:latin typeface="Calibri" pitchFamily="34" charset="0"/>
                <a:ea typeface="Calibri" pitchFamily="34" charset="-122"/>
                <a:cs typeface="Calibri" pitchFamily="34" charset="-120"/>
              </a:rPr>
              <a:t>Machine Learning (aprendizado de máquina)</a:t>
            </a:r>
            <a:endParaRPr lang="en-US" sz="1400" dirty="0"/>
          </a:p>
        </p:txBody>
      </p:sp>
      <p:sp>
        <p:nvSpPr>
          <p:cNvPr id="12" name="Text 10"/>
          <p:cNvSpPr/>
          <p:nvPr/>
        </p:nvSpPr>
        <p:spPr>
          <a:xfrm>
            <a:off x="6428232" y="2542032"/>
            <a:ext cx="4992624" cy="82296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Subárea da inteligência artificial concentrada na descoberta de padrões ou de fórmulas matemáticas que expliquem o relacionamento entre os dados, estudando formas de automatizar tarefas inteligentes difíceis de realizar por humanos.</a:t>
            </a:r>
            <a:endParaRPr lang="en-US" sz="1250" dirty="0"/>
          </a:p>
        </p:txBody>
      </p:sp>
      <p:sp>
        <p:nvSpPr>
          <p:cNvPr id="13" name="Text 11"/>
          <p:cNvSpPr/>
          <p:nvPr/>
        </p:nvSpPr>
        <p:spPr>
          <a:xfrm>
            <a:off x="566928" y="371246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Como os campos se encaixam</a:t>
            </a:r>
            <a:endParaRPr lang="en-US" sz="1300" dirty="0"/>
          </a:p>
        </p:txBody>
      </p:sp>
      <p:sp>
        <p:nvSpPr>
          <p:cNvPr id="14" name="Shape 12"/>
          <p:cNvSpPr/>
          <p:nvPr/>
        </p:nvSpPr>
        <p:spPr>
          <a:xfrm>
            <a:off x="566928" y="4078224"/>
            <a:ext cx="11055096" cy="621792"/>
          </a:xfrm>
          <a:prstGeom prst="roundRect">
            <a:avLst>
              <a:gd name="adj" fmla="val 8824"/>
            </a:avLst>
          </a:prstGeom>
          <a:solidFill>
            <a:srgbClr val="F0F1F2"/>
          </a:solidFill>
          <a:ln/>
        </p:spPr>
        <p:txBody>
          <a:bodyPr/>
          <a:lstStyle/>
          <a:p>
            <a:endParaRPr lang="pt-BR"/>
          </a:p>
        </p:txBody>
      </p:sp>
      <p:sp>
        <p:nvSpPr>
          <p:cNvPr id="15" name="Text 13"/>
          <p:cNvSpPr/>
          <p:nvPr/>
        </p:nvSpPr>
        <p:spPr>
          <a:xfrm>
            <a:off x="768096" y="4078224"/>
            <a:ext cx="3108960" cy="621792"/>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Inteligência artificial</a:t>
            </a:r>
            <a:endParaRPr lang="en-US" sz="1300" dirty="0"/>
          </a:p>
        </p:txBody>
      </p:sp>
      <p:sp>
        <p:nvSpPr>
          <p:cNvPr id="16" name="Text 14"/>
          <p:cNvSpPr/>
          <p:nvPr/>
        </p:nvSpPr>
        <p:spPr>
          <a:xfrm>
            <a:off x="4023360" y="4078224"/>
            <a:ext cx="7397496" cy="621792"/>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Campo mais amplo: simular comportamento inteligente por meio de máquinas.</a:t>
            </a:r>
            <a:endParaRPr lang="en-US" sz="1200" dirty="0"/>
          </a:p>
        </p:txBody>
      </p:sp>
      <p:sp>
        <p:nvSpPr>
          <p:cNvPr id="17" name="Shape 15"/>
          <p:cNvSpPr/>
          <p:nvPr/>
        </p:nvSpPr>
        <p:spPr>
          <a:xfrm>
            <a:off x="566928" y="4773168"/>
            <a:ext cx="11055096" cy="621792"/>
          </a:xfrm>
          <a:prstGeom prst="roundRect">
            <a:avLst>
              <a:gd name="adj" fmla="val 8824"/>
            </a:avLst>
          </a:prstGeom>
          <a:solidFill>
            <a:srgbClr val="F7F8F8"/>
          </a:solidFill>
          <a:ln/>
        </p:spPr>
        <p:txBody>
          <a:bodyPr/>
          <a:lstStyle/>
          <a:p>
            <a:endParaRPr lang="pt-BR"/>
          </a:p>
        </p:txBody>
      </p:sp>
      <p:sp>
        <p:nvSpPr>
          <p:cNvPr id="18" name="Text 16"/>
          <p:cNvSpPr/>
          <p:nvPr/>
        </p:nvSpPr>
        <p:spPr>
          <a:xfrm>
            <a:off x="768096" y="4773168"/>
            <a:ext cx="3108960" cy="621792"/>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Machine Learning</a:t>
            </a:r>
            <a:endParaRPr lang="en-US" sz="1300" dirty="0"/>
          </a:p>
        </p:txBody>
      </p:sp>
      <p:sp>
        <p:nvSpPr>
          <p:cNvPr id="19" name="Text 17"/>
          <p:cNvSpPr/>
          <p:nvPr/>
        </p:nvSpPr>
        <p:spPr>
          <a:xfrm>
            <a:off x="4023360" y="4773168"/>
            <a:ext cx="7397496" cy="621792"/>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Subárea da IA que aprende padrões a partir de dados, em vez de seguir regras programadas explicitamente.</a:t>
            </a:r>
            <a:endParaRPr lang="en-US" sz="1200" dirty="0"/>
          </a:p>
        </p:txBody>
      </p:sp>
      <p:sp>
        <p:nvSpPr>
          <p:cNvPr id="20" name="Shape 18"/>
          <p:cNvSpPr/>
          <p:nvPr/>
        </p:nvSpPr>
        <p:spPr>
          <a:xfrm>
            <a:off x="566928" y="5468112"/>
            <a:ext cx="11055096" cy="621792"/>
          </a:xfrm>
          <a:prstGeom prst="roundRect">
            <a:avLst>
              <a:gd name="adj" fmla="val 8824"/>
            </a:avLst>
          </a:prstGeom>
          <a:solidFill>
            <a:srgbClr val="F0F1F2"/>
          </a:solidFill>
          <a:ln/>
        </p:spPr>
        <p:txBody>
          <a:bodyPr/>
          <a:lstStyle/>
          <a:p>
            <a:endParaRPr lang="pt-BR"/>
          </a:p>
        </p:txBody>
      </p:sp>
      <p:sp>
        <p:nvSpPr>
          <p:cNvPr id="21" name="Text 19"/>
          <p:cNvSpPr/>
          <p:nvPr/>
        </p:nvSpPr>
        <p:spPr>
          <a:xfrm>
            <a:off x="768096" y="5468112"/>
            <a:ext cx="3108960" cy="621792"/>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Data Mining</a:t>
            </a:r>
            <a:endParaRPr lang="en-US" sz="1300" dirty="0"/>
          </a:p>
        </p:txBody>
      </p:sp>
      <p:sp>
        <p:nvSpPr>
          <p:cNvPr id="22" name="Text 20"/>
          <p:cNvSpPr/>
          <p:nvPr/>
        </p:nvSpPr>
        <p:spPr>
          <a:xfrm>
            <a:off x="4023360" y="5468112"/>
            <a:ext cx="7397496" cy="621792"/>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Processo de descoberta de padrões em grandes volumes, que frequentemente recorre a técnicas de Machine Learning para encontrá-los.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1 · 1.4</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Ciência de dados: um conceito mais amplo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Data Science refere-se à coleta de dados de várias fontes para fins de análise, com o objetivo de apoiar a tomada de decisões, geralmente utilizando grandes quantidades de dados de forma sistematizada.</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566928" y="2011680"/>
            <a:ext cx="11055096" cy="1093851"/>
          </a:xfrm>
          <a:prstGeom prst="roundRect">
            <a:avLst>
              <a:gd name="adj" fmla="val 5016"/>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139696"/>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Tese central do material de referência</a:t>
            </a:r>
            <a:endParaRPr lang="en-US" sz="1300" dirty="0"/>
          </a:p>
        </p:txBody>
      </p:sp>
      <p:sp>
        <p:nvSpPr>
          <p:cNvPr id="9" name="Text 7"/>
          <p:cNvSpPr/>
          <p:nvPr/>
        </p:nvSpPr>
        <p:spPr>
          <a:xfrm>
            <a:off x="768096" y="2432304"/>
            <a:ext cx="10652760" cy="618363"/>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A ciência de dados não é uma ferramenta, e sim um conjunto de métodos com o objetivo de apoiar decisões de negócio baseadas em dados. As etapas de preparação dos dados brutos, limpeza e análise são fundamentais para as etapas seguintes.</a:t>
            </a:r>
            <a:endParaRPr lang="en-US" sz="1250" dirty="0"/>
          </a:p>
        </p:txBody>
      </p:sp>
      <p:sp>
        <p:nvSpPr>
          <p:cNvPr id="10" name="Text 8"/>
          <p:cNvSpPr/>
          <p:nvPr/>
        </p:nvSpPr>
        <p:spPr>
          <a:xfrm>
            <a:off x="566928" y="288950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As três camadas de análise que o campo abrange</a:t>
            </a:r>
            <a:endParaRPr lang="en-US" sz="1300" dirty="0"/>
          </a:p>
        </p:txBody>
      </p:sp>
      <p:sp>
        <p:nvSpPr>
          <p:cNvPr id="11" name="Shape 9"/>
          <p:cNvSpPr/>
          <p:nvPr/>
        </p:nvSpPr>
        <p:spPr>
          <a:xfrm>
            <a:off x="566928" y="3255264"/>
            <a:ext cx="3538728" cy="1600200"/>
          </a:xfrm>
          <a:prstGeom prst="roundRect">
            <a:avLst>
              <a:gd name="adj" fmla="val 3429"/>
            </a:avLst>
          </a:prstGeom>
          <a:solidFill>
            <a:srgbClr val="F0F1F2"/>
          </a:solidFill>
          <a:ln w="12700">
            <a:solidFill>
              <a:srgbClr val="F0F1F2"/>
            </a:solidFill>
            <a:prstDash val="solid"/>
          </a:ln>
        </p:spPr>
        <p:txBody>
          <a:bodyPr/>
          <a:lstStyle/>
          <a:p>
            <a:endParaRPr lang="pt-BR"/>
          </a:p>
        </p:txBody>
      </p:sp>
      <p:sp>
        <p:nvSpPr>
          <p:cNvPr id="12" name="Text 10"/>
          <p:cNvSpPr/>
          <p:nvPr/>
        </p:nvSpPr>
        <p:spPr>
          <a:xfrm>
            <a:off x="768096" y="3401568"/>
            <a:ext cx="3136392"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Análise descritiva ou diagnóstica</a:t>
            </a:r>
            <a:endParaRPr lang="en-US" sz="1350" dirty="0"/>
          </a:p>
        </p:txBody>
      </p:sp>
      <p:sp>
        <p:nvSpPr>
          <p:cNvPr id="13" name="Text 11"/>
          <p:cNvSpPr/>
          <p:nvPr/>
        </p:nvSpPr>
        <p:spPr>
          <a:xfrm>
            <a:off x="768096" y="3749040"/>
            <a:ext cx="3136392" cy="96012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Olha para os dados passados para entender o comportamento e as causas. É o terreno das técnicas de Business Intelligence.</a:t>
            </a:r>
            <a:endParaRPr lang="en-US" sz="1200" dirty="0"/>
          </a:p>
        </p:txBody>
      </p:sp>
      <p:sp>
        <p:nvSpPr>
          <p:cNvPr id="14" name="Shape 12"/>
          <p:cNvSpPr/>
          <p:nvPr/>
        </p:nvSpPr>
        <p:spPr>
          <a:xfrm>
            <a:off x="4325112" y="3255264"/>
            <a:ext cx="3538728" cy="1600200"/>
          </a:xfrm>
          <a:prstGeom prst="roundRect">
            <a:avLst>
              <a:gd name="adj" fmla="val 3429"/>
            </a:avLst>
          </a:prstGeom>
          <a:solidFill>
            <a:srgbClr val="F7F8F8"/>
          </a:solidFill>
          <a:ln w="12700">
            <a:solidFill>
              <a:srgbClr val="F7F8F8"/>
            </a:solidFill>
            <a:prstDash val="solid"/>
          </a:ln>
        </p:spPr>
        <p:txBody>
          <a:bodyPr/>
          <a:lstStyle/>
          <a:p>
            <a:endParaRPr lang="pt-BR"/>
          </a:p>
        </p:txBody>
      </p:sp>
      <p:sp>
        <p:nvSpPr>
          <p:cNvPr id="15" name="Text 13"/>
          <p:cNvSpPr/>
          <p:nvPr/>
        </p:nvSpPr>
        <p:spPr>
          <a:xfrm>
            <a:off x="4526280" y="3401568"/>
            <a:ext cx="3136392"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Análise preditiva</a:t>
            </a:r>
            <a:endParaRPr lang="en-US" sz="1350" dirty="0"/>
          </a:p>
        </p:txBody>
      </p:sp>
      <p:sp>
        <p:nvSpPr>
          <p:cNvPr id="16" name="Text 14"/>
          <p:cNvSpPr/>
          <p:nvPr/>
        </p:nvSpPr>
        <p:spPr>
          <a:xfrm>
            <a:off x="4526280" y="3749040"/>
            <a:ext cx="3136392" cy="96012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Estima o que tende a acontecer, por meio da aplicação de algoritmos de Machine Learning sobre dados históricos.</a:t>
            </a:r>
            <a:endParaRPr lang="en-US" sz="1200" dirty="0"/>
          </a:p>
        </p:txBody>
      </p:sp>
      <p:sp>
        <p:nvSpPr>
          <p:cNvPr id="17" name="Shape 15"/>
          <p:cNvSpPr/>
          <p:nvPr/>
        </p:nvSpPr>
        <p:spPr>
          <a:xfrm>
            <a:off x="8083296" y="3255264"/>
            <a:ext cx="3538728" cy="1600200"/>
          </a:xfrm>
          <a:prstGeom prst="roundRect">
            <a:avLst>
              <a:gd name="adj" fmla="val 3429"/>
            </a:avLst>
          </a:prstGeom>
          <a:solidFill>
            <a:srgbClr val="F0F1F2"/>
          </a:solidFill>
          <a:ln w="12700">
            <a:solidFill>
              <a:srgbClr val="F0F1F2"/>
            </a:solidFill>
            <a:prstDash val="solid"/>
          </a:ln>
        </p:spPr>
        <p:txBody>
          <a:bodyPr/>
          <a:lstStyle/>
          <a:p>
            <a:endParaRPr lang="pt-BR"/>
          </a:p>
        </p:txBody>
      </p:sp>
      <p:sp>
        <p:nvSpPr>
          <p:cNvPr id="18" name="Text 16"/>
          <p:cNvSpPr/>
          <p:nvPr/>
        </p:nvSpPr>
        <p:spPr>
          <a:xfrm>
            <a:off x="8284464" y="3401568"/>
            <a:ext cx="3136392"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Análise prescritiva</a:t>
            </a:r>
            <a:endParaRPr lang="en-US" sz="1350" dirty="0"/>
          </a:p>
        </p:txBody>
      </p:sp>
      <p:sp>
        <p:nvSpPr>
          <p:cNvPr id="19" name="Text 17"/>
          <p:cNvSpPr/>
          <p:nvPr/>
        </p:nvSpPr>
        <p:spPr>
          <a:xfrm>
            <a:off x="8284464" y="3749040"/>
            <a:ext cx="3136392" cy="96012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Vai além da previsão e indica o que deve ser feito, combinando o modelo preditivo a objetivos e restrições da operação.</a:t>
            </a:r>
            <a:endParaRPr lang="en-US" sz="1200" dirty="0"/>
          </a:p>
        </p:txBody>
      </p:sp>
      <p:sp>
        <p:nvSpPr>
          <p:cNvPr id="20" name="Shape 18"/>
          <p:cNvSpPr/>
          <p:nvPr/>
        </p:nvSpPr>
        <p:spPr>
          <a:xfrm>
            <a:off x="566928" y="4992624"/>
            <a:ext cx="5394960" cy="1170432"/>
          </a:xfrm>
          <a:prstGeom prst="roundRect">
            <a:avLst>
              <a:gd name="adj" fmla="val 4688"/>
            </a:avLst>
          </a:prstGeom>
          <a:solidFill>
            <a:srgbClr val="F0F1F2"/>
          </a:solidFill>
          <a:ln w="12700">
            <a:solidFill>
              <a:srgbClr val="F0F1F2"/>
            </a:solidFill>
            <a:prstDash val="solid"/>
          </a:ln>
        </p:spPr>
        <p:txBody>
          <a:bodyPr/>
          <a:lstStyle/>
          <a:p>
            <a:endParaRPr lang="pt-BR"/>
          </a:p>
        </p:txBody>
      </p:sp>
      <p:sp>
        <p:nvSpPr>
          <p:cNvPr id="21" name="Text 19"/>
          <p:cNvSpPr/>
          <p:nvPr/>
        </p:nvSpPr>
        <p:spPr>
          <a:xfrm>
            <a:off x="768096" y="5138928"/>
            <a:ext cx="4992624" cy="29260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O produto esperado</a:t>
            </a:r>
            <a:endParaRPr lang="en-US" sz="1300" dirty="0"/>
          </a:p>
        </p:txBody>
      </p:sp>
      <p:sp>
        <p:nvSpPr>
          <p:cNvPr id="22" name="Text 20"/>
          <p:cNvSpPr/>
          <p:nvPr/>
        </p:nvSpPr>
        <p:spPr>
          <a:xfrm>
            <a:off x="768096" y="5486400"/>
            <a:ext cx="4992624" cy="530352"/>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Gerar um produto que agregue valor ao negócio — aplicar a ciência para aprender com os dados, e não simplesmente executar algoritmos ou técnicas.</a:t>
            </a:r>
            <a:endParaRPr lang="en-US" sz="1250" dirty="0"/>
          </a:p>
        </p:txBody>
      </p:sp>
      <p:sp>
        <p:nvSpPr>
          <p:cNvPr id="23" name="Shape 21"/>
          <p:cNvSpPr/>
          <p:nvPr/>
        </p:nvSpPr>
        <p:spPr>
          <a:xfrm>
            <a:off x="6227064" y="4992624"/>
            <a:ext cx="5394960" cy="1170432"/>
          </a:xfrm>
          <a:prstGeom prst="roundRect">
            <a:avLst>
              <a:gd name="adj" fmla="val 4688"/>
            </a:avLst>
          </a:prstGeom>
          <a:solidFill>
            <a:srgbClr val="23272A"/>
          </a:solidFill>
          <a:ln w="12700">
            <a:solidFill>
              <a:srgbClr val="23272A"/>
            </a:solidFill>
            <a:prstDash val="solid"/>
          </a:ln>
        </p:spPr>
        <p:txBody>
          <a:bodyPr/>
          <a:lstStyle/>
          <a:p>
            <a:endParaRPr lang="pt-BR"/>
          </a:p>
        </p:txBody>
      </p:sp>
      <p:sp>
        <p:nvSpPr>
          <p:cNvPr id="24" name="Text 22"/>
          <p:cNvSpPr/>
          <p:nvPr/>
        </p:nvSpPr>
        <p:spPr>
          <a:xfrm>
            <a:off x="6428232" y="5138928"/>
            <a:ext cx="4992624"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A matéria-prima</a:t>
            </a:r>
            <a:endParaRPr lang="en-US" sz="1300" dirty="0"/>
          </a:p>
        </p:txBody>
      </p:sp>
      <p:sp>
        <p:nvSpPr>
          <p:cNvPr id="25" name="Text 23"/>
          <p:cNvSpPr/>
          <p:nvPr/>
        </p:nvSpPr>
        <p:spPr>
          <a:xfrm>
            <a:off x="6428232" y="5486400"/>
            <a:ext cx="4992624" cy="530352"/>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Quanto mais dados, melhor — desde que sejam dados com qualidade. Na prática, a qualidade é ruim e é preciso gastar tempo considerável em preparação, limpeza e enriquecimento.</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1 · 1.5</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Técnicas antigas, uso recente: o que mudou</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As técnicas de reconhecimento de padrões e de análise exploratória usadas em Data Mining e Machine Learning são antigas e, em grande parte, provenientes da estatística. Só passaram a ser efetivamente usadas para exploração de dados nos últimos anos, por um conjunto de fatores convergentes.</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566928" y="1975104"/>
            <a:ext cx="11055096" cy="548640"/>
          </a:xfrm>
          <a:prstGeom prst="roundRect">
            <a:avLst>
              <a:gd name="adj" fmla="val 10000"/>
            </a:avLst>
          </a:prstGeom>
          <a:solidFill>
            <a:srgbClr val="F0F1F2"/>
          </a:solidFill>
          <a:ln/>
        </p:spPr>
        <p:txBody>
          <a:bodyPr/>
          <a:lstStyle/>
          <a:p>
            <a:endParaRPr lang="pt-BR"/>
          </a:p>
        </p:txBody>
      </p:sp>
      <p:sp>
        <p:nvSpPr>
          <p:cNvPr id="8" name="Text 6"/>
          <p:cNvSpPr/>
          <p:nvPr/>
        </p:nvSpPr>
        <p:spPr>
          <a:xfrm>
            <a:off x="768096" y="1975104"/>
            <a:ext cx="3840480" cy="548640"/>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Maior volume de dados disponível</a:t>
            </a:r>
            <a:endParaRPr lang="en-US" sz="1300" dirty="0"/>
          </a:p>
        </p:txBody>
      </p:sp>
      <p:sp>
        <p:nvSpPr>
          <p:cNvPr id="9" name="Text 7"/>
          <p:cNvSpPr/>
          <p:nvPr/>
        </p:nvSpPr>
        <p:spPr>
          <a:xfrm>
            <a:off x="4754880" y="1975104"/>
            <a:ext cx="6665976" cy="548640"/>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Sem base histórica suficiente, algoritmos que aprendem por exemplos não têm do que aprender.</a:t>
            </a:r>
            <a:endParaRPr lang="en-US" sz="1250" dirty="0"/>
          </a:p>
        </p:txBody>
      </p:sp>
      <p:sp>
        <p:nvSpPr>
          <p:cNvPr id="10" name="Shape 8"/>
          <p:cNvSpPr/>
          <p:nvPr/>
        </p:nvSpPr>
        <p:spPr>
          <a:xfrm>
            <a:off x="566928" y="2578608"/>
            <a:ext cx="11055096" cy="548640"/>
          </a:xfrm>
          <a:prstGeom prst="roundRect">
            <a:avLst>
              <a:gd name="adj" fmla="val 10000"/>
            </a:avLst>
          </a:prstGeom>
          <a:solidFill>
            <a:srgbClr val="F7F8F8"/>
          </a:solidFill>
          <a:ln/>
        </p:spPr>
        <p:txBody>
          <a:bodyPr/>
          <a:lstStyle/>
          <a:p>
            <a:endParaRPr lang="pt-BR"/>
          </a:p>
        </p:txBody>
      </p:sp>
      <p:sp>
        <p:nvSpPr>
          <p:cNvPr id="11" name="Text 9"/>
          <p:cNvSpPr/>
          <p:nvPr/>
        </p:nvSpPr>
        <p:spPr>
          <a:xfrm>
            <a:off x="768096" y="2578608"/>
            <a:ext cx="3840480" cy="548640"/>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Criação e popularização dos Data Warehouses</a:t>
            </a:r>
            <a:endParaRPr lang="en-US" sz="1300" dirty="0"/>
          </a:p>
        </p:txBody>
      </p:sp>
      <p:sp>
        <p:nvSpPr>
          <p:cNvPr id="12" name="Text 10"/>
          <p:cNvSpPr/>
          <p:nvPr/>
        </p:nvSpPr>
        <p:spPr>
          <a:xfrm>
            <a:off x="4754880" y="2578608"/>
            <a:ext cx="6665976" cy="548640"/>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Grandes armazéns de dados, com arquitetura voltada para a tomada de decisão, tornaram o histórico consultável.</a:t>
            </a:r>
            <a:endParaRPr lang="en-US" sz="1250" dirty="0"/>
          </a:p>
        </p:txBody>
      </p:sp>
      <p:sp>
        <p:nvSpPr>
          <p:cNvPr id="13" name="Shape 11"/>
          <p:cNvSpPr/>
          <p:nvPr/>
        </p:nvSpPr>
        <p:spPr>
          <a:xfrm>
            <a:off x="566928" y="3182112"/>
            <a:ext cx="11055096" cy="548640"/>
          </a:xfrm>
          <a:prstGeom prst="roundRect">
            <a:avLst>
              <a:gd name="adj" fmla="val 10000"/>
            </a:avLst>
          </a:prstGeom>
          <a:solidFill>
            <a:srgbClr val="F0F1F2"/>
          </a:solidFill>
          <a:ln/>
        </p:spPr>
        <p:txBody>
          <a:bodyPr/>
          <a:lstStyle/>
          <a:p>
            <a:endParaRPr lang="pt-BR"/>
          </a:p>
        </p:txBody>
      </p:sp>
      <p:sp>
        <p:nvSpPr>
          <p:cNvPr id="14" name="Text 12"/>
          <p:cNvSpPr/>
          <p:nvPr/>
        </p:nvSpPr>
        <p:spPr>
          <a:xfrm>
            <a:off x="768096" y="3182112"/>
            <a:ext cx="3840480" cy="548640"/>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Recursos computacionais potentes</a:t>
            </a:r>
            <a:endParaRPr lang="en-US" sz="1300" dirty="0"/>
          </a:p>
        </p:txBody>
      </p:sp>
      <p:sp>
        <p:nvSpPr>
          <p:cNvPr id="15" name="Text 13"/>
          <p:cNvSpPr/>
          <p:nvPr/>
        </p:nvSpPr>
        <p:spPr>
          <a:xfrm>
            <a:off x="4754880" y="3182112"/>
            <a:ext cx="6665976" cy="548640"/>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Capacidade de processamento e armazenamento a custo decrescente viabilizou o que antes era apenas teórico.</a:t>
            </a:r>
            <a:endParaRPr lang="en-US" sz="1250" dirty="0"/>
          </a:p>
        </p:txBody>
      </p:sp>
      <p:sp>
        <p:nvSpPr>
          <p:cNvPr id="16" name="Shape 14"/>
          <p:cNvSpPr/>
          <p:nvPr/>
        </p:nvSpPr>
        <p:spPr>
          <a:xfrm>
            <a:off x="566928" y="3785616"/>
            <a:ext cx="11055096" cy="548640"/>
          </a:xfrm>
          <a:prstGeom prst="roundRect">
            <a:avLst>
              <a:gd name="adj" fmla="val 10000"/>
            </a:avLst>
          </a:prstGeom>
          <a:solidFill>
            <a:srgbClr val="F7F8F8"/>
          </a:solidFill>
          <a:ln/>
        </p:spPr>
        <p:txBody>
          <a:bodyPr/>
          <a:lstStyle/>
          <a:p>
            <a:endParaRPr lang="pt-BR"/>
          </a:p>
        </p:txBody>
      </p:sp>
      <p:sp>
        <p:nvSpPr>
          <p:cNvPr id="17" name="Text 15"/>
          <p:cNvSpPr/>
          <p:nvPr/>
        </p:nvSpPr>
        <p:spPr>
          <a:xfrm>
            <a:off x="768096" y="3785616"/>
            <a:ext cx="3840480" cy="548640"/>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Forte competição empresarial</a:t>
            </a:r>
            <a:endParaRPr lang="en-US" sz="1300" dirty="0"/>
          </a:p>
        </p:txBody>
      </p:sp>
      <p:sp>
        <p:nvSpPr>
          <p:cNvPr id="18" name="Text 16"/>
          <p:cNvSpPr/>
          <p:nvPr/>
        </p:nvSpPr>
        <p:spPr>
          <a:xfrm>
            <a:off x="4754880" y="3785616"/>
            <a:ext cx="6665976" cy="548640"/>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A pressão por eficiência e diferenciação transformou análise de dados em vantagem competitiva, não em luxo.</a:t>
            </a:r>
            <a:endParaRPr lang="en-US" sz="1250" dirty="0"/>
          </a:p>
        </p:txBody>
      </p:sp>
      <p:sp>
        <p:nvSpPr>
          <p:cNvPr id="19" name="Shape 17"/>
          <p:cNvSpPr/>
          <p:nvPr/>
        </p:nvSpPr>
        <p:spPr>
          <a:xfrm>
            <a:off x="566928" y="4389120"/>
            <a:ext cx="11055096" cy="548640"/>
          </a:xfrm>
          <a:prstGeom prst="roundRect">
            <a:avLst>
              <a:gd name="adj" fmla="val 10000"/>
            </a:avLst>
          </a:prstGeom>
          <a:solidFill>
            <a:srgbClr val="F0F1F2"/>
          </a:solidFill>
          <a:ln/>
        </p:spPr>
        <p:txBody>
          <a:bodyPr/>
          <a:lstStyle/>
          <a:p>
            <a:endParaRPr lang="pt-BR"/>
          </a:p>
        </p:txBody>
      </p:sp>
      <p:sp>
        <p:nvSpPr>
          <p:cNvPr id="20" name="Text 18"/>
          <p:cNvSpPr/>
          <p:nvPr/>
        </p:nvSpPr>
        <p:spPr>
          <a:xfrm>
            <a:off x="768096" y="4389120"/>
            <a:ext cx="3840480" cy="548640"/>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Criação de diversos softwares</a:t>
            </a:r>
            <a:endParaRPr lang="en-US" sz="1300" dirty="0"/>
          </a:p>
        </p:txBody>
      </p:sp>
      <p:sp>
        <p:nvSpPr>
          <p:cNvPr id="21" name="Text 19"/>
          <p:cNvSpPr/>
          <p:nvPr/>
        </p:nvSpPr>
        <p:spPr>
          <a:xfrm>
            <a:off x="4754880" y="4389120"/>
            <a:ext cx="6665976" cy="548640"/>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Bibliotecas e plataformas acessíveis reduziram a barreira de entrada e difundiram as técnicas para além da academia.</a:t>
            </a:r>
            <a:endParaRPr lang="en-US" sz="1250" dirty="0"/>
          </a:p>
        </p:txBody>
      </p:sp>
      <p:sp>
        <p:nvSpPr>
          <p:cNvPr id="22" name="Shape 20"/>
          <p:cNvSpPr/>
          <p:nvPr/>
        </p:nvSpPr>
        <p:spPr>
          <a:xfrm>
            <a:off x="566928" y="5029200"/>
            <a:ext cx="11055096" cy="877824"/>
          </a:xfrm>
          <a:prstGeom prst="roundRect">
            <a:avLst>
              <a:gd name="adj" fmla="val 6250"/>
            </a:avLst>
          </a:prstGeom>
          <a:solidFill>
            <a:srgbClr val="23272A"/>
          </a:solidFill>
          <a:ln w="12700">
            <a:solidFill>
              <a:srgbClr val="23272A"/>
            </a:solidFill>
            <a:prstDash val="solid"/>
          </a:ln>
        </p:spPr>
        <p:txBody>
          <a:bodyPr/>
          <a:lstStyle/>
          <a:p>
            <a:endParaRPr lang="pt-BR"/>
          </a:p>
        </p:txBody>
      </p:sp>
      <p:sp>
        <p:nvSpPr>
          <p:cNvPr id="23" name="Text 21"/>
          <p:cNvSpPr/>
          <p:nvPr/>
        </p:nvSpPr>
        <p:spPr>
          <a:xfrm>
            <a:off x="768096" y="5157216"/>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Leitura crítica</a:t>
            </a:r>
            <a:endParaRPr lang="en-US" sz="1300" dirty="0"/>
          </a:p>
        </p:txBody>
      </p:sp>
      <p:sp>
        <p:nvSpPr>
          <p:cNvPr id="24" name="Text 22"/>
          <p:cNvSpPr/>
          <p:nvPr/>
        </p:nvSpPr>
        <p:spPr>
          <a:xfrm>
            <a:off x="768096" y="5449824"/>
            <a:ext cx="10652760" cy="402336"/>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A lista mostra que o avanço do campo foi mais de infraestrutura e de contexto econômico do que de teoria estatística. Regressão, agrupamento e árvores de decisão já existiam décadas antes de se tornarem prática corrente.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1 · 1.6</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O perfil do profissional de ciência de dados</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Para ser capaz de realizar todas as etapas necessárias para efetivamente gerar valor ao negócio a partir de dados brutos, considera-se que o profissional deve ter formação multidisciplinar.</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566928" y="2103120"/>
            <a:ext cx="2093976" cy="2011680"/>
          </a:xfrm>
          <a:prstGeom prst="roundRect">
            <a:avLst>
              <a:gd name="adj" fmla="val 2727"/>
            </a:avLst>
          </a:prstGeom>
          <a:solidFill>
            <a:srgbClr val="F0F1F2"/>
          </a:solidFill>
          <a:ln w="12700">
            <a:solidFill>
              <a:srgbClr val="F0F1F2"/>
            </a:solidFill>
            <a:prstDash val="solid"/>
          </a:ln>
        </p:spPr>
        <p:txBody>
          <a:bodyPr/>
          <a:lstStyle/>
          <a:p>
            <a:endParaRPr lang="pt-BR"/>
          </a:p>
        </p:txBody>
      </p:sp>
      <p:sp>
        <p:nvSpPr>
          <p:cNvPr id="8" name="Text 6"/>
          <p:cNvSpPr/>
          <p:nvPr/>
        </p:nvSpPr>
        <p:spPr>
          <a:xfrm>
            <a:off x="768096" y="2249424"/>
            <a:ext cx="1691640" cy="365760"/>
          </a:xfrm>
          <a:prstGeom prst="rect">
            <a:avLst/>
          </a:prstGeom>
          <a:noFill/>
          <a:ln/>
        </p:spPr>
        <p:txBody>
          <a:bodyPr wrap="square" lIns="0" tIns="0" rIns="0" bIns="0" rtlCol="0" anchor="ctr"/>
          <a:lstStyle/>
          <a:p>
            <a:pPr marL="0" indent="0">
              <a:buNone/>
            </a:pPr>
            <a:r>
              <a:rPr lang="en-US" sz="1250" b="1" dirty="0">
                <a:solidFill>
                  <a:srgbClr val="23272A"/>
                </a:solidFill>
                <a:latin typeface="Calibri" pitchFamily="34" charset="0"/>
                <a:ea typeface="Calibri" pitchFamily="34" charset="-122"/>
                <a:cs typeface="Calibri" pitchFamily="34" charset="-120"/>
              </a:rPr>
              <a:t>Estatística</a:t>
            </a:r>
            <a:endParaRPr lang="en-US" sz="1250" dirty="0"/>
          </a:p>
        </p:txBody>
      </p:sp>
      <p:sp>
        <p:nvSpPr>
          <p:cNvPr id="9" name="Text 7"/>
          <p:cNvSpPr/>
          <p:nvPr/>
        </p:nvSpPr>
        <p:spPr>
          <a:xfrm>
            <a:off x="768096" y="2670048"/>
            <a:ext cx="1691640" cy="1298448"/>
          </a:xfrm>
          <a:prstGeom prst="rect">
            <a:avLst/>
          </a:prstGeom>
          <a:noFill/>
          <a:ln/>
        </p:spPr>
        <p:txBody>
          <a:bodyPr wrap="square" lIns="0" tIns="0" rIns="0" bIns="0" rtlCol="0" anchor="t"/>
          <a:lstStyle/>
          <a:p>
            <a:pPr marL="0" indent="0">
              <a:lnSpc>
                <a:spcPct val="108000"/>
              </a:lnSpc>
              <a:buNone/>
            </a:pPr>
            <a:r>
              <a:rPr lang="en-US" sz="1100" dirty="0">
                <a:solidFill>
                  <a:srgbClr val="4C555C"/>
                </a:solidFill>
                <a:latin typeface="Calibri" pitchFamily="34" charset="0"/>
                <a:ea typeface="Calibri" pitchFamily="34" charset="-122"/>
                <a:cs typeface="Calibri" pitchFamily="34" charset="-120"/>
              </a:rPr>
              <a:t>Fundamenta a inferência, a quantificação da incerteza e a validação dos resultados obtidos.</a:t>
            </a:r>
            <a:endParaRPr lang="en-US" sz="1100" dirty="0"/>
          </a:p>
        </p:txBody>
      </p:sp>
      <p:sp>
        <p:nvSpPr>
          <p:cNvPr id="10" name="Shape 8"/>
          <p:cNvSpPr/>
          <p:nvPr/>
        </p:nvSpPr>
        <p:spPr>
          <a:xfrm>
            <a:off x="2862072" y="2103120"/>
            <a:ext cx="2093976" cy="2011680"/>
          </a:xfrm>
          <a:prstGeom prst="roundRect">
            <a:avLst>
              <a:gd name="adj" fmla="val 2727"/>
            </a:avLst>
          </a:prstGeom>
          <a:solidFill>
            <a:srgbClr val="F7F8F8"/>
          </a:solidFill>
          <a:ln w="12700">
            <a:solidFill>
              <a:srgbClr val="F7F8F8"/>
            </a:solidFill>
            <a:prstDash val="solid"/>
          </a:ln>
        </p:spPr>
        <p:txBody>
          <a:bodyPr/>
          <a:lstStyle/>
          <a:p>
            <a:endParaRPr lang="pt-BR"/>
          </a:p>
        </p:txBody>
      </p:sp>
      <p:sp>
        <p:nvSpPr>
          <p:cNvPr id="11" name="Text 9"/>
          <p:cNvSpPr/>
          <p:nvPr/>
        </p:nvSpPr>
        <p:spPr>
          <a:xfrm>
            <a:off x="3063240" y="2249424"/>
            <a:ext cx="1691640" cy="365760"/>
          </a:xfrm>
          <a:prstGeom prst="rect">
            <a:avLst/>
          </a:prstGeom>
          <a:noFill/>
          <a:ln/>
        </p:spPr>
        <p:txBody>
          <a:bodyPr wrap="square" lIns="0" tIns="0" rIns="0" bIns="0" rtlCol="0" anchor="ctr"/>
          <a:lstStyle/>
          <a:p>
            <a:pPr marL="0" indent="0">
              <a:buNone/>
            </a:pPr>
            <a:r>
              <a:rPr lang="en-US" sz="1250" b="1" dirty="0">
                <a:solidFill>
                  <a:srgbClr val="23272A"/>
                </a:solidFill>
                <a:latin typeface="Calibri" pitchFamily="34" charset="0"/>
                <a:ea typeface="Calibri" pitchFamily="34" charset="-122"/>
                <a:cs typeface="Calibri" pitchFamily="34" charset="-120"/>
              </a:rPr>
              <a:t>Programação</a:t>
            </a:r>
            <a:endParaRPr lang="en-US" sz="1250" dirty="0"/>
          </a:p>
        </p:txBody>
      </p:sp>
      <p:sp>
        <p:nvSpPr>
          <p:cNvPr id="12" name="Text 10"/>
          <p:cNvSpPr/>
          <p:nvPr/>
        </p:nvSpPr>
        <p:spPr>
          <a:xfrm>
            <a:off x="3063240" y="2670048"/>
            <a:ext cx="1691640" cy="1298448"/>
          </a:xfrm>
          <a:prstGeom prst="rect">
            <a:avLst/>
          </a:prstGeom>
          <a:noFill/>
          <a:ln/>
        </p:spPr>
        <p:txBody>
          <a:bodyPr wrap="square" lIns="0" tIns="0" rIns="0" bIns="0" rtlCol="0" anchor="t"/>
          <a:lstStyle/>
          <a:p>
            <a:pPr marL="0" indent="0">
              <a:lnSpc>
                <a:spcPct val="108000"/>
              </a:lnSpc>
              <a:buNone/>
            </a:pPr>
            <a:r>
              <a:rPr lang="en-US" sz="1100" dirty="0">
                <a:solidFill>
                  <a:srgbClr val="4C555C"/>
                </a:solidFill>
                <a:latin typeface="Calibri" pitchFamily="34" charset="0"/>
                <a:ea typeface="Calibri" pitchFamily="34" charset="-122"/>
                <a:cs typeface="Calibri" pitchFamily="34" charset="-120"/>
              </a:rPr>
              <a:t>Permite automatizar coleta, preparação e experimentação em escala reprodutível.</a:t>
            </a:r>
            <a:endParaRPr lang="en-US" sz="1100" dirty="0"/>
          </a:p>
        </p:txBody>
      </p:sp>
      <p:sp>
        <p:nvSpPr>
          <p:cNvPr id="13" name="Shape 11"/>
          <p:cNvSpPr/>
          <p:nvPr/>
        </p:nvSpPr>
        <p:spPr>
          <a:xfrm>
            <a:off x="5157216" y="2103120"/>
            <a:ext cx="2093976" cy="2011680"/>
          </a:xfrm>
          <a:prstGeom prst="roundRect">
            <a:avLst>
              <a:gd name="adj" fmla="val 2727"/>
            </a:avLst>
          </a:prstGeom>
          <a:solidFill>
            <a:srgbClr val="F0F1F2"/>
          </a:solidFill>
          <a:ln w="12700">
            <a:solidFill>
              <a:srgbClr val="F0F1F2"/>
            </a:solidFill>
            <a:prstDash val="solid"/>
          </a:ln>
        </p:spPr>
        <p:txBody>
          <a:bodyPr/>
          <a:lstStyle/>
          <a:p>
            <a:endParaRPr lang="pt-BR"/>
          </a:p>
        </p:txBody>
      </p:sp>
      <p:sp>
        <p:nvSpPr>
          <p:cNvPr id="14" name="Text 12"/>
          <p:cNvSpPr/>
          <p:nvPr/>
        </p:nvSpPr>
        <p:spPr>
          <a:xfrm>
            <a:off x="5358384" y="2249424"/>
            <a:ext cx="1691640" cy="365760"/>
          </a:xfrm>
          <a:prstGeom prst="rect">
            <a:avLst/>
          </a:prstGeom>
          <a:noFill/>
          <a:ln/>
        </p:spPr>
        <p:txBody>
          <a:bodyPr wrap="square" lIns="0" tIns="0" rIns="0" bIns="0" rtlCol="0" anchor="ctr"/>
          <a:lstStyle/>
          <a:p>
            <a:pPr marL="0" indent="0">
              <a:buNone/>
            </a:pPr>
            <a:r>
              <a:rPr lang="en-US" sz="1250" b="1" dirty="0">
                <a:solidFill>
                  <a:srgbClr val="23272A"/>
                </a:solidFill>
                <a:latin typeface="Calibri" pitchFamily="34" charset="0"/>
                <a:ea typeface="Calibri" pitchFamily="34" charset="-122"/>
                <a:cs typeface="Calibri" pitchFamily="34" charset="-120"/>
              </a:rPr>
              <a:t>Aprendizado de máquina</a:t>
            </a:r>
            <a:endParaRPr lang="en-US" sz="1250" dirty="0"/>
          </a:p>
        </p:txBody>
      </p:sp>
      <p:sp>
        <p:nvSpPr>
          <p:cNvPr id="15" name="Text 13"/>
          <p:cNvSpPr/>
          <p:nvPr/>
        </p:nvSpPr>
        <p:spPr>
          <a:xfrm>
            <a:off x="5358384" y="2670048"/>
            <a:ext cx="1691640" cy="1298448"/>
          </a:xfrm>
          <a:prstGeom prst="rect">
            <a:avLst/>
          </a:prstGeom>
          <a:noFill/>
          <a:ln/>
        </p:spPr>
        <p:txBody>
          <a:bodyPr wrap="square" lIns="0" tIns="0" rIns="0" bIns="0" rtlCol="0" anchor="t"/>
          <a:lstStyle/>
          <a:p>
            <a:pPr marL="0" indent="0">
              <a:lnSpc>
                <a:spcPct val="108000"/>
              </a:lnSpc>
              <a:buNone/>
            </a:pPr>
            <a:r>
              <a:rPr lang="en-US" sz="1100" dirty="0">
                <a:solidFill>
                  <a:srgbClr val="4C555C"/>
                </a:solidFill>
                <a:latin typeface="Calibri" pitchFamily="34" charset="0"/>
                <a:ea typeface="Calibri" pitchFamily="34" charset="-122"/>
                <a:cs typeface="Calibri" pitchFamily="34" charset="-120"/>
              </a:rPr>
              <a:t>Fornece os algoritmos que extraem padrões e produzem estimativas a partir do histórico.</a:t>
            </a:r>
            <a:endParaRPr lang="en-US" sz="1100" dirty="0"/>
          </a:p>
        </p:txBody>
      </p:sp>
      <p:sp>
        <p:nvSpPr>
          <p:cNvPr id="16" name="Shape 14"/>
          <p:cNvSpPr/>
          <p:nvPr/>
        </p:nvSpPr>
        <p:spPr>
          <a:xfrm>
            <a:off x="7452360" y="2103120"/>
            <a:ext cx="2093976" cy="2011680"/>
          </a:xfrm>
          <a:prstGeom prst="roundRect">
            <a:avLst>
              <a:gd name="adj" fmla="val 2727"/>
            </a:avLst>
          </a:prstGeom>
          <a:solidFill>
            <a:srgbClr val="F7F8F8"/>
          </a:solidFill>
          <a:ln w="12700">
            <a:solidFill>
              <a:srgbClr val="F7F8F8"/>
            </a:solidFill>
            <a:prstDash val="solid"/>
          </a:ln>
        </p:spPr>
        <p:txBody>
          <a:bodyPr/>
          <a:lstStyle/>
          <a:p>
            <a:endParaRPr lang="pt-BR"/>
          </a:p>
        </p:txBody>
      </p:sp>
      <p:sp>
        <p:nvSpPr>
          <p:cNvPr id="17" name="Text 15"/>
          <p:cNvSpPr/>
          <p:nvPr/>
        </p:nvSpPr>
        <p:spPr>
          <a:xfrm>
            <a:off x="7653528" y="2249424"/>
            <a:ext cx="1691640" cy="365760"/>
          </a:xfrm>
          <a:prstGeom prst="rect">
            <a:avLst/>
          </a:prstGeom>
          <a:noFill/>
          <a:ln/>
        </p:spPr>
        <p:txBody>
          <a:bodyPr wrap="square" lIns="0" tIns="0" rIns="0" bIns="0" rtlCol="0" anchor="ctr"/>
          <a:lstStyle/>
          <a:p>
            <a:pPr marL="0" indent="0">
              <a:buNone/>
            </a:pPr>
            <a:r>
              <a:rPr lang="en-US" sz="1250" b="1" dirty="0">
                <a:solidFill>
                  <a:srgbClr val="23272A"/>
                </a:solidFill>
                <a:latin typeface="Calibri" pitchFamily="34" charset="0"/>
                <a:ea typeface="Calibri" pitchFamily="34" charset="-122"/>
                <a:cs typeface="Calibri" pitchFamily="34" charset="-120"/>
              </a:rPr>
              <a:t>Banco de dados</a:t>
            </a:r>
            <a:endParaRPr lang="en-US" sz="1250" dirty="0"/>
          </a:p>
        </p:txBody>
      </p:sp>
      <p:sp>
        <p:nvSpPr>
          <p:cNvPr id="18" name="Text 16"/>
          <p:cNvSpPr/>
          <p:nvPr/>
        </p:nvSpPr>
        <p:spPr>
          <a:xfrm>
            <a:off x="7653528" y="2670048"/>
            <a:ext cx="1691640" cy="1298448"/>
          </a:xfrm>
          <a:prstGeom prst="rect">
            <a:avLst/>
          </a:prstGeom>
          <a:noFill/>
          <a:ln/>
        </p:spPr>
        <p:txBody>
          <a:bodyPr wrap="square" lIns="0" tIns="0" rIns="0" bIns="0" rtlCol="0" anchor="t"/>
          <a:lstStyle/>
          <a:p>
            <a:pPr marL="0" indent="0">
              <a:lnSpc>
                <a:spcPct val="108000"/>
              </a:lnSpc>
              <a:buNone/>
            </a:pPr>
            <a:r>
              <a:rPr lang="en-US" sz="1100" dirty="0">
                <a:solidFill>
                  <a:srgbClr val="4C555C"/>
                </a:solidFill>
                <a:latin typeface="Calibri" pitchFamily="34" charset="0"/>
                <a:ea typeface="Calibri" pitchFamily="34" charset="-122"/>
                <a:cs typeface="Calibri" pitchFamily="34" charset="-120"/>
              </a:rPr>
              <a:t>Dá acesso à matéria-prima e determina o que é viável consultar, cruzar e atualizar.</a:t>
            </a:r>
            <a:endParaRPr lang="en-US" sz="1100" dirty="0"/>
          </a:p>
        </p:txBody>
      </p:sp>
      <p:sp>
        <p:nvSpPr>
          <p:cNvPr id="19" name="Shape 17"/>
          <p:cNvSpPr/>
          <p:nvPr/>
        </p:nvSpPr>
        <p:spPr>
          <a:xfrm>
            <a:off x="9747504" y="2103120"/>
            <a:ext cx="2093976" cy="2011680"/>
          </a:xfrm>
          <a:prstGeom prst="roundRect">
            <a:avLst>
              <a:gd name="adj" fmla="val 2727"/>
            </a:avLst>
          </a:prstGeom>
          <a:solidFill>
            <a:srgbClr val="F0F1F2"/>
          </a:solidFill>
          <a:ln w="12700">
            <a:solidFill>
              <a:srgbClr val="F0F1F2"/>
            </a:solidFill>
            <a:prstDash val="solid"/>
          </a:ln>
        </p:spPr>
        <p:txBody>
          <a:bodyPr/>
          <a:lstStyle/>
          <a:p>
            <a:endParaRPr lang="pt-BR"/>
          </a:p>
        </p:txBody>
      </p:sp>
      <p:sp>
        <p:nvSpPr>
          <p:cNvPr id="20" name="Text 18"/>
          <p:cNvSpPr/>
          <p:nvPr/>
        </p:nvSpPr>
        <p:spPr>
          <a:xfrm>
            <a:off x="9948672" y="2249424"/>
            <a:ext cx="1691640" cy="365760"/>
          </a:xfrm>
          <a:prstGeom prst="rect">
            <a:avLst/>
          </a:prstGeom>
          <a:noFill/>
          <a:ln/>
        </p:spPr>
        <p:txBody>
          <a:bodyPr wrap="square" lIns="0" tIns="0" rIns="0" bIns="0" rtlCol="0" anchor="ctr"/>
          <a:lstStyle/>
          <a:p>
            <a:pPr marL="0" indent="0">
              <a:buNone/>
            </a:pPr>
            <a:r>
              <a:rPr lang="en-US" sz="1250" b="1" dirty="0">
                <a:solidFill>
                  <a:srgbClr val="23272A"/>
                </a:solidFill>
                <a:latin typeface="Calibri" pitchFamily="34" charset="0"/>
                <a:ea typeface="Calibri" pitchFamily="34" charset="-122"/>
                <a:cs typeface="Calibri" pitchFamily="34" charset="-120"/>
              </a:rPr>
              <a:t>Inteligência artificial</a:t>
            </a:r>
            <a:endParaRPr lang="en-US" sz="1250" dirty="0"/>
          </a:p>
        </p:txBody>
      </p:sp>
      <p:sp>
        <p:nvSpPr>
          <p:cNvPr id="21" name="Text 19"/>
          <p:cNvSpPr/>
          <p:nvPr/>
        </p:nvSpPr>
        <p:spPr>
          <a:xfrm>
            <a:off x="9948672" y="2670048"/>
            <a:ext cx="1691640" cy="1298448"/>
          </a:xfrm>
          <a:prstGeom prst="rect">
            <a:avLst/>
          </a:prstGeom>
          <a:noFill/>
          <a:ln/>
        </p:spPr>
        <p:txBody>
          <a:bodyPr wrap="square" lIns="0" tIns="0" rIns="0" bIns="0" rtlCol="0" anchor="t"/>
          <a:lstStyle/>
          <a:p>
            <a:pPr marL="0" indent="0">
              <a:lnSpc>
                <a:spcPct val="108000"/>
              </a:lnSpc>
              <a:buNone/>
            </a:pPr>
            <a:r>
              <a:rPr lang="en-US" sz="1100" dirty="0">
                <a:solidFill>
                  <a:srgbClr val="4C555C"/>
                </a:solidFill>
                <a:latin typeface="Calibri" pitchFamily="34" charset="0"/>
                <a:ea typeface="Calibri" pitchFamily="34" charset="-122"/>
                <a:cs typeface="Calibri" pitchFamily="34" charset="-120"/>
              </a:rPr>
              <a:t>Amplia o repertório de técnicas, sobretudo para dados não estruturados como texto e imagem.</a:t>
            </a:r>
            <a:endParaRPr lang="en-US" sz="1100" dirty="0"/>
          </a:p>
        </p:txBody>
      </p:sp>
      <p:sp>
        <p:nvSpPr>
          <p:cNvPr id="22" name="Text 20"/>
          <p:cNvSpPr/>
          <p:nvPr/>
        </p:nvSpPr>
        <p:spPr>
          <a:xfrm>
            <a:off x="566928" y="426110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Duas competências que a lista não nomeia e o trabalho exige</a:t>
            </a:r>
            <a:endParaRPr lang="en-US" sz="1300" dirty="0"/>
          </a:p>
        </p:txBody>
      </p:sp>
      <p:sp>
        <p:nvSpPr>
          <p:cNvPr id="23" name="Shape 21"/>
          <p:cNvSpPr/>
          <p:nvPr/>
        </p:nvSpPr>
        <p:spPr>
          <a:xfrm>
            <a:off x="566928" y="4626864"/>
            <a:ext cx="11055096" cy="603504"/>
          </a:xfrm>
          <a:prstGeom prst="roundRect">
            <a:avLst>
              <a:gd name="adj" fmla="val 9091"/>
            </a:avLst>
          </a:prstGeom>
          <a:solidFill>
            <a:srgbClr val="F0F1F2"/>
          </a:solidFill>
          <a:ln/>
        </p:spPr>
        <p:txBody>
          <a:bodyPr/>
          <a:lstStyle/>
          <a:p>
            <a:endParaRPr lang="pt-BR"/>
          </a:p>
        </p:txBody>
      </p:sp>
      <p:sp>
        <p:nvSpPr>
          <p:cNvPr id="24" name="Text 22"/>
          <p:cNvSpPr/>
          <p:nvPr/>
        </p:nvSpPr>
        <p:spPr>
          <a:xfrm>
            <a:off x="768096" y="4626864"/>
            <a:ext cx="3291840" cy="603504"/>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Conhecimento do domínio</a:t>
            </a:r>
            <a:endParaRPr lang="en-US" sz="1300" dirty="0"/>
          </a:p>
        </p:txBody>
      </p:sp>
      <p:sp>
        <p:nvSpPr>
          <p:cNvPr id="25" name="Text 23"/>
          <p:cNvSpPr/>
          <p:nvPr/>
        </p:nvSpPr>
        <p:spPr>
          <a:xfrm>
            <a:off x="4206240" y="4626864"/>
            <a:ext cx="7214616" cy="603504"/>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Sem entender o negócio, não se formula o problema certo nem se reconhece um resultado implausível.</a:t>
            </a:r>
            <a:endParaRPr lang="en-US" sz="1200" dirty="0"/>
          </a:p>
        </p:txBody>
      </p:sp>
      <p:sp>
        <p:nvSpPr>
          <p:cNvPr id="26" name="Shape 24"/>
          <p:cNvSpPr/>
          <p:nvPr/>
        </p:nvSpPr>
        <p:spPr>
          <a:xfrm>
            <a:off x="566928" y="5303520"/>
            <a:ext cx="11055096" cy="603504"/>
          </a:xfrm>
          <a:prstGeom prst="roundRect">
            <a:avLst>
              <a:gd name="adj" fmla="val 9091"/>
            </a:avLst>
          </a:prstGeom>
          <a:solidFill>
            <a:srgbClr val="F7F8F8"/>
          </a:solidFill>
          <a:ln/>
        </p:spPr>
        <p:txBody>
          <a:bodyPr/>
          <a:lstStyle/>
          <a:p>
            <a:endParaRPr lang="pt-BR"/>
          </a:p>
        </p:txBody>
      </p:sp>
      <p:sp>
        <p:nvSpPr>
          <p:cNvPr id="27" name="Text 25"/>
          <p:cNvSpPr/>
          <p:nvPr/>
        </p:nvSpPr>
        <p:spPr>
          <a:xfrm>
            <a:off x="768096" y="5303520"/>
            <a:ext cx="3291840" cy="603504"/>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Comunicação</a:t>
            </a:r>
            <a:endParaRPr lang="en-US" sz="1300" dirty="0"/>
          </a:p>
        </p:txBody>
      </p:sp>
      <p:sp>
        <p:nvSpPr>
          <p:cNvPr id="28" name="Text 26"/>
          <p:cNvSpPr/>
          <p:nvPr/>
        </p:nvSpPr>
        <p:spPr>
          <a:xfrm>
            <a:off x="4206240" y="5303520"/>
            <a:ext cx="7214616" cy="603504"/>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O resultado só gera valor quando é compreendido e aceito por quem decide — e isso é parte do trabalho técnico.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1 · 1.7</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Aplicações de ciência de dados</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O material de referência propõe uma reflexão: como a ciência de dados tem contribuído com a evolução do mundo? As áreas abaixo ilustram a amplitude do alcance e servem de ponto de partida para a discussão em sala.</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566928" y="2103120"/>
            <a:ext cx="3538728" cy="1417320"/>
          </a:xfrm>
          <a:prstGeom prst="roundRect">
            <a:avLst>
              <a:gd name="adj" fmla="val 3871"/>
            </a:avLst>
          </a:prstGeom>
          <a:solidFill>
            <a:srgbClr val="F0F1F2"/>
          </a:solidFill>
          <a:ln w="12700">
            <a:solidFill>
              <a:srgbClr val="F0F1F2"/>
            </a:solidFill>
            <a:prstDash val="solid"/>
          </a:ln>
        </p:spPr>
        <p:txBody>
          <a:bodyPr/>
          <a:lstStyle/>
          <a:p>
            <a:endParaRPr lang="pt-BR"/>
          </a:p>
        </p:txBody>
      </p:sp>
      <p:sp>
        <p:nvSpPr>
          <p:cNvPr id="8" name="Text 6"/>
          <p:cNvSpPr/>
          <p:nvPr/>
        </p:nvSpPr>
        <p:spPr>
          <a:xfrm>
            <a:off x="768096" y="2249424"/>
            <a:ext cx="3136392"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Saúde</a:t>
            </a:r>
            <a:endParaRPr lang="en-US" sz="1350" dirty="0"/>
          </a:p>
        </p:txBody>
      </p:sp>
      <p:sp>
        <p:nvSpPr>
          <p:cNvPr id="9" name="Text 7"/>
          <p:cNvSpPr/>
          <p:nvPr/>
        </p:nvSpPr>
        <p:spPr>
          <a:xfrm>
            <a:off x="768096" y="2596896"/>
            <a:ext cx="3136392" cy="77724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Apoio ao diagnóstico por imagem, previsão de demanda hospitalar, farmacovigilância e estratificação de risco de pacientes.</a:t>
            </a:r>
            <a:endParaRPr lang="en-US" sz="1200" dirty="0"/>
          </a:p>
        </p:txBody>
      </p:sp>
      <p:sp>
        <p:nvSpPr>
          <p:cNvPr id="10" name="Shape 8"/>
          <p:cNvSpPr/>
          <p:nvPr/>
        </p:nvSpPr>
        <p:spPr>
          <a:xfrm>
            <a:off x="4325112" y="2103120"/>
            <a:ext cx="3538728" cy="1417320"/>
          </a:xfrm>
          <a:prstGeom prst="roundRect">
            <a:avLst>
              <a:gd name="adj" fmla="val 3871"/>
            </a:avLst>
          </a:prstGeom>
          <a:solidFill>
            <a:srgbClr val="F7F8F8"/>
          </a:solidFill>
          <a:ln w="12700">
            <a:solidFill>
              <a:srgbClr val="F7F8F8"/>
            </a:solidFill>
            <a:prstDash val="solid"/>
          </a:ln>
        </p:spPr>
        <p:txBody>
          <a:bodyPr/>
          <a:lstStyle/>
          <a:p>
            <a:endParaRPr lang="pt-BR"/>
          </a:p>
        </p:txBody>
      </p:sp>
      <p:sp>
        <p:nvSpPr>
          <p:cNvPr id="11" name="Text 9"/>
          <p:cNvSpPr/>
          <p:nvPr/>
        </p:nvSpPr>
        <p:spPr>
          <a:xfrm>
            <a:off x="4526280" y="2249424"/>
            <a:ext cx="3136392"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Finanças</a:t>
            </a:r>
            <a:endParaRPr lang="en-US" sz="1350" dirty="0"/>
          </a:p>
        </p:txBody>
      </p:sp>
      <p:sp>
        <p:nvSpPr>
          <p:cNvPr id="12" name="Text 10"/>
          <p:cNvSpPr/>
          <p:nvPr/>
        </p:nvSpPr>
        <p:spPr>
          <a:xfrm>
            <a:off x="4526280" y="2596896"/>
            <a:ext cx="3136392" cy="77724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Detecção de fraude, análise de risco de crédito, precificação e monitoramento de operações em tempo real.</a:t>
            </a:r>
            <a:endParaRPr lang="en-US" sz="1200" dirty="0"/>
          </a:p>
        </p:txBody>
      </p:sp>
      <p:sp>
        <p:nvSpPr>
          <p:cNvPr id="13" name="Shape 11"/>
          <p:cNvSpPr/>
          <p:nvPr/>
        </p:nvSpPr>
        <p:spPr>
          <a:xfrm>
            <a:off x="8083296" y="2103120"/>
            <a:ext cx="3538728" cy="1417320"/>
          </a:xfrm>
          <a:prstGeom prst="roundRect">
            <a:avLst>
              <a:gd name="adj" fmla="val 3871"/>
            </a:avLst>
          </a:prstGeom>
          <a:solidFill>
            <a:srgbClr val="F0F1F2"/>
          </a:solidFill>
          <a:ln w="12700">
            <a:solidFill>
              <a:srgbClr val="F0F1F2"/>
            </a:solidFill>
            <a:prstDash val="solid"/>
          </a:ln>
        </p:spPr>
        <p:txBody>
          <a:bodyPr/>
          <a:lstStyle/>
          <a:p>
            <a:endParaRPr lang="pt-BR"/>
          </a:p>
        </p:txBody>
      </p:sp>
      <p:sp>
        <p:nvSpPr>
          <p:cNvPr id="14" name="Text 12"/>
          <p:cNvSpPr/>
          <p:nvPr/>
        </p:nvSpPr>
        <p:spPr>
          <a:xfrm>
            <a:off x="8284464" y="2249424"/>
            <a:ext cx="3136392"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Indústria e energia</a:t>
            </a:r>
            <a:endParaRPr lang="en-US" sz="1350" dirty="0"/>
          </a:p>
        </p:txBody>
      </p:sp>
      <p:sp>
        <p:nvSpPr>
          <p:cNvPr id="15" name="Text 13"/>
          <p:cNvSpPr/>
          <p:nvPr/>
        </p:nvSpPr>
        <p:spPr>
          <a:xfrm>
            <a:off x="8284464" y="2596896"/>
            <a:ext cx="3136392" cy="77724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Manutenção preditiva de equipamentos, otimização de processos e previsão de consumo e de demanda.</a:t>
            </a:r>
            <a:endParaRPr lang="en-US" sz="1200" dirty="0"/>
          </a:p>
        </p:txBody>
      </p:sp>
      <p:sp>
        <p:nvSpPr>
          <p:cNvPr id="16" name="Shape 14"/>
          <p:cNvSpPr/>
          <p:nvPr/>
        </p:nvSpPr>
        <p:spPr>
          <a:xfrm>
            <a:off x="566928" y="3675888"/>
            <a:ext cx="3538728" cy="1417320"/>
          </a:xfrm>
          <a:prstGeom prst="roundRect">
            <a:avLst>
              <a:gd name="adj" fmla="val 3871"/>
            </a:avLst>
          </a:prstGeom>
          <a:solidFill>
            <a:srgbClr val="F7F8F8"/>
          </a:solidFill>
          <a:ln w="12700">
            <a:solidFill>
              <a:srgbClr val="F7F8F8"/>
            </a:solidFill>
            <a:prstDash val="solid"/>
          </a:ln>
        </p:spPr>
        <p:txBody>
          <a:bodyPr/>
          <a:lstStyle/>
          <a:p>
            <a:endParaRPr lang="pt-BR"/>
          </a:p>
        </p:txBody>
      </p:sp>
      <p:sp>
        <p:nvSpPr>
          <p:cNvPr id="17" name="Text 15"/>
          <p:cNvSpPr/>
          <p:nvPr/>
        </p:nvSpPr>
        <p:spPr>
          <a:xfrm>
            <a:off x="768096" y="3822192"/>
            <a:ext cx="3136392"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Comércio e serviços</a:t>
            </a:r>
            <a:endParaRPr lang="en-US" sz="1350" dirty="0"/>
          </a:p>
        </p:txBody>
      </p:sp>
      <p:sp>
        <p:nvSpPr>
          <p:cNvPr id="18" name="Text 16"/>
          <p:cNvSpPr/>
          <p:nvPr/>
        </p:nvSpPr>
        <p:spPr>
          <a:xfrm>
            <a:off x="768096" y="4169664"/>
            <a:ext cx="3136392" cy="77724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Sistemas de recomendação, segmentação de clientes, previsão de vendas e gestão de estoque.</a:t>
            </a:r>
            <a:endParaRPr lang="en-US" sz="1200" dirty="0"/>
          </a:p>
        </p:txBody>
      </p:sp>
      <p:sp>
        <p:nvSpPr>
          <p:cNvPr id="19" name="Shape 17"/>
          <p:cNvSpPr/>
          <p:nvPr/>
        </p:nvSpPr>
        <p:spPr>
          <a:xfrm>
            <a:off x="4325112" y="3675888"/>
            <a:ext cx="3538728" cy="1417320"/>
          </a:xfrm>
          <a:prstGeom prst="roundRect">
            <a:avLst>
              <a:gd name="adj" fmla="val 3871"/>
            </a:avLst>
          </a:prstGeom>
          <a:solidFill>
            <a:srgbClr val="F0F1F2"/>
          </a:solidFill>
          <a:ln w="12700">
            <a:solidFill>
              <a:srgbClr val="F0F1F2"/>
            </a:solidFill>
            <a:prstDash val="solid"/>
          </a:ln>
        </p:spPr>
        <p:txBody>
          <a:bodyPr/>
          <a:lstStyle/>
          <a:p>
            <a:endParaRPr lang="pt-BR"/>
          </a:p>
        </p:txBody>
      </p:sp>
      <p:sp>
        <p:nvSpPr>
          <p:cNvPr id="20" name="Text 18"/>
          <p:cNvSpPr/>
          <p:nvPr/>
        </p:nvSpPr>
        <p:spPr>
          <a:xfrm>
            <a:off x="4526280" y="3822192"/>
            <a:ext cx="3136392"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Mobilidade e logística</a:t>
            </a:r>
            <a:endParaRPr lang="en-US" sz="1350" dirty="0"/>
          </a:p>
        </p:txBody>
      </p:sp>
      <p:sp>
        <p:nvSpPr>
          <p:cNvPr id="21" name="Text 19"/>
          <p:cNvSpPr/>
          <p:nvPr/>
        </p:nvSpPr>
        <p:spPr>
          <a:xfrm>
            <a:off x="4526280" y="4169664"/>
            <a:ext cx="3136392" cy="77724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Roteirização, previsão de tempo de entrega, gestão de frota e planejamento de rede.</a:t>
            </a:r>
            <a:endParaRPr lang="en-US" sz="1200" dirty="0"/>
          </a:p>
        </p:txBody>
      </p:sp>
      <p:sp>
        <p:nvSpPr>
          <p:cNvPr id="22" name="Shape 20"/>
          <p:cNvSpPr/>
          <p:nvPr/>
        </p:nvSpPr>
        <p:spPr>
          <a:xfrm>
            <a:off x="8083296" y="3675888"/>
            <a:ext cx="3538728" cy="1417320"/>
          </a:xfrm>
          <a:prstGeom prst="roundRect">
            <a:avLst>
              <a:gd name="adj" fmla="val 3871"/>
            </a:avLst>
          </a:prstGeom>
          <a:solidFill>
            <a:srgbClr val="F7F8F8"/>
          </a:solidFill>
          <a:ln w="12700">
            <a:solidFill>
              <a:srgbClr val="F7F8F8"/>
            </a:solidFill>
            <a:prstDash val="solid"/>
          </a:ln>
        </p:spPr>
        <p:txBody>
          <a:bodyPr/>
          <a:lstStyle/>
          <a:p>
            <a:endParaRPr lang="pt-BR"/>
          </a:p>
        </p:txBody>
      </p:sp>
      <p:sp>
        <p:nvSpPr>
          <p:cNvPr id="23" name="Text 21"/>
          <p:cNvSpPr/>
          <p:nvPr/>
        </p:nvSpPr>
        <p:spPr>
          <a:xfrm>
            <a:off x="8284464" y="3822192"/>
            <a:ext cx="3136392"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Setor público</a:t>
            </a:r>
            <a:endParaRPr lang="en-US" sz="1350" dirty="0"/>
          </a:p>
        </p:txBody>
      </p:sp>
      <p:sp>
        <p:nvSpPr>
          <p:cNvPr id="24" name="Text 22"/>
          <p:cNvSpPr/>
          <p:nvPr/>
        </p:nvSpPr>
        <p:spPr>
          <a:xfrm>
            <a:off x="8284464" y="4169664"/>
            <a:ext cx="3136392" cy="77724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Focalização de políticas, previsão de arrecadação, vigilância epidemiológica e auditoria de gastos.</a:t>
            </a:r>
            <a:endParaRPr lang="en-US" sz="1200" dirty="0"/>
          </a:p>
        </p:txBody>
      </p:sp>
      <p:sp>
        <p:nvSpPr>
          <p:cNvPr id="25" name="Shape 23"/>
          <p:cNvSpPr/>
          <p:nvPr/>
        </p:nvSpPr>
        <p:spPr>
          <a:xfrm>
            <a:off x="566928" y="5358384"/>
            <a:ext cx="11055096" cy="877824"/>
          </a:xfrm>
          <a:prstGeom prst="roundRect">
            <a:avLst>
              <a:gd name="adj" fmla="val 6250"/>
            </a:avLst>
          </a:prstGeom>
          <a:solidFill>
            <a:srgbClr val="23272A"/>
          </a:solidFill>
          <a:ln w="12700">
            <a:solidFill>
              <a:srgbClr val="23272A"/>
            </a:solidFill>
            <a:prstDash val="solid"/>
          </a:ln>
        </p:spPr>
        <p:txBody>
          <a:bodyPr/>
          <a:lstStyle/>
          <a:p>
            <a:endParaRPr lang="pt-BR"/>
          </a:p>
        </p:txBody>
      </p:sp>
      <p:sp>
        <p:nvSpPr>
          <p:cNvPr id="26" name="Text 24"/>
          <p:cNvSpPr/>
          <p:nvPr/>
        </p:nvSpPr>
        <p:spPr>
          <a:xfrm>
            <a:off x="768096" y="5486400"/>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Encaminhamento</a:t>
            </a:r>
            <a:endParaRPr lang="en-US" sz="1300" dirty="0"/>
          </a:p>
        </p:txBody>
      </p:sp>
      <p:sp>
        <p:nvSpPr>
          <p:cNvPr id="27" name="Text 25"/>
          <p:cNvSpPr/>
          <p:nvPr/>
        </p:nvSpPr>
        <p:spPr>
          <a:xfrm>
            <a:off x="768096" y="5779008"/>
            <a:ext cx="10652760" cy="402336"/>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A lista é ilustrativa e deliberadamente incompleta: convém que cada estudante identifique uma aplicação no próprio campo de atuação e a traga para discussão.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272A"/>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2</a:t>
            </a:r>
            <a:endParaRPr lang="en-US" sz="1050" dirty="0"/>
          </a:p>
        </p:txBody>
      </p:sp>
      <p:sp>
        <p:nvSpPr>
          <p:cNvPr id="3" name="Shape 1"/>
          <p:cNvSpPr/>
          <p:nvPr/>
        </p:nvSpPr>
        <p:spPr>
          <a:xfrm>
            <a:off x="566928" y="2706624"/>
            <a:ext cx="2011680" cy="27432"/>
          </a:xfrm>
          <a:prstGeom prst="rect">
            <a:avLst/>
          </a:prstGeom>
          <a:solidFill>
            <a:srgbClr val="8A7B66"/>
          </a:solidFill>
          <a:ln w="12700">
            <a:solidFill>
              <a:srgbClr val="8A7B66"/>
            </a:solidFill>
            <a:prstDash val="solid"/>
          </a:ln>
        </p:spPr>
        <p:txBody>
          <a:bodyPr/>
          <a:lstStyle/>
          <a:p>
            <a:endParaRPr lang="pt-BR"/>
          </a:p>
        </p:txBody>
      </p:sp>
      <p:sp>
        <p:nvSpPr>
          <p:cNvPr id="4" name="Text 2"/>
          <p:cNvSpPr/>
          <p:nvPr/>
        </p:nvSpPr>
        <p:spPr>
          <a:xfrm>
            <a:off x="566928" y="2926080"/>
            <a:ext cx="100584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Descoberta de conhecimento (KDD)</a:t>
            </a:r>
            <a:endParaRPr lang="en-US" sz="4000" dirty="0"/>
          </a:p>
        </p:txBody>
      </p:sp>
      <p:sp>
        <p:nvSpPr>
          <p:cNvPr id="5" name="Text 3"/>
          <p:cNvSpPr/>
          <p:nvPr/>
        </p:nvSpPr>
        <p:spPr>
          <a:xfrm>
            <a:off x="566928" y="3749040"/>
            <a:ext cx="7863840" cy="822960"/>
          </a:xfrm>
          <a:prstGeom prst="rect">
            <a:avLst/>
          </a:prstGeom>
          <a:noFill/>
          <a:ln/>
        </p:spPr>
        <p:txBody>
          <a:bodyPr wrap="square" lIns="0" tIns="0" rIns="0" bIns="0" rtlCol="0" anchor="t"/>
          <a:lstStyle/>
          <a:p>
            <a:pPr marL="0" indent="0">
              <a:lnSpc>
                <a:spcPct val="110000"/>
              </a:lnSpc>
              <a:buNone/>
            </a:pPr>
            <a:r>
              <a:rPr lang="en-US" sz="1350" dirty="0">
                <a:solidFill>
                  <a:srgbClr val="C6CACD"/>
                </a:solidFill>
                <a:latin typeface="Calibri" pitchFamily="34" charset="0"/>
                <a:ea typeface="Calibri" pitchFamily="34" charset="-122"/>
                <a:cs typeface="Calibri" pitchFamily="34" charset="-120"/>
              </a:rPr>
              <a:t>Como dados brutos se convertem em informação útil e, daí, em conhecimento para a organização — e por que essa conversão é mais complexa do que a simples descoberta de padrões em bases de dados.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2 · 2.1</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De dados a informação e conhecimento</a:t>
            </a:r>
            <a:endParaRPr lang="en-US" sz="2800" dirty="0"/>
          </a:p>
        </p:txBody>
      </p:sp>
      <p:sp>
        <p:nvSpPr>
          <p:cNvPr id="4" name="Text 2"/>
          <p:cNvSpPr/>
          <p:nvPr/>
        </p:nvSpPr>
        <p:spPr>
          <a:xfrm>
            <a:off x="517943" y="118872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O processo knowledge discovery in databases (DESCOBERTA DE CONHECIMENTO DE UM BANCO DE DADOS) (KDD) )é uma das etapas que mais agrega valor para a tomada de decisão: consiste na transformação de dados brutos em informações úteis, gerando conhecimento para uma organização. Para isso, são comumente utilizados sistemas de apoio à decisão.</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66928" y="2103120"/>
            <a:ext cx="3538728" cy="1920240"/>
          </a:xfrm>
          <a:prstGeom prst="roundRect">
            <a:avLst>
              <a:gd name="adj" fmla="val 2857"/>
            </a:avLst>
          </a:prstGeom>
          <a:solidFill>
            <a:srgbClr val="F0F1F2"/>
          </a:solidFill>
          <a:ln w="12700">
            <a:solidFill>
              <a:srgbClr val="F0F1F2"/>
            </a:solidFill>
            <a:prstDash val="solid"/>
          </a:ln>
        </p:spPr>
        <p:txBody>
          <a:bodyPr/>
          <a:lstStyle/>
          <a:p>
            <a:endParaRPr lang="pt-BR"/>
          </a:p>
        </p:txBody>
      </p:sp>
      <p:sp>
        <p:nvSpPr>
          <p:cNvPr id="8" name="Shape 6"/>
          <p:cNvSpPr/>
          <p:nvPr/>
        </p:nvSpPr>
        <p:spPr>
          <a:xfrm>
            <a:off x="768096" y="2286000"/>
            <a:ext cx="365760" cy="365760"/>
          </a:xfrm>
          <a:prstGeom prst="roundRect">
            <a:avLst>
              <a:gd name="adj" fmla="val 15000"/>
            </a:avLst>
          </a:prstGeom>
          <a:solidFill>
            <a:srgbClr val="23272A"/>
          </a:solidFill>
          <a:ln w="12700">
            <a:solidFill>
              <a:srgbClr val="23272A"/>
            </a:solidFill>
            <a:prstDash val="solid"/>
          </a:ln>
        </p:spPr>
        <p:txBody>
          <a:bodyPr/>
          <a:lstStyle/>
          <a:p>
            <a:endParaRPr lang="pt-BR"/>
          </a:p>
        </p:txBody>
      </p:sp>
      <p:sp>
        <p:nvSpPr>
          <p:cNvPr id="9" name="Text 7"/>
          <p:cNvSpPr/>
          <p:nvPr/>
        </p:nvSpPr>
        <p:spPr>
          <a:xfrm>
            <a:off x="768096" y="2286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243584" y="2286000"/>
            <a:ext cx="2651760" cy="365760"/>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Dados</a:t>
            </a:r>
            <a:endParaRPr lang="en-US" sz="1500" dirty="0"/>
          </a:p>
        </p:txBody>
      </p:sp>
      <p:sp>
        <p:nvSpPr>
          <p:cNvPr id="11" name="Text 9"/>
          <p:cNvSpPr/>
          <p:nvPr/>
        </p:nvSpPr>
        <p:spPr>
          <a:xfrm>
            <a:off x="768096" y="2779776"/>
            <a:ext cx="3136392" cy="1097280"/>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Registros brutos, isolados e sem contexto. Existem em grande quantidade e, sozinhos, não sustentam decisão alguma.</a:t>
            </a:r>
            <a:endParaRPr lang="en-US" sz="1200" dirty="0"/>
          </a:p>
        </p:txBody>
      </p:sp>
      <p:sp>
        <p:nvSpPr>
          <p:cNvPr id="12" name="Shape 10"/>
          <p:cNvSpPr/>
          <p:nvPr/>
        </p:nvSpPr>
        <p:spPr>
          <a:xfrm>
            <a:off x="4325112" y="2103120"/>
            <a:ext cx="3538728" cy="1920240"/>
          </a:xfrm>
          <a:prstGeom prst="roundRect">
            <a:avLst>
              <a:gd name="adj" fmla="val 2857"/>
            </a:avLst>
          </a:prstGeom>
          <a:solidFill>
            <a:srgbClr val="F7F8F8"/>
          </a:solidFill>
          <a:ln w="12700">
            <a:solidFill>
              <a:srgbClr val="F7F8F8"/>
            </a:solidFill>
            <a:prstDash val="solid"/>
          </a:ln>
        </p:spPr>
        <p:txBody>
          <a:bodyPr/>
          <a:lstStyle/>
          <a:p>
            <a:endParaRPr lang="pt-BR"/>
          </a:p>
        </p:txBody>
      </p:sp>
      <p:sp>
        <p:nvSpPr>
          <p:cNvPr id="13" name="Shape 11"/>
          <p:cNvSpPr/>
          <p:nvPr/>
        </p:nvSpPr>
        <p:spPr>
          <a:xfrm>
            <a:off x="4526280" y="2286000"/>
            <a:ext cx="365760" cy="365760"/>
          </a:xfrm>
          <a:prstGeom prst="roundRect">
            <a:avLst>
              <a:gd name="adj" fmla="val 15000"/>
            </a:avLst>
          </a:prstGeom>
          <a:solidFill>
            <a:srgbClr val="23272A"/>
          </a:solidFill>
          <a:ln w="12700">
            <a:solidFill>
              <a:srgbClr val="23272A"/>
            </a:solidFill>
            <a:prstDash val="solid"/>
          </a:ln>
        </p:spPr>
        <p:txBody>
          <a:bodyPr/>
          <a:lstStyle/>
          <a:p>
            <a:endParaRPr lang="pt-BR"/>
          </a:p>
        </p:txBody>
      </p:sp>
      <p:sp>
        <p:nvSpPr>
          <p:cNvPr id="14" name="Text 12"/>
          <p:cNvSpPr/>
          <p:nvPr/>
        </p:nvSpPr>
        <p:spPr>
          <a:xfrm>
            <a:off x="4526280" y="22860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5001768" y="2286000"/>
            <a:ext cx="2651760" cy="365760"/>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Informação</a:t>
            </a:r>
            <a:endParaRPr lang="en-US" sz="1500" dirty="0"/>
          </a:p>
        </p:txBody>
      </p:sp>
      <p:sp>
        <p:nvSpPr>
          <p:cNvPr id="16" name="Text 14"/>
          <p:cNvSpPr/>
          <p:nvPr/>
        </p:nvSpPr>
        <p:spPr>
          <a:xfrm>
            <a:off x="4526280" y="2779776"/>
            <a:ext cx="3136392" cy="1097280"/>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Dados organizados, relacionados e contextualizados, que já respondem a perguntas sobre o que ocorreu.</a:t>
            </a:r>
            <a:endParaRPr lang="en-US" sz="1200" dirty="0"/>
          </a:p>
        </p:txBody>
      </p:sp>
      <p:sp>
        <p:nvSpPr>
          <p:cNvPr id="17" name="Shape 15"/>
          <p:cNvSpPr/>
          <p:nvPr/>
        </p:nvSpPr>
        <p:spPr>
          <a:xfrm>
            <a:off x="8083296" y="2103120"/>
            <a:ext cx="3538728" cy="1920240"/>
          </a:xfrm>
          <a:prstGeom prst="roundRect">
            <a:avLst>
              <a:gd name="adj" fmla="val 2857"/>
            </a:avLst>
          </a:prstGeom>
          <a:solidFill>
            <a:srgbClr val="23272A"/>
          </a:solidFill>
          <a:ln w="12700">
            <a:solidFill>
              <a:srgbClr val="23272A"/>
            </a:solidFill>
            <a:prstDash val="solid"/>
          </a:ln>
        </p:spPr>
        <p:txBody>
          <a:bodyPr/>
          <a:lstStyle/>
          <a:p>
            <a:endParaRPr lang="pt-BR"/>
          </a:p>
        </p:txBody>
      </p:sp>
      <p:sp>
        <p:nvSpPr>
          <p:cNvPr id="18" name="Shape 16"/>
          <p:cNvSpPr/>
          <p:nvPr/>
        </p:nvSpPr>
        <p:spPr>
          <a:xfrm>
            <a:off x="8284464" y="2286000"/>
            <a:ext cx="365760" cy="365760"/>
          </a:xfrm>
          <a:prstGeom prst="roundRect">
            <a:avLst>
              <a:gd name="adj" fmla="val 15000"/>
            </a:avLst>
          </a:prstGeom>
          <a:solidFill>
            <a:srgbClr val="8A7B66"/>
          </a:solidFill>
          <a:ln w="12700">
            <a:solidFill>
              <a:srgbClr val="8A7B66"/>
            </a:solidFill>
            <a:prstDash val="solid"/>
          </a:ln>
        </p:spPr>
        <p:txBody>
          <a:bodyPr/>
          <a:lstStyle/>
          <a:p>
            <a:endParaRPr lang="pt-BR"/>
          </a:p>
        </p:txBody>
      </p:sp>
      <p:sp>
        <p:nvSpPr>
          <p:cNvPr id="19" name="Text 17"/>
          <p:cNvSpPr/>
          <p:nvPr/>
        </p:nvSpPr>
        <p:spPr>
          <a:xfrm>
            <a:off x="8284464" y="2286000"/>
            <a:ext cx="365760" cy="365760"/>
          </a:xfrm>
          <a:prstGeom prst="rect">
            <a:avLst/>
          </a:prstGeom>
          <a:noFill/>
          <a:ln/>
        </p:spPr>
        <p:txBody>
          <a:bodyPr wrap="square" lIns="0" tIns="0" rIns="0" bIns="0" rtlCol="0" anchor="ctr"/>
          <a:lstStyle/>
          <a:p>
            <a:pPr marL="0" indent="0" algn="ctr">
              <a:buNone/>
            </a:pPr>
            <a:r>
              <a:rPr lang="en-US" sz="1200" b="1" dirty="0">
                <a:solidFill>
                  <a:srgbClr val="23272A"/>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8759952" y="2286000"/>
            <a:ext cx="2651760" cy="365760"/>
          </a:xfrm>
          <a:prstGeom prst="rect">
            <a:avLst/>
          </a:prstGeom>
          <a:noFill/>
          <a:ln/>
        </p:spPr>
        <p:txBody>
          <a:bodyPr wrap="square" lIns="0" tIns="0" rIns="0" bIns="0" rtlCol="0" anchor="ctr"/>
          <a:lstStyle/>
          <a:p>
            <a:pPr marL="0" indent="0">
              <a:buNone/>
            </a:pPr>
            <a:r>
              <a:rPr lang="en-US" sz="1500" b="1" dirty="0">
                <a:solidFill>
                  <a:srgbClr val="8A7B66"/>
                </a:solidFill>
                <a:latin typeface="Calibri" pitchFamily="34" charset="0"/>
                <a:ea typeface="Calibri" pitchFamily="34" charset="-122"/>
                <a:cs typeface="Calibri" pitchFamily="34" charset="-120"/>
              </a:rPr>
              <a:t>Conhecimento</a:t>
            </a:r>
            <a:endParaRPr lang="en-US" sz="1500" dirty="0"/>
          </a:p>
        </p:txBody>
      </p:sp>
      <p:sp>
        <p:nvSpPr>
          <p:cNvPr id="21" name="Text 19"/>
          <p:cNvSpPr/>
          <p:nvPr/>
        </p:nvSpPr>
        <p:spPr>
          <a:xfrm>
            <a:off x="8284464" y="2779776"/>
            <a:ext cx="3136392" cy="1097280"/>
          </a:xfrm>
          <a:prstGeom prst="rect">
            <a:avLst/>
          </a:prstGeom>
          <a:noFill/>
          <a:ln/>
        </p:spPr>
        <p:txBody>
          <a:bodyPr wrap="square" lIns="0" tIns="0" rIns="0" bIns="0" rtlCol="0" anchor="t"/>
          <a:lstStyle/>
          <a:p>
            <a:pPr marL="0" indent="0">
              <a:lnSpc>
                <a:spcPct val="106000"/>
              </a:lnSpc>
              <a:buNone/>
            </a:pPr>
            <a:r>
              <a:rPr lang="en-US" sz="1200" dirty="0">
                <a:solidFill>
                  <a:srgbClr val="D9DCDE"/>
                </a:solidFill>
                <a:latin typeface="Calibri" pitchFamily="34" charset="0"/>
                <a:ea typeface="Calibri" pitchFamily="34" charset="-122"/>
                <a:cs typeface="Calibri" pitchFamily="34" charset="-120"/>
              </a:rPr>
              <a:t>Padrões e relações validados, que permitem explicar, prever e orientar a ação futura da organização.</a:t>
            </a:r>
            <a:endParaRPr lang="en-US" sz="1200" dirty="0"/>
          </a:p>
        </p:txBody>
      </p:sp>
      <p:sp>
        <p:nvSpPr>
          <p:cNvPr id="22" name="Text 20"/>
          <p:cNvSpPr/>
          <p:nvPr/>
        </p:nvSpPr>
        <p:spPr>
          <a:xfrm>
            <a:off x="566928" y="423541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O que agrega valor em cada passagem</a:t>
            </a:r>
            <a:endParaRPr lang="en-US" sz="1300" dirty="0"/>
          </a:p>
        </p:txBody>
      </p:sp>
      <p:sp>
        <p:nvSpPr>
          <p:cNvPr id="23" name="Shape 21"/>
          <p:cNvSpPr/>
          <p:nvPr/>
        </p:nvSpPr>
        <p:spPr>
          <a:xfrm>
            <a:off x="566928" y="4590288"/>
            <a:ext cx="11055096" cy="658368"/>
          </a:xfrm>
          <a:prstGeom prst="roundRect">
            <a:avLst>
              <a:gd name="adj" fmla="val 8333"/>
            </a:avLst>
          </a:prstGeom>
          <a:solidFill>
            <a:srgbClr val="F0F1F2"/>
          </a:solidFill>
          <a:ln/>
        </p:spPr>
        <p:txBody>
          <a:bodyPr/>
          <a:lstStyle/>
          <a:p>
            <a:endParaRPr lang="pt-BR"/>
          </a:p>
        </p:txBody>
      </p:sp>
      <p:sp>
        <p:nvSpPr>
          <p:cNvPr id="24" name="Text 22"/>
          <p:cNvSpPr/>
          <p:nvPr/>
        </p:nvSpPr>
        <p:spPr>
          <a:xfrm>
            <a:off x="768096" y="4590288"/>
            <a:ext cx="3474720" cy="65836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De dados para informação</a:t>
            </a:r>
            <a:endParaRPr lang="en-US" sz="1300" dirty="0"/>
          </a:p>
        </p:txBody>
      </p:sp>
      <p:sp>
        <p:nvSpPr>
          <p:cNvPr id="25" name="Text 23"/>
          <p:cNvSpPr/>
          <p:nvPr/>
        </p:nvSpPr>
        <p:spPr>
          <a:xfrm>
            <a:off x="4389120" y="4590288"/>
            <a:ext cx="7031736" cy="658368"/>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Seleção, limpeza, integração e organização: é aqui que se decide o que entra na análise e sob que definição.</a:t>
            </a:r>
            <a:endParaRPr lang="en-US" sz="1200" dirty="0"/>
          </a:p>
        </p:txBody>
      </p:sp>
      <p:sp>
        <p:nvSpPr>
          <p:cNvPr id="26" name="Shape 24"/>
          <p:cNvSpPr/>
          <p:nvPr/>
        </p:nvSpPr>
        <p:spPr>
          <a:xfrm>
            <a:off x="566928" y="5321808"/>
            <a:ext cx="11055096" cy="658368"/>
          </a:xfrm>
          <a:prstGeom prst="roundRect">
            <a:avLst>
              <a:gd name="adj" fmla="val 8333"/>
            </a:avLst>
          </a:prstGeom>
          <a:solidFill>
            <a:srgbClr val="F7F8F8"/>
          </a:solidFill>
          <a:ln/>
        </p:spPr>
        <p:txBody>
          <a:bodyPr/>
          <a:lstStyle/>
          <a:p>
            <a:endParaRPr lang="pt-BR"/>
          </a:p>
        </p:txBody>
      </p:sp>
      <p:sp>
        <p:nvSpPr>
          <p:cNvPr id="27" name="Text 25"/>
          <p:cNvSpPr/>
          <p:nvPr/>
        </p:nvSpPr>
        <p:spPr>
          <a:xfrm>
            <a:off x="768096" y="5321808"/>
            <a:ext cx="3474720" cy="65836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De informação para conhecimento</a:t>
            </a:r>
            <a:endParaRPr lang="en-US" sz="1300" dirty="0"/>
          </a:p>
        </p:txBody>
      </p:sp>
      <p:sp>
        <p:nvSpPr>
          <p:cNvPr id="28" name="Text 26"/>
          <p:cNvSpPr/>
          <p:nvPr/>
        </p:nvSpPr>
        <p:spPr>
          <a:xfrm>
            <a:off x="4389120" y="5321808"/>
            <a:ext cx="7031736" cy="658368"/>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Modelagem, validação e interpretação por quem conhece o domínio: sem essa leitura, o padrão encontrado permanece sem sentido prático.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2 · 2.2</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O que define o processo de KDD</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KDD </a:t>
            </a:r>
            <a:r>
              <a:rPr lang="en-US" sz="1350" dirty="0">
                <a:solidFill>
                  <a:srgbClr val="6F7880"/>
                </a:solidFill>
                <a:highlight>
                  <a:srgbClr val="FFFF00"/>
                </a:highlight>
                <a:latin typeface="Calibri" pitchFamily="34" charset="0"/>
                <a:ea typeface="Calibri" pitchFamily="34" charset="-122"/>
                <a:cs typeface="Calibri" pitchFamily="34" charset="-120"/>
              </a:rPr>
              <a:t>pode ser definido como um processo de várias etapas</a:t>
            </a:r>
            <a:r>
              <a:rPr lang="en-US" sz="1350" dirty="0">
                <a:solidFill>
                  <a:srgbClr val="6F7880"/>
                </a:solidFill>
                <a:latin typeface="Calibri" pitchFamily="34" charset="0"/>
                <a:ea typeface="Calibri" pitchFamily="34" charset="-122"/>
                <a:cs typeface="Calibri" pitchFamily="34" charset="-120"/>
              </a:rPr>
              <a:t>, não trivial, interativo e iterativo</a:t>
            </a:r>
            <a:r>
              <a:rPr lang="en-US" sz="1350" dirty="0">
                <a:solidFill>
                  <a:srgbClr val="6F7880"/>
                </a:solidFill>
                <a:highlight>
                  <a:srgbClr val="FFFF00"/>
                </a:highlight>
                <a:latin typeface="Calibri" pitchFamily="34" charset="0"/>
                <a:ea typeface="Calibri" pitchFamily="34" charset="-122"/>
                <a:cs typeface="Calibri" pitchFamily="34" charset="-120"/>
              </a:rPr>
              <a:t>, para identificação de padrões compreensíveis</a:t>
            </a:r>
            <a:r>
              <a:rPr lang="en-US" sz="1350" dirty="0">
                <a:solidFill>
                  <a:srgbClr val="6F7880"/>
                </a:solidFill>
                <a:latin typeface="Calibri" pitchFamily="34" charset="0"/>
                <a:ea typeface="Calibri" pitchFamily="34" charset="-122"/>
                <a:cs typeface="Calibri" pitchFamily="34" charset="-120"/>
              </a:rPr>
              <a:t>, válidos, novos e potencialmente úteis </a:t>
            </a:r>
            <a:r>
              <a:rPr lang="en-US" sz="1350" dirty="0">
                <a:solidFill>
                  <a:srgbClr val="6F7880"/>
                </a:solidFill>
                <a:highlight>
                  <a:srgbClr val="FFFF00"/>
                </a:highlight>
                <a:latin typeface="Calibri" pitchFamily="34" charset="0"/>
                <a:ea typeface="Calibri" pitchFamily="34" charset="-122"/>
                <a:cs typeface="Calibri" pitchFamily="34" charset="-120"/>
              </a:rPr>
              <a:t>a partir de grandes conjuntos de dados</a:t>
            </a:r>
            <a:r>
              <a:rPr lang="en-US" sz="1350" dirty="0">
                <a:solidFill>
                  <a:srgbClr val="6F7880"/>
                </a:solidFill>
                <a:latin typeface="Calibri" pitchFamily="34" charset="0"/>
                <a:ea typeface="Calibri" pitchFamily="34" charset="-122"/>
                <a:cs typeface="Calibri" pitchFamily="34" charset="-120"/>
              </a:rPr>
              <a:t>.</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66928" y="2103120"/>
            <a:ext cx="5394960" cy="1115568"/>
          </a:xfrm>
          <a:prstGeom prst="roundRect">
            <a:avLst>
              <a:gd name="adj" fmla="val 4918"/>
            </a:avLst>
          </a:prstGeom>
          <a:solidFill>
            <a:srgbClr val="F0F1F2"/>
          </a:solidFill>
          <a:ln w="12700">
            <a:solidFill>
              <a:srgbClr val="F0F1F2"/>
            </a:solidFill>
            <a:prstDash val="solid"/>
          </a:ln>
        </p:spPr>
        <p:txBody>
          <a:bodyPr/>
          <a:lstStyle/>
          <a:p>
            <a:endParaRPr lang="pt-BR"/>
          </a:p>
        </p:txBody>
      </p:sp>
      <p:sp>
        <p:nvSpPr>
          <p:cNvPr id="8" name="Text 6"/>
          <p:cNvSpPr/>
          <p:nvPr/>
        </p:nvSpPr>
        <p:spPr>
          <a:xfrm>
            <a:off x="768096" y="2249424"/>
            <a:ext cx="499262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Compreensíveis</a:t>
            </a:r>
            <a:endParaRPr lang="en-US" sz="1350" dirty="0"/>
          </a:p>
        </p:txBody>
      </p:sp>
      <p:sp>
        <p:nvSpPr>
          <p:cNvPr id="9" name="Text 7"/>
          <p:cNvSpPr/>
          <p:nvPr/>
        </p:nvSpPr>
        <p:spPr>
          <a:xfrm>
            <a:off x="768096" y="2596896"/>
            <a:ext cx="4992624" cy="475488"/>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O padrão precisa poder ser explicado a quem decide; um resultado ininteligível não sustenta ação.</a:t>
            </a:r>
            <a:endParaRPr lang="en-US" sz="1200" dirty="0"/>
          </a:p>
        </p:txBody>
      </p:sp>
      <p:sp>
        <p:nvSpPr>
          <p:cNvPr id="10" name="Shape 8"/>
          <p:cNvSpPr/>
          <p:nvPr/>
        </p:nvSpPr>
        <p:spPr>
          <a:xfrm>
            <a:off x="6227064" y="2103120"/>
            <a:ext cx="5394960" cy="1115568"/>
          </a:xfrm>
          <a:prstGeom prst="roundRect">
            <a:avLst>
              <a:gd name="adj" fmla="val 4918"/>
            </a:avLst>
          </a:prstGeom>
          <a:solidFill>
            <a:srgbClr val="F7F8F8"/>
          </a:solidFill>
          <a:ln w="12700">
            <a:solidFill>
              <a:srgbClr val="F7F8F8"/>
            </a:solidFill>
            <a:prstDash val="solid"/>
          </a:ln>
        </p:spPr>
        <p:txBody>
          <a:bodyPr/>
          <a:lstStyle/>
          <a:p>
            <a:endParaRPr lang="pt-BR"/>
          </a:p>
        </p:txBody>
      </p:sp>
      <p:sp>
        <p:nvSpPr>
          <p:cNvPr id="11" name="Text 9"/>
          <p:cNvSpPr/>
          <p:nvPr/>
        </p:nvSpPr>
        <p:spPr>
          <a:xfrm>
            <a:off x="6428232" y="2249424"/>
            <a:ext cx="499262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Válidos</a:t>
            </a:r>
            <a:endParaRPr lang="en-US" sz="1350" dirty="0"/>
          </a:p>
        </p:txBody>
      </p:sp>
      <p:sp>
        <p:nvSpPr>
          <p:cNvPr id="12" name="Text 10"/>
          <p:cNvSpPr/>
          <p:nvPr/>
        </p:nvSpPr>
        <p:spPr>
          <a:xfrm>
            <a:off x="6428232" y="2596896"/>
            <a:ext cx="4992624" cy="475488"/>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Deve se sustentar em dados não usados na construção do modelo, e não apenas no histórico de treinamento.</a:t>
            </a:r>
            <a:endParaRPr lang="en-US" sz="1200" dirty="0"/>
          </a:p>
        </p:txBody>
      </p:sp>
      <p:sp>
        <p:nvSpPr>
          <p:cNvPr id="13" name="Shape 11"/>
          <p:cNvSpPr/>
          <p:nvPr/>
        </p:nvSpPr>
        <p:spPr>
          <a:xfrm>
            <a:off x="566928" y="3401568"/>
            <a:ext cx="5394960" cy="1115568"/>
          </a:xfrm>
          <a:prstGeom prst="roundRect">
            <a:avLst>
              <a:gd name="adj" fmla="val 4918"/>
            </a:avLst>
          </a:prstGeom>
          <a:solidFill>
            <a:srgbClr val="F0F1F2"/>
          </a:solidFill>
          <a:ln w="12700">
            <a:solidFill>
              <a:srgbClr val="F0F1F2"/>
            </a:solidFill>
            <a:prstDash val="solid"/>
          </a:ln>
        </p:spPr>
        <p:txBody>
          <a:bodyPr/>
          <a:lstStyle/>
          <a:p>
            <a:endParaRPr lang="pt-BR"/>
          </a:p>
        </p:txBody>
      </p:sp>
      <p:sp>
        <p:nvSpPr>
          <p:cNvPr id="14" name="Text 12"/>
          <p:cNvSpPr/>
          <p:nvPr/>
        </p:nvSpPr>
        <p:spPr>
          <a:xfrm>
            <a:off x="768096" y="3547872"/>
            <a:ext cx="499262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Novos</a:t>
            </a:r>
            <a:endParaRPr lang="en-US" sz="1350" dirty="0"/>
          </a:p>
        </p:txBody>
      </p:sp>
      <p:sp>
        <p:nvSpPr>
          <p:cNvPr id="15" name="Text 13"/>
          <p:cNvSpPr/>
          <p:nvPr/>
        </p:nvSpPr>
        <p:spPr>
          <a:xfrm>
            <a:off x="768096" y="3895344"/>
            <a:ext cx="4992624" cy="475488"/>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Confirmar o que já se sabia tem valor limitado; o processo busca o que ainda não estava evidente.</a:t>
            </a:r>
            <a:endParaRPr lang="en-US" sz="1200" dirty="0"/>
          </a:p>
        </p:txBody>
      </p:sp>
      <p:sp>
        <p:nvSpPr>
          <p:cNvPr id="16" name="Shape 14"/>
          <p:cNvSpPr/>
          <p:nvPr/>
        </p:nvSpPr>
        <p:spPr>
          <a:xfrm>
            <a:off x="6227064" y="3401568"/>
            <a:ext cx="5394960" cy="1115568"/>
          </a:xfrm>
          <a:prstGeom prst="roundRect">
            <a:avLst>
              <a:gd name="adj" fmla="val 4918"/>
            </a:avLst>
          </a:prstGeom>
          <a:solidFill>
            <a:srgbClr val="F7F8F8"/>
          </a:solidFill>
          <a:ln w="12700">
            <a:solidFill>
              <a:srgbClr val="F7F8F8"/>
            </a:solidFill>
            <a:prstDash val="solid"/>
          </a:ln>
        </p:spPr>
        <p:txBody>
          <a:bodyPr/>
          <a:lstStyle/>
          <a:p>
            <a:endParaRPr lang="pt-BR"/>
          </a:p>
        </p:txBody>
      </p:sp>
      <p:sp>
        <p:nvSpPr>
          <p:cNvPr id="17" name="Text 15"/>
          <p:cNvSpPr/>
          <p:nvPr/>
        </p:nvSpPr>
        <p:spPr>
          <a:xfrm>
            <a:off x="6428232" y="3547872"/>
            <a:ext cx="499262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Potencialmente úteis</a:t>
            </a:r>
            <a:endParaRPr lang="en-US" sz="1350" dirty="0"/>
          </a:p>
        </p:txBody>
      </p:sp>
      <p:sp>
        <p:nvSpPr>
          <p:cNvPr id="18" name="Text 16"/>
          <p:cNvSpPr/>
          <p:nvPr/>
        </p:nvSpPr>
        <p:spPr>
          <a:xfrm>
            <a:off x="6428232" y="3895344"/>
            <a:ext cx="4992624" cy="475488"/>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O padrão precisa ter consequência prática para o problema formulado no início do processo.</a:t>
            </a:r>
            <a:endParaRPr lang="en-US" sz="1200" dirty="0"/>
          </a:p>
        </p:txBody>
      </p:sp>
      <p:sp>
        <p:nvSpPr>
          <p:cNvPr id="19" name="Text 17"/>
          <p:cNvSpPr/>
          <p:nvPr/>
        </p:nvSpPr>
        <p:spPr>
          <a:xfrm>
            <a:off x="566928" y="4754880"/>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Três adjetivos da definição que costumam passar despercebidos</a:t>
            </a:r>
            <a:endParaRPr lang="en-US" sz="1300" dirty="0"/>
          </a:p>
        </p:txBody>
      </p:sp>
      <p:sp>
        <p:nvSpPr>
          <p:cNvPr id="20" name="Shape 18"/>
          <p:cNvSpPr/>
          <p:nvPr/>
        </p:nvSpPr>
        <p:spPr>
          <a:xfrm>
            <a:off x="566928" y="5120640"/>
            <a:ext cx="11055096" cy="365760"/>
          </a:xfrm>
          <a:prstGeom prst="roundRect">
            <a:avLst>
              <a:gd name="adj" fmla="val 15000"/>
            </a:avLst>
          </a:prstGeom>
          <a:solidFill>
            <a:srgbClr val="F0F1F2"/>
          </a:solidFill>
          <a:ln/>
        </p:spPr>
        <p:txBody>
          <a:bodyPr/>
          <a:lstStyle/>
          <a:p>
            <a:endParaRPr lang="pt-BR"/>
          </a:p>
        </p:txBody>
      </p:sp>
      <p:sp>
        <p:nvSpPr>
          <p:cNvPr id="21" name="Text 19"/>
          <p:cNvSpPr/>
          <p:nvPr/>
        </p:nvSpPr>
        <p:spPr>
          <a:xfrm>
            <a:off x="768096" y="5120640"/>
            <a:ext cx="2926080" cy="365760"/>
          </a:xfrm>
          <a:prstGeom prst="rect">
            <a:avLst/>
          </a:prstGeom>
          <a:noFill/>
          <a:ln/>
        </p:spPr>
        <p:txBody>
          <a:bodyPr wrap="square" lIns="0" tIns="0" rIns="0" bIns="0" rtlCol="0" anchor="ctr"/>
          <a:lstStyle/>
          <a:p>
            <a:pPr marL="0" indent="0">
              <a:buNone/>
            </a:pPr>
            <a:r>
              <a:rPr lang="en-US" sz="1200" b="1" dirty="0">
                <a:solidFill>
                  <a:srgbClr val="23272A"/>
                </a:solidFill>
                <a:latin typeface="Calibri" pitchFamily="34" charset="0"/>
                <a:ea typeface="Calibri" pitchFamily="34" charset="-122"/>
                <a:cs typeface="Calibri" pitchFamily="34" charset="-120"/>
              </a:rPr>
              <a:t>Não trivial</a:t>
            </a:r>
            <a:endParaRPr lang="en-US" sz="1200" dirty="0"/>
          </a:p>
        </p:txBody>
      </p:sp>
      <p:sp>
        <p:nvSpPr>
          <p:cNvPr id="22" name="Text 20"/>
          <p:cNvSpPr/>
          <p:nvPr/>
        </p:nvSpPr>
        <p:spPr>
          <a:xfrm>
            <a:off x="3840480" y="5120640"/>
            <a:ext cx="7580376" cy="365760"/>
          </a:xfrm>
          <a:prstGeom prst="rect">
            <a:avLst/>
          </a:prstGeom>
          <a:noFill/>
          <a:ln/>
        </p:spPr>
        <p:txBody>
          <a:bodyPr wrap="square" lIns="0" tIns="0" rIns="0" bIns="0" rtlCol="0" anchor="ctr"/>
          <a:lstStyle/>
          <a:p>
            <a:pPr marL="0" indent="0">
              <a:lnSpc>
                <a:spcPct val="105000"/>
              </a:lnSpc>
              <a:buNone/>
            </a:pPr>
            <a:r>
              <a:rPr lang="en-US" sz="1150" dirty="0">
                <a:solidFill>
                  <a:srgbClr val="4C555C"/>
                </a:solidFill>
                <a:latin typeface="Calibri" pitchFamily="34" charset="0"/>
                <a:ea typeface="Calibri" pitchFamily="34" charset="-122"/>
                <a:cs typeface="Calibri" pitchFamily="34" charset="-120"/>
              </a:rPr>
              <a:t>Não se resume a consultar e somar: exige busca, escolha de método e julgamento técnico.</a:t>
            </a:r>
            <a:endParaRPr lang="en-US" sz="1150" dirty="0"/>
          </a:p>
        </p:txBody>
      </p:sp>
      <p:sp>
        <p:nvSpPr>
          <p:cNvPr id="23" name="Shape 21"/>
          <p:cNvSpPr/>
          <p:nvPr/>
        </p:nvSpPr>
        <p:spPr>
          <a:xfrm>
            <a:off x="566928" y="5522976"/>
            <a:ext cx="11055096" cy="365760"/>
          </a:xfrm>
          <a:prstGeom prst="roundRect">
            <a:avLst>
              <a:gd name="adj" fmla="val 15000"/>
            </a:avLst>
          </a:prstGeom>
          <a:solidFill>
            <a:srgbClr val="F7F8F8"/>
          </a:solidFill>
          <a:ln/>
        </p:spPr>
        <p:txBody>
          <a:bodyPr/>
          <a:lstStyle/>
          <a:p>
            <a:endParaRPr lang="pt-BR"/>
          </a:p>
        </p:txBody>
      </p:sp>
      <p:sp>
        <p:nvSpPr>
          <p:cNvPr id="24" name="Text 22"/>
          <p:cNvSpPr/>
          <p:nvPr/>
        </p:nvSpPr>
        <p:spPr>
          <a:xfrm>
            <a:off x="768096" y="5522976"/>
            <a:ext cx="2926080" cy="365760"/>
          </a:xfrm>
          <a:prstGeom prst="rect">
            <a:avLst/>
          </a:prstGeom>
          <a:noFill/>
          <a:ln/>
        </p:spPr>
        <p:txBody>
          <a:bodyPr wrap="square" lIns="0" tIns="0" rIns="0" bIns="0" rtlCol="0" anchor="ctr"/>
          <a:lstStyle/>
          <a:p>
            <a:pPr marL="0" indent="0">
              <a:buNone/>
            </a:pPr>
            <a:r>
              <a:rPr lang="en-US" sz="1200" b="1" dirty="0">
                <a:solidFill>
                  <a:srgbClr val="23272A"/>
                </a:solidFill>
                <a:latin typeface="Calibri" pitchFamily="34" charset="0"/>
                <a:ea typeface="Calibri" pitchFamily="34" charset="-122"/>
                <a:cs typeface="Calibri" pitchFamily="34" charset="-120"/>
              </a:rPr>
              <a:t>Interativo</a:t>
            </a:r>
            <a:endParaRPr lang="en-US" sz="1200" dirty="0"/>
          </a:p>
        </p:txBody>
      </p:sp>
      <p:sp>
        <p:nvSpPr>
          <p:cNvPr id="25" name="Text 23"/>
          <p:cNvSpPr/>
          <p:nvPr/>
        </p:nvSpPr>
        <p:spPr>
          <a:xfrm>
            <a:off x="3840480" y="5522976"/>
            <a:ext cx="7580376" cy="365760"/>
          </a:xfrm>
          <a:prstGeom prst="rect">
            <a:avLst/>
          </a:prstGeom>
          <a:noFill/>
          <a:ln/>
        </p:spPr>
        <p:txBody>
          <a:bodyPr wrap="square" lIns="0" tIns="0" rIns="0" bIns="0" rtlCol="0" anchor="ctr"/>
          <a:lstStyle/>
          <a:p>
            <a:pPr marL="0" indent="0">
              <a:lnSpc>
                <a:spcPct val="105000"/>
              </a:lnSpc>
              <a:buNone/>
            </a:pPr>
            <a:r>
              <a:rPr lang="en-US" sz="1150" dirty="0">
                <a:solidFill>
                  <a:srgbClr val="4C555C"/>
                </a:solidFill>
                <a:latin typeface="Calibri" pitchFamily="34" charset="0"/>
                <a:ea typeface="Calibri" pitchFamily="34" charset="-122"/>
                <a:cs typeface="Calibri" pitchFamily="34" charset="-120"/>
              </a:rPr>
              <a:t>Depende do envolvimento humano em cada etapa — do analista, do cientista de dados e do especialista de domínio.</a:t>
            </a:r>
            <a:endParaRPr lang="en-US" sz="1150" dirty="0"/>
          </a:p>
        </p:txBody>
      </p:sp>
      <p:sp>
        <p:nvSpPr>
          <p:cNvPr id="26" name="Shape 24"/>
          <p:cNvSpPr/>
          <p:nvPr/>
        </p:nvSpPr>
        <p:spPr>
          <a:xfrm>
            <a:off x="566928" y="5925312"/>
            <a:ext cx="11055096" cy="365760"/>
          </a:xfrm>
          <a:prstGeom prst="roundRect">
            <a:avLst>
              <a:gd name="adj" fmla="val 15000"/>
            </a:avLst>
          </a:prstGeom>
          <a:solidFill>
            <a:srgbClr val="F0F1F2"/>
          </a:solidFill>
          <a:ln/>
        </p:spPr>
        <p:txBody>
          <a:bodyPr/>
          <a:lstStyle/>
          <a:p>
            <a:endParaRPr lang="pt-BR"/>
          </a:p>
        </p:txBody>
      </p:sp>
      <p:sp>
        <p:nvSpPr>
          <p:cNvPr id="27" name="Text 25"/>
          <p:cNvSpPr/>
          <p:nvPr/>
        </p:nvSpPr>
        <p:spPr>
          <a:xfrm>
            <a:off x="768096" y="5925312"/>
            <a:ext cx="2926080" cy="365760"/>
          </a:xfrm>
          <a:prstGeom prst="rect">
            <a:avLst/>
          </a:prstGeom>
          <a:noFill/>
          <a:ln/>
        </p:spPr>
        <p:txBody>
          <a:bodyPr wrap="square" lIns="0" tIns="0" rIns="0" bIns="0" rtlCol="0" anchor="ctr"/>
          <a:lstStyle/>
          <a:p>
            <a:pPr marL="0" indent="0">
              <a:buNone/>
            </a:pPr>
            <a:r>
              <a:rPr lang="en-US" sz="1200" b="1" dirty="0">
                <a:solidFill>
                  <a:srgbClr val="23272A"/>
                </a:solidFill>
                <a:latin typeface="Calibri" pitchFamily="34" charset="0"/>
                <a:ea typeface="Calibri" pitchFamily="34" charset="-122"/>
                <a:cs typeface="Calibri" pitchFamily="34" charset="-120"/>
              </a:rPr>
              <a:t>Iterativo</a:t>
            </a:r>
            <a:endParaRPr lang="en-US" sz="1200" dirty="0"/>
          </a:p>
        </p:txBody>
      </p:sp>
      <p:sp>
        <p:nvSpPr>
          <p:cNvPr id="28" name="Text 26"/>
          <p:cNvSpPr/>
          <p:nvPr/>
        </p:nvSpPr>
        <p:spPr>
          <a:xfrm>
            <a:off x="3840480" y="5925312"/>
            <a:ext cx="7580376" cy="365760"/>
          </a:xfrm>
          <a:prstGeom prst="rect">
            <a:avLst/>
          </a:prstGeom>
          <a:noFill/>
          <a:ln/>
        </p:spPr>
        <p:txBody>
          <a:bodyPr wrap="square" lIns="0" tIns="0" rIns="0" bIns="0" rtlCol="0" anchor="ctr"/>
          <a:lstStyle/>
          <a:p>
            <a:pPr marL="0" indent="0">
              <a:lnSpc>
                <a:spcPct val="105000"/>
              </a:lnSpc>
              <a:buNone/>
            </a:pPr>
            <a:r>
              <a:rPr lang="en-US" sz="1150" dirty="0">
                <a:solidFill>
                  <a:srgbClr val="4C555C"/>
                </a:solidFill>
                <a:latin typeface="Calibri" pitchFamily="34" charset="0"/>
                <a:ea typeface="Calibri" pitchFamily="34" charset="-122"/>
                <a:cs typeface="Calibri" pitchFamily="34" charset="-120"/>
              </a:rPr>
              <a:t>Etapas são revisitadas: resultados insatisfatórios levam de volta à coleta, à preparação ou à modelagem.</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2 · 2.3</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O conjunto de dados: vocabulário e complexidade</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O processo assume como premissa que há um conjunto de dados, também conhecido por dataset, que pode envolver n atributos, e esses atributos representam o hiperespaço em que a busca por padrões ocorre.</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566928" y="2011680"/>
            <a:ext cx="11055096" cy="402336"/>
          </a:xfrm>
          <a:prstGeom prst="roundRect">
            <a:avLst>
              <a:gd name="adj" fmla="val 13636"/>
            </a:avLst>
          </a:prstGeom>
          <a:solidFill>
            <a:srgbClr val="23272A"/>
          </a:solidFill>
          <a:ln/>
        </p:spPr>
        <p:txBody>
          <a:bodyPr/>
          <a:lstStyle/>
          <a:p>
            <a:endParaRPr lang="pt-BR"/>
          </a:p>
        </p:txBody>
      </p:sp>
      <p:sp>
        <p:nvSpPr>
          <p:cNvPr id="8" name="Text 6"/>
          <p:cNvSpPr/>
          <p:nvPr/>
        </p:nvSpPr>
        <p:spPr>
          <a:xfrm>
            <a:off x="768096" y="2011680"/>
            <a:ext cx="2779776"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Elemento</a:t>
            </a:r>
            <a:endParaRPr lang="en-US" sz="1200" dirty="0"/>
          </a:p>
        </p:txBody>
      </p:sp>
      <p:sp>
        <p:nvSpPr>
          <p:cNvPr id="9" name="Text 7"/>
          <p:cNvSpPr/>
          <p:nvPr/>
        </p:nvSpPr>
        <p:spPr>
          <a:xfrm>
            <a:off x="3694176" y="2011680"/>
            <a:ext cx="3877056"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Outros nomes usuais</a:t>
            </a:r>
            <a:endParaRPr lang="en-US" sz="1200" dirty="0"/>
          </a:p>
        </p:txBody>
      </p:sp>
      <p:sp>
        <p:nvSpPr>
          <p:cNvPr id="10" name="Text 8"/>
          <p:cNvSpPr/>
          <p:nvPr/>
        </p:nvSpPr>
        <p:spPr>
          <a:xfrm>
            <a:off x="7717536" y="2011680"/>
            <a:ext cx="3959352"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O que representa</a:t>
            </a:r>
            <a:endParaRPr lang="en-US" sz="1200" dirty="0"/>
          </a:p>
        </p:txBody>
      </p:sp>
      <p:sp>
        <p:nvSpPr>
          <p:cNvPr id="11" name="Shape 9"/>
          <p:cNvSpPr/>
          <p:nvPr/>
        </p:nvSpPr>
        <p:spPr>
          <a:xfrm>
            <a:off x="566928" y="2468880"/>
            <a:ext cx="11055096" cy="548640"/>
          </a:xfrm>
          <a:prstGeom prst="roundRect">
            <a:avLst>
              <a:gd name="adj" fmla="val 10000"/>
            </a:avLst>
          </a:prstGeom>
          <a:solidFill>
            <a:srgbClr val="F0F1F2"/>
          </a:solidFill>
          <a:ln/>
        </p:spPr>
        <p:txBody>
          <a:bodyPr/>
          <a:lstStyle/>
          <a:p>
            <a:endParaRPr lang="pt-BR"/>
          </a:p>
        </p:txBody>
      </p:sp>
      <p:sp>
        <p:nvSpPr>
          <p:cNvPr id="12" name="Text 10"/>
          <p:cNvSpPr/>
          <p:nvPr/>
        </p:nvSpPr>
        <p:spPr>
          <a:xfrm>
            <a:off x="768096" y="2468880"/>
            <a:ext cx="2779776" cy="548640"/>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Dataset</a:t>
            </a:r>
            <a:endParaRPr lang="en-US" sz="1250" dirty="0"/>
          </a:p>
        </p:txBody>
      </p:sp>
      <p:sp>
        <p:nvSpPr>
          <p:cNvPr id="13" name="Text 11"/>
          <p:cNvSpPr/>
          <p:nvPr/>
        </p:nvSpPr>
        <p:spPr>
          <a:xfrm>
            <a:off x="3694176" y="2468880"/>
            <a:ext cx="3877056"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Conjunto de dados, base</a:t>
            </a:r>
            <a:endParaRPr lang="en-US" sz="1200" dirty="0"/>
          </a:p>
        </p:txBody>
      </p:sp>
      <p:sp>
        <p:nvSpPr>
          <p:cNvPr id="14" name="Text 12"/>
          <p:cNvSpPr/>
          <p:nvPr/>
        </p:nvSpPr>
        <p:spPr>
          <a:xfrm>
            <a:off x="7717536" y="2468880"/>
            <a:ext cx="3959352"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O material sobre o qual todo o processo opera.</a:t>
            </a:r>
            <a:endParaRPr lang="en-US" sz="1200" dirty="0"/>
          </a:p>
        </p:txBody>
      </p:sp>
      <p:sp>
        <p:nvSpPr>
          <p:cNvPr id="15" name="Shape 13"/>
          <p:cNvSpPr/>
          <p:nvPr/>
        </p:nvSpPr>
        <p:spPr>
          <a:xfrm>
            <a:off x="566928" y="3090672"/>
            <a:ext cx="11055096" cy="548640"/>
          </a:xfrm>
          <a:prstGeom prst="roundRect">
            <a:avLst>
              <a:gd name="adj" fmla="val 10000"/>
            </a:avLst>
          </a:prstGeom>
          <a:solidFill>
            <a:srgbClr val="F7F8F8"/>
          </a:solidFill>
          <a:ln/>
        </p:spPr>
        <p:txBody>
          <a:bodyPr/>
          <a:lstStyle/>
          <a:p>
            <a:endParaRPr lang="pt-BR"/>
          </a:p>
        </p:txBody>
      </p:sp>
      <p:sp>
        <p:nvSpPr>
          <p:cNvPr id="16" name="Text 14"/>
          <p:cNvSpPr/>
          <p:nvPr/>
        </p:nvSpPr>
        <p:spPr>
          <a:xfrm>
            <a:off x="768096" y="3090672"/>
            <a:ext cx="2779776" cy="548640"/>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Atributo</a:t>
            </a:r>
            <a:endParaRPr lang="en-US" sz="1250" dirty="0"/>
          </a:p>
        </p:txBody>
      </p:sp>
      <p:sp>
        <p:nvSpPr>
          <p:cNvPr id="17" name="Text 15"/>
          <p:cNvSpPr/>
          <p:nvPr/>
        </p:nvSpPr>
        <p:spPr>
          <a:xfrm>
            <a:off x="3694176" y="3090672"/>
            <a:ext cx="3877056"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Campo, coluna, variável, característica</a:t>
            </a:r>
            <a:endParaRPr lang="en-US" sz="1200" dirty="0"/>
          </a:p>
        </p:txBody>
      </p:sp>
      <p:sp>
        <p:nvSpPr>
          <p:cNvPr id="18" name="Text 16"/>
          <p:cNvSpPr/>
          <p:nvPr/>
        </p:nvSpPr>
        <p:spPr>
          <a:xfrm>
            <a:off x="7717536" y="3090672"/>
            <a:ext cx="3959352"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Uma dimensão do hiperespaço: cada atributo acrescenta um eixo à busca.</a:t>
            </a:r>
            <a:endParaRPr lang="en-US" sz="1200" dirty="0"/>
          </a:p>
        </p:txBody>
      </p:sp>
      <p:sp>
        <p:nvSpPr>
          <p:cNvPr id="19" name="Shape 17"/>
          <p:cNvSpPr/>
          <p:nvPr/>
        </p:nvSpPr>
        <p:spPr>
          <a:xfrm>
            <a:off x="566928" y="3712464"/>
            <a:ext cx="11055096" cy="548640"/>
          </a:xfrm>
          <a:prstGeom prst="roundRect">
            <a:avLst>
              <a:gd name="adj" fmla="val 10000"/>
            </a:avLst>
          </a:prstGeom>
          <a:solidFill>
            <a:srgbClr val="F0F1F2"/>
          </a:solidFill>
          <a:ln/>
        </p:spPr>
        <p:txBody>
          <a:bodyPr/>
          <a:lstStyle/>
          <a:p>
            <a:endParaRPr lang="pt-BR"/>
          </a:p>
        </p:txBody>
      </p:sp>
      <p:sp>
        <p:nvSpPr>
          <p:cNvPr id="20" name="Text 18"/>
          <p:cNvSpPr/>
          <p:nvPr/>
        </p:nvSpPr>
        <p:spPr>
          <a:xfrm>
            <a:off x="768096" y="3712464"/>
            <a:ext cx="2779776" cy="548640"/>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Registro</a:t>
            </a:r>
            <a:endParaRPr lang="en-US" sz="1250" dirty="0"/>
          </a:p>
        </p:txBody>
      </p:sp>
      <p:sp>
        <p:nvSpPr>
          <p:cNvPr id="21" name="Text 19"/>
          <p:cNvSpPr/>
          <p:nvPr/>
        </p:nvSpPr>
        <p:spPr>
          <a:xfrm>
            <a:off x="3694176" y="3712464"/>
            <a:ext cx="3877056"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Linha, transação, exemplo, instância</a:t>
            </a:r>
            <a:endParaRPr lang="en-US" sz="1200" dirty="0"/>
          </a:p>
        </p:txBody>
      </p:sp>
      <p:sp>
        <p:nvSpPr>
          <p:cNvPr id="22" name="Text 20"/>
          <p:cNvSpPr/>
          <p:nvPr/>
        </p:nvSpPr>
        <p:spPr>
          <a:xfrm>
            <a:off x="7717536" y="3712464"/>
            <a:ext cx="3959352"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Uma observação individual, descrita pelos valores de todos os atributos.</a:t>
            </a:r>
            <a:endParaRPr lang="en-US" sz="1200" dirty="0"/>
          </a:p>
        </p:txBody>
      </p:sp>
      <p:sp>
        <p:nvSpPr>
          <p:cNvPr id="23" name="Shape 21"/>
          <p:cNvSpPr/>
          <p:nvPr/>
        </p:nvSpPr>
        <p:spPr>
          <a:xfrm>
            <a:off x="566928" y="4443984"/>
            <a:ext cx="5394960" cy="1097280"/>
          </a:xfrm>
          <a:prstGeom prst="roundRect">
            <a:avLst>
              <a:gd name="adj" fmla="val 5000"/>
            </a:avLst>
          </a:prstGeom>
          <a:solidFill>
            <a:srgbClr val="23272A"/>
          </a:solidFill>
          <a:ln w="12700">
            <a:solidFill>
              <a:srgbClr val="23272A"/>
            </a:solidFill>
            <a:prstDash val="solid"/>
          </a:ln>
        </p:spPr>
        <p:txBody>
          <a:bodyPr/>
          <a:lstStyle/>
          <a:p>
            <a:endParaRPr lang="pt-BR"/>
          </a:p>
        </p:txBody>
      </p:sp>
      <p:sp>
        <p:nvSpPr>
          <p:cNvPr id="24" name="Text 22"/>
          <p:cNvSpPr/>
          <p:nvPr/>
        </p:nvSpPr>
        <p:spPr>
          <a:xfrm>
            <a:off x="768096" y="4590288"/>
            <a:ext cx="4992624"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Como a complexidade cresce</a:t>
            </a:r>
            <a:endParaRPr lang="en-US" sz="1300" dirty="0"/>
          </a:p>
        </p:txBody>
      </p:sp>
      <p:sp>
        <p:nvSpPr>
          <p:cNvPr id="25" name="Text 23"/>
          <p:cNvSpPr/>
          <p:nvPr/>
        </p:nvSpPr>
        <p:spPr>
          <a:xfrm>
            <a:off x="768096" y="4937760"/>
            <a:ext cx="4992624" cy="45720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Quanto maior o valor de n e o número de registros, maior é o conjunto a ser analisado — e geralmente maior é a sua complexidade.</a:t>
            </a:r>
            <a:endParaRPr lang="en-US" sz="1250" dirty="0"/>
          </a:p>
        </p:txBody>
      </p:sp>
      <p:sp>
        <p:nvSpPr>
          <p:cNvPr id="26" name="Shape 24"/>
          <p:cNvSpPr/>
          <p:nvPr/>
        </p:nvSpPr>
        <p:spPr>
          <a:xfrm>
            <a:off x="6227064" y="4443984"/>
            <a:ext cx="5394960" cy="1097280"/>
          </a:xfrm>
          <a:prstGeom prst="roundRect">
            <a:avLst>
              <a:gd name="adj" fmla="val 5000"/>
            </a:avLst>
          </a:prstGeom>
          <a:solidFill>
            <a:srgbClr val="F0F1F2"/>
          </a:solidFill>
          <a:ln w="12700">
            <a:solidFill>
              <a:srgbClr val="F0F1F2"/>
            </a:solidFill>
            <a:prstDash val="solid"/>
          </a:ln>
        </p:spPr>
        <p:txBody>
          <a:bodyPr/>
          <a:lstStyle/>
          <a:p>
            <a:endParaRPr lang="pt-BR"/>
          </a:p>
        </p:txBody>
      </p:sp>
      <p:sp>
        <p:nvSpPr>
          <p:cNvPr id="27" name="Text 25"/>
          <p:cNvSpPr/>
          <p:nvPr/>
        </p:nvSpPr>
        <p:spPr>
          <a:xfrm>
            <a:off x="6428232" y="4590288"/>
            <a:ext cx="4992624" cy="29260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Por que a variedade de nomes importa</a:t>
            </a:r>
            <a:endParaRPr lang="en-US" sz="1300" dirty="0"/>
          </a:p>
        </p:txBody>
      </p:sp>
      <p:sp>
        <p:nvSpPr>
          <p:cNvPr id="28" name="Text 26"/>
          <p:cNvSpPr/>
          <p:nvPr/>
        </p:nvSpPr>
        <p:spPr>
          <a:xfrm>
            <a:off x="6428232" y="4937760"/>
            <a:ext cx="4992624" cy="45720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Estatística, computação e negócio nomeiam as mesmas entidades de formas distintas. Reconhecer os sinônimos evita mal-entendidos entre áreas dentro de um mesmo projeto.</a:t>
            </a:r>
            <a:endParaRPr lang="en-US" sz="1250" dirty="0"/>
          </a:p>
        </p:txBody>
      </p:sp>
      <p:sp>
        <p:nvSpPr>
          <p:cNvPr id="29" name="Shape 27"/>
          <p:cNvSpPr/>
          <p:nvPr/>
        </p:nvSpPr>
        <p:spPr>
          <a:xfrm>
            <a:off x="566928" y="5632704"/>
            <a:ext cx="11055096" cy="457200"/>
          </a:xfrm>
          <a:prstGeom prst="roundRect">
            <a:avLst>
              <a:gd name="adj" fmla="val 12000"/>
            </a:avLst>
          </a:prstGeom>
          <a:solidFill>
            <a:srgbClr val="F7F8F8"/>
          </a:solidFill>
          <a:ln w="12700">
            <a:solidFill>
              <a:srgbClr val="F7F8F8"/>
            </a:solidFill>
            <a:prstDash val="solid"/>
          </a:ln>
        </p:spPr>
        <p:txBody>
          <a:bodyPr/>
          <a:lstStyle/>
          <a:p>
            <a:endParaRPr lang="pt-BR"/>
          </a:p>
        </p:txBody>
      </p:sp>
      <p:sp>
        <p:nvSpPr>
          <p:cNvPr id="30" name="Text 28"/>
          <p:cNvSpPr/>
          <p:nvPr/>
        </p:nvSpPr>
        <p:spPr>
          <a:xfrm>
            <a:off x="768096" y="5779008"/>
            <a:ext cx="10652760" cy="164592"/>
          </a:xfrm>
          <a:prstGeom prst="rect">
            <a:avLst/>
          </a:prstGeom>
          <a:noFill/>
          <a:ln/>
        </p:spPr>
        <p:txBody>
          <a:bodyPr wrap="square" lIns="0" tIns="0" rIns="0" bIns="0" rtlCol="0" anchor="t"/>
          <a:lstStyle/>
          <a:p>
            <a:pPr marL="0" indent="0">
              <a:lnSpc>
                <a:spcPct val="108000"/>
              </a:lnSpc>
              <a:buNone/>
            </a:pPr>
            <a:r>
              <a:rPr lang="en-US" sz="1150" dirty="0">
                <a:solidFill>
                  <a:srgbClr val="4C555C"/>
                </a:solidFill>
                <a:latin typeface="Calibri" pitchFamily="34" charset="0"/>
                <a:ea typeface="Calibri" pitchFamily="34" charset="-122"/>
                <a:cs typeface="Calibri" pitchFamily="34" charset="-120"/>
              </a:rPr>
              <a:t>Nota: mais atributos nem sempre significam melhor modelo — acrescentar dimensões esparsas dificulta a identificação de padrões, fenômeno conhecido como maldição da dimensionalidade.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2 · 2.4</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Aprender e aplicar: as duas grandes etapas</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Em KDD, o processo de construção dos modelos pode ser dividido em duas grandes etapas, conhecidas por diversos nomes na literatura.</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566928" y="2048256"/>
            <a:ext cx="5394960" cy="1325880"/>
          </a:xfrm>
          <a:prstGeom prst="roundRect">
            <a:avLst>
              <a:gd name="adj" fmla="val 4138"/>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194560"/>
            <a:ext cx="4992624"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Aprendendo</a:t>
            </a:r>
            <a:endParaRPr lang="en-US" sz="1400" dirty="0"/>
          </a:p>
        </p:txBody>
      </p:sp>
      <p:sp>
        <p:nvSpPr>
          <p:cNvPr id="9" name="Text 7"/>
          <p:cNvSpPr/>
          <p:nvPr/>
        </p:nvSpPr>
        <p:spPr>
          <a:xfrm>
            <a:off x="768096" y="2542032"/>
            <a:ext cx="4992624" cy="68580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Também descrito como treinar, construir, formular ou induzir um modelo de conhecimento. Ocorre quando se procura por padrões em um conjunto de dados, em geral utilizando um ou mais algoritmos de Data Mining ou Machine Learning.</a:t>
            </a:r>
            <a:endParaRPr lang="en-US" sz="1250" dirty="0"/>
          </a:p>
        </p:txBody>
      </p:sp>
      <p:sp>
        <p:nvSpPr>
          <p:cNvPr id="10" name="Shape 8"/>
          <p:cNvSpPr/>
          <p:nvPr/>
        </p:nvSpPr>
        <p:spPr>
          <a:xfrm>
            <a:off x="6227064" y="2048256"/>
            <a:ext cx="5394960" cy="1325880"/>
          </a:xfrm>
          <a:prstGeom prst="roundRect">
            <a:avLst>
              <a:gd name="adj" fmla="val 4138"/>
            </a:avLst>
          </a:prstGeom>
          <a:solidFill>
            <a:srgbClr val="F0F1F2"/>
          </a:solidFill>
          <a:ln w="12700">
            <a:solidFill>
              <a:srgbClr val="F0F1F2"/>
            </a:solidFill>
            <a:prstDash val="solid"/>
          </a:ln>
        </p:spPr>
        <p:txBody>
          <a:bodyPr/>
          <a:lstStyle/>
          <a:p>
            <a:endParaRPr lang="pt-BR"/>
          </a:p>
        </p:txBody>
      </p:sp>
      <p:sp>
        <p:nvSpPr>
          <p:cNvPr id="11" name="Text 9"/>
          <p:cNvSpPr/>
          <p:nvPr/>
        </p:nvSpPr>
        <p:spPr>
          <a:xfrm>
            <a:off x="6428232" y="2194560"/>
            <a:ext cx="4992624" cy="292608"/>
          </a:xfrm>
          <a:prstGeom prst="rect">
            <a:avLst/>
          </a:prstGeom>
          <a:noFill/>
          <a:ln/>
        </p:spPr>
        <p:txBody>
          <a:bodyPr wrap="square" lIns="0" tIns="0" rIns="0" bIns="0" rtlCol="0" anchor="ctr"/>
          <a:lstStyle/>
          <a:p>
            <a:pPr marL="0" indent="0">
              <a:buNone/>
            </a:pPr>
            <a:r>
              <a:rPr lang="en-US" sz="1400" b="1" dirty="0">
                <a:solidFill>
                  <a:srgbClr val="23272A"/>
                </a:solidFill>
                <a:latin typeface="Calibri" pitchFamily="34" charset="0"/>
                <a:ea typeface="Calibri" pitchFamily="34" charset="-122"/>
                <a:cs typeface="Calibri" pitchFamily="34" charset="-120"/>
              </a:rPr>
              <a:t>Aplicando</a:t>
            </a:r>
            <a:endParaRPr lang="en-US" sz="1400" dirty="0"/>
          </a:p>
        </p:txBody>
      </p:sp>
      <p:sp>
        <p:nvSpPr>
          <p:cNvPr id="12" name="Text 10"/>
          <p:cNvSpPr/>
          <p:nvPr/>
        </p:nvSpPr>
        <p:spPr>
          <a:xfrm>
            <a:off x="6428232" y="2542032"/>
            <a:ext cx="4992624" cy="68580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Também descrito como estimar, testar ou predizer. Ocorre quando se faz a estimativa dos valores desconhecidos para atributos do conjunto de dados — isto é, quando o modelo já construído passa a ser usado.</a:t>
            </a:r>
            <a:endParaRPr lang="en-US" sz="1250" dirty="0"/>
          </a:p>
        </p:txBody>
      </p:sp>
      <p:sp>
        <p:nvSpPr>
          <p:cNvPr id="13" name="Text 11"/>
          <p:cNvSpPr/>
          <p:nvPr/>
        </p:nvSpPr>
        <p:spPr>
          <a:xfrm>
            <a:off x="566928" y="357530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Exemplo do material — concessão de crédito</a:t>
            </a:r>
            <a:endParaRPr lang="en-US" sz="1300" dirty="0"/>
          </a:p>
        </p:txBody>
      </p:sp>
      <p:sp>
        <p:nvSpPr>
          <p:cNvPr id="14" name="Shape 12"/>
          <p:cNvSpPr/>
          <p:nvPr/>
        </p:nvSpPr>
        <p:spPr>
          <a:xfrm>
            <a:off x="566928" y="3895344"/>
            <a:ext cx="3538728" cy="1353312"/>
          </a:xfrm>
          <a:prstGeom prst="roundRect">
            <a:avLst>
              <a:gd name="adj" fmla="val 4054"/>
            </a:avLst>
          </a:prstGeom>
          <a:solidFill>
            <a:srgbClr val="F0F1F2"/>
          </a:solidFill>
          <a:ln w="12700">
            <a:solidFill>
              <a:srgbClr val="F0F1F2"/>
            </a:solidFill>
            <a:prstDash val="solid"/>
          </a:ln>
        </p:spPr>
        <p:txBody>
          <a:bodyPr/>
          <a:lstStyle/>
          <a:p>
            <a:endParaRPr lang="pt-BR"/>
          </a:p>
        </p:txBody>
      </p:sp>
      <p:sp>
        <p:nvSpPr>
          <p:cNvPr id="15" name="Text 13"/>
          <p:cNvSpPr/>
          <p:nvPr/>
        </p:nvSpPr>
        <p:spPr>
          <a:xfrm>
            <a:off x="768096" y="4023360"/>
            <a:ext cx="3136392" cy="292608"/>
          </a:xfrm>
          <a:prstGeom prst="rect">
            <a:avLst/>
          </a:prstGeom>
          <a:noFill/>
          <a:ln/>
        </p:spPr>
        <p:txBody>
          <a:bodyPr wrap="square" lIns="0" tIns="0" rIns="0" bIns="0" rtlCol="0" anchor="ctr"/>
          <a:lstStyle/>
          <a:p>
            <a:pPr marL="0" indent="0">
              <a:buNone/>
            </a:pPr>
            <a:r>
              <a:rPr lang="en-US" sz="1250" b="1" dirty="0">
                <a:solidFill>
                  <a:srgbClr val="23272A"/>
                </a:solidFill>
                <a:latin typeface="Calibri" pitchFamily="34" charset="0"/>
                <a:ea typeface="Calibri" pitchFamily="34" charset="-122"/>
                <a:cs typeface="Calibri" pitchFamily="34" charset="-120"/>
              </a:rPr>
              <a:t>Base histórica</a:t>
            </a:r>
            <a:endParaRPr lang="en-US" sz="1250" dirty="0"/>
          </a:p>
        </p:txBody>
      </p:sp>
      <p:sp>
        <p:nvSpPr>
          <p:cNvPr id="16" name="Text 14"/>
          <p:cNvSpPr/>
          <p:nvPr/>
        </p:nvSpPr>
        <p:spPr>
          <a:xfrm>
            <a:off x="768096" y="4334256"/>
            <a:ext cx="3136392" cy="859536"/>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Registros de clientes com idade, renda, estado civil, valor solicitado e o desfecho: pagou ou não pagou o empréstimo.</a:t>
            </a:r>
            <a:endParaRPr lang="en-US" sz="1200" dirty="0"/>
          </a:p>
        </p:txBody>
      </p:sp>
      <p:sp>
        <p:nvSpPr>
          <p:cNvPr id="17" name="Shape 15"/>
          <p:cNvSpPr/>
          <p:nvPr/>
        </p:nvSpPr>
        <p:spPr>
          <a:xfrm>
            <a:off x="4325112" y="3895344"/>
            <a:ext cx="3538728" cy="1353312"/>
          </a:xfrm>
          <a:prstGeom prst="roundRect">
            <a:avLst>
              <a:gd name="adj" fmla="val 4054"/>
            </a:avLst>
          </a:prstGeom>
          <a:solidFill>
            <a:srgbClr val="F7F8F8"/>
          </a:solidFill>
          <a:ln w="12700">
            <a:solidFill>
              <a:srgbClr val="F7F8F8"/>
            </a:solidFill>
            <a:prstDash val="solid"/>
          </a:ln>
        </p:spPr>
        <p:txBody>
          <a:bodyPr/>
          <a:lstStyle/>
          <a:p>
            <a:endParaRPr lang="pt-BR"/>
          </a:p>
        </p:txBody>
      </p:sp>
      <p:sp>
        <p:nvSpPr>
          <p:cNvPr id="18" name="Text 16"/>
          <p:cNvSpPr/>
          <p:nvPr/>
        </p:nvSpPr>
        <p:spPr>
          <a:xfrm>
            <a:off x="4526280" y="4023360"/>
            <a:ext cx="3136392" cy="292608"/>
          </a:xfrm>
          <a:prstGeom prst="rect">
            <a:avLst/>
          </a:prstGeom>
          <a:noFill/>
          <a:ln/>
        </p:spPr>
        <p:txBody>
          <a:bodyPr wrap="square" lIns="0" tIns="0" rIns="0" bIns="0" rtlCol="0" anchor="ctr"/>
          <a:lstStyle/>
          <a:p>
            <a:pPr marL="0" indent="0">
              <a:buNone/>
            </a:pPr>
            <a:r>
              <a:rPr lang="en-US" sz="1250" b="1" dirty="0">
                <a:solidFill>
                  <a:srgbClr val="23272A"/>
                </a:solidFill>
                <a:latin typeface="Calibri" pitchFamily="34" charset="0"/>
                <a:ea typeface="Calibri" pitchFamily="34" charset="-122"/>
                <a:cs typeface="Calibri" pitchFamily="34" charset="-120"/>
              </a:rPr>
              <a:t>Dados rotulados</a:t>
            </a:r>
            <a:endParaRPr lang="en-US" sz="1250" dirty="0"/>
          </a:p>
        </p:txBody>
      </p:sp>
      <p:sp>
        <p:nvSpPr>
          <p:cNvPr id="19" name="Text 17"/>
          <p:cNvSpPr/>
          <p:nvPr/>
        </p:nvSpPr>
        <p:spPr>
          <a:xfrm>
            <a:off x="4526280" y="4334256"/>
            <a:ext cx="3136392" cy="859536"/>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São ditos rotulados porque contêm a informação da classe a que cada cliente pertence — bom pagador ou mau pagador — e são usados para construir o modelo.</a:t>
            </a:r>
            <a:endParaRPr lang="en-US" sz="1200" dirty="0"/>
          </a:p>
        </p:txBody>
      </p:sp>
      <p:sp>
        <p:nvSpPr>
          <p:cNvPr id="20" name="Shape 18"/>
          <p:cNvSpPr/>
          <p:nvPr/>
        </p:nvSpPr>
        <p:spPr>
          <a:xfrm>
            <a:off x="8083296" y="3895344"/>
            <a:ext cx="3538728" cy="1353312"/>
          </a:xfrm>
          <a:prstGeom prst="roundRect">
            <a:avLst>
              <a:gd name="adj" fmla="val 4054"/>
            </a:avLst>
          </a:prstGeom>
          <a:solidFill>
            <a:srgbClr val="F0F1F2"/>
          </a:solidFill>
          <a:ln w="12700">
            <a:solidFill>
              <a:srgbClr val="F0F1F2"/>
            </a:solidFill>
            <a:prstDash val="solid"/>
          </a:ln>
        </p:spPr>
        <p:txBody>
          <a:bodyPr/>
          <a:lstStyle/>
          <a:p>
            <a:endParaRPr lang="pt-BR"/>
          </a:p>
        </p:txBody>
      </p:sp>
      <p:sp>
        <p:nvSpPr>
          <p:cNvPr id="21" name="Text 19"/>
          <p:cNvSpPr/>
          <p:nvPr/>
        </p:nvSpPr>
        <p:spPr>
          <a:xfrm>
            <a:off x="8284464" y="4023360"/>
            <a:ext cx="3136392" cy="292608"/>
          </a:xfrm>
          <a:prstGeom prst="rect">
            <a:avLst/>
          </a:prstGeom>
          <a:noFill/>
          <a:ln/>
        </p:spPr>
        <p:txBody>
          <a:bodyPr wrap="square" lIns="0" tIns="0" rIns="0" bIns="0" rtlCol="0" anchor="ctr"/>
          <a:lstStyle/>
          <a:p>
            <a:pPr marL="0" indent="0">
              <a:buNone/>
            </a:pPr>
            <a:r>
              <a:rPr lang="en-US" sz="1250" b="1" dirty="0">
                <a:solidFill>
                  <a:srgbClr val="23272A"/>
                </a:solidFill>
                <a:latin typeface="Calibri" pitchFamily="34" charset="0"/>
                <a:ea typeface="Calibri" pitchFamily="34" charset="-122"/>
                <a:cs typeface="Calibri" pitchFamily="34" charset="-120"/>
              </a:rPr>
              <a:t>Aplicação a novos casos</a:t>
            </a:r>
            <a:endParaRPr lang="en-US" sz="1250" dirty="0"/>
          </a:p>
        </p:txBody>
      </p:sp>
      <p:sp>
        <p:nvSpPr>
          <p:cNvPr id="22" name="Text 20"/>
          <p:cNvSpPr/>
          <p:nvPr/>
        </p:nvSpPr>
        <p:spPr>
          <a:xfrm>
            <a:off x="8284464" y="4334256"/>
            <a:ext cx="3136392" cy="859536"/>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Quando novos clientes solicitam empréstimo, o modelo construído com os dados rotulados prevê o comportamento esperado e apoia a decisão do gestor.</a:t>
            </a:r>
            <a:endParaRPr lang="en-US" sz="1200" dirty="0"/>
          </a:p>
        </p:txBody>
      </p:sp>
      <p:sp>
        <p:nvSpPr>
          <p:cNvPr id="23" name="Shape 21"/>
          <p:cNvSpPr/>
          <p:nvPr/>
        </p:nvSpPr>
        <p:spPr>
          <a:xfrm>
            <a:off x="566928" y="5340096"/>
            <a:ext cx="11055096" cy="877824"/>
          </a:xfrm>
          <a:prstGeom prst="roundRect">
            <a:avLst>
              <a:gd name="adj" fmla="val 6250"/>
            </a:avLst>
          </a:prstGeom>
          <a:solidFill>
            <a:srgbClr val="23272A"/>
          </a:solidFill>
          <a:ln w="12700">
            <a:solidFill>
              <a:srgbClr val="23272A"/>
            </a:solidFill>
            <a:prstDash val="solid"/>
          </a:ln>
        </p:spPr>
        <p:txBody>
          <a:bodyPr/>
          <a:lstStyle/>
          <a:p>
            <a:endParaRPr lang="pt-BR"/>
          </a:p>
        </p:txBody>
      </p:sp>
      <p:sp>
        <p:nvSpPr>
          <p:cNvPr id="24" name="Text 22"/>
          <p:cNvSpPr/>
          <p:nvPr/>
        </p:nvSpPr>
        <p:spPr>
          <a:xfrm>
            <a:off x="768096" y="5468112"/>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Princípio que orienta todo o processo</a:t>
            </a:r>
            <a:endParaRPr lang="en-US" sz="1300" dirty="0"/>
          </a:p>
        </p:txBody>
      </p:sp>
      <p:sp>
        <p:nvSpPr>
          <p:cNvPr id="25" name="Text 23"/>
          <p:cNvSpPr/>
          <p:nvPr/>
        </p:nvSpPr>
        <p:spPr>
          <a:xfrm>
            <a:off x="768096" y="5760720"/>
            <a:ext cx="10652760" cy="402336"/>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A principal etapa do KDD é o aprendizado — a busca efetiva por conhecimentos novos e úteis a partir dos dados. Mas todo processo deve ser norteado por objetivos claros, definidos antes de começar.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2 · 2.5</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KDD é um processo, não apenas um resultado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Focar apenas nos resultados obtidos pode levar à desconsideração da complexidade da extração, da organização e da apresentação do conhecimento extraído. É um processo muito mais complexo que “simplesmente” a descoberta de padrões interessantes.</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17</a:t>
            </a:r>
            <a:endParaRPr lang="en-US" sz="900" dirty="0"/>
          </a:p>
        </p:txBody>
      </p:sp>
      <p:sp>
        <p:nvSpPr>
          <p:cNvPr id="7" name="Shape 5"/>
          <p:cNvSpPr/>
          <p:nvPr/>
        </p:nvSpPr>
        <p:spPr>
          <a:xfrm>
            <a:off x="566928" y="2103120"/>
            <a:ext cx="11055096" cy="566928"/>
          </a:xfrm>
          <a:prstGeom prst="roundRect">
            <a:avLst>
              <a:gd name="adj" fmla="val 9677"/>
            </a:avLst>
          </a:prstGeom>
          <a:solidFill>
            <a:srgbClr val="F0F1F2"/>
          </a:solidFill>
          <a:ln/>
        </p:spPr>
        <p:txBody>
          <a:bodyPr/>
          <a:lstStyle/>
          <a:p>
            <a:endParaRPr lang="pt-BR"/>
          </a:p>
        </p:txBody>
      </p:sp>
      <p:sp>
        <p:nvSpPr>
          <p:cNvPr id="8" name="Text 6"/>
          <p:cNvSpPr/>
          <p:nvPr/>
        </p:nvSpPr>
        <p:spPr>
          <a:xfrm>
            <a:off x="768096" y="2103120"/>
            <a:ext cx="3474720" cy="56692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Entendimento do problema</a:t>
            </a:r>
            <a:endParaRPr lang="en-US" sz="1300" dirty="0"/>
          </a:p>
        </p:txBody>
      </p:sp>
      <p:sp>
        <p:nvSpPr>
          <p:cNvPr id="9" name="Text 7"/>
          <p:cNvSpPr/>
          <p:nvPr/>
        </p:nvSpPr>
        <p:spPr>
          <a:xfrm>
            <a:off x="4389120" y="2103120"/>
            <a:ext cx="7031736" cy="566928"/>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Formular objetivos claros antes de qualquer análise: sem pergunta definida, não há critério para avaliar a resposta.</a:t>
            </a:r>
            <a:endParaRPr lang="en-US" sz="1250" dirty="0"/>
          </a:p>
        </p:txBody>
      </p:sp>
      <p:sp>
        <p:nvSpPr>
          <p:cNvPr id="10" name="Shape 8"/>
          <p:cNvSpPr/>
          <p:nvPr/>
        </p:nvSpPr>
        <p:spPr>
          <a:xfrm>
            <a:off x="566928" y="2743200"/>
            <a:ext cx="11055096" cy="566928"/>
          </a:xfrm>
          <a:prstGeom prst="roundRect">
            <a:avLst>
              <a:gd name="adj" fmla="val 9677"/>
            </a:avLst>
          </a:prstGeom>
          <a:solidFill>
            <a:srgbClr val="F7F8F8"/>
          </a:solidFill>
          <a:ln/>
        </p:spPr>
        <p:txBody>
          <a:bodyPr/>
          <a:lstStyle/>
          <a:p>
            <a:endParaRPr lang="pt-BR"/>
          </a:p>
        </p:txBody>
      </p:sp>
      <p:sp>
        <p:nvSpPr>
          <p:cNvPr id="11" name="Text 9"/>
          <p:cNvSpPr/>
          <p:nvPr/>
        </p:nvSpPr>
        <p:spPr>
          <a:xfrm>
            <a:off x="768096" y="2743200"/>
            <a:ext cx="3474720" cy="56692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Negociação com os donos dos dados</a:t>
            </a:r>
            <a:endParaRPr lang="en-US" sz="1300" dirty="0"/>
          </a:p>
        </p:txBody>
      </p:sp>
      <p:sp>
        <p:nvSpPr>
          <p:cNvPr id="12" name="Text 10"/>
          <p:cNvSpPr/>
          <p:nvPr/>
        </p:nvSpPr>
        <p:spPr>
          <a:xfrm>
            <a:off x="4389120" y="2743200"/>
            <a:ext cx="7031736" cy="566928"/>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Acesso, permissão e definição do que pode ser analisado envolvem áreas e interesses distintos dentro da organização.</a:t>
            </a:r>
            <a:endParaRPr lang="en-US" sz="1250" dirty="0"/>
          </a:p>
        </p:txBody>
      </p:sp>
      <p:sp>
        <p:nvSpPr>
          <p:cNvPr id="13" name="Shape 11"/>
          <p:cNvSpPr/>
          <p:nvPr/>
        </p:nvSpPr>
        <p:spPr>
          <a:xfrm>
            <a:off x="566928" y="3383280"/>
            <a:ext cx="11055096" cy="566928"/>
          </a:xfrm>
          <a:prstGeom prst="roundRect">
            <a:avLst>
              <a:gd name="adj" fmla="val 9677"/>
            </a:avLst>
          </a:prstGeom>
          <a:solidFill>
            <a:srgbClr val="F0F1F2"/>
          </a:solidFill>
          <a:ln/>
        </p:spPr>
        <p:txBody>
          <a:bodyPr/>
          <a:lstStyle/>
          <a:p>
            <a:endParaRPr lang="pt-BR"/>
          </a:p>
        </p:txBody>
      </p:sp>
      <p:sp>
        <p:nvSpPr>
          <p:cNvPr id="14" name="Text 12"/>
          <p:cNvSpPr/>
          <p:nvPr/>
        </p:nvSpPr>
        <p:spPr>
          <a:xfrm>
            <a:off x="768096" y="3383280"/>
            <a:ext cx="3474720" cy="56692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Recursos disponíveis</a:t>
            </a:r>
            <a:endParaRPr lang="en-US" sz="1300" dirty="0"/>
          </a:p>
        </p:txBody>
      </p:sp>
      <p:sp>
        <p:nvSpPr>
          <p:cNvPr id="15" name="Text 13"/>
          <p:cNvSpPr/>
          <p:nvPr/>
        </p:nvSpPr>
        <p:spPr>
          <a:xfrm>
            <a:off x="4389120" y="3383280"/>
            <a:ext cx="7031736" cy="566928"/>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Capacidade computacional e disponibilidade de profissionais limitam o que é factível, não apenas o que é desejável.</a:t>
            </a:r>
            <a:endParaRPr lang="en-US" sz="1250" dirty="0"/>
          </a:p>
        </p:txBody>
      </p:sp>
      <p:sp>
        <p:nvSpPr>
          <p:cNvPr id="16" name="Shape 14"/>
          <p:cNvSpPr/>
          <p:nvPr/>
        </p:nvSpPr>
        <p:spPr>
          <a:xfrm>
            <a:off x="566928" y="4023360"/>
            <a:ext cx="11055096" cy="566928"/>
          </a:xfrm>
          <a:prstGeom prst="roundRect">
            <a:avLst>
              <a:gd name="adj" fmla="val 9677"/>
            </a:avLst>
          </a:prstGeom>
          <a:solidFill>
            <a:srgbClr val="F7F8F8"/>
          </a:solidFill>
          <a:ln/>
        </p:spPr>
        <p:txBody>
          <a:bodyPr/>
          <a:lstStyle/>
          <a:p>
            <a:endParaRPr lang="pt-BR"/>
          </a:p>
        </p:txBody>
      </p:sp>
      <p:sp>
        <p:nvSpPr>
          <p:cNvPr id="17" name="Text 15"/>
          <p:cNvSpPr/>
          <p:nvPr/>
        </p:nvSpPr>
        <p:spPr>
          <a:xfrm>
            <a:off x="768096" y="4023360"/>
            <a:ext cx="3474720" cy="56692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Qualidade dos dados</a:t>
            </a:r>
            <a:endParaRPr lang="en-US" sz="1300" dirty="0"/>
          </a:p>
        </p:txBody>
      </p:sp>
      <p:sp>
        <p:nvSpPr>
          <p:cNvPr id="18" name="Text 16"/>
          <p:cNvSpPr/>
          <p:nvPr/>
        </p:nvSpPr>
        <p:spPr>
          <a:xfrm>
            <a:off x="4389120" y="4023360"/>
            <a:ext cx="7031736" cy="566928"/>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É preciso lidar com dados incompletos, inconsistentes e/ou incertos, situação que é a regra e não a exceção.</a:t>
            </a:r>
            <a:endParaRPr lang="en-US" sz="1250" dirty="0"/>
          </a:p>
        </p:txBody>
      </p:sp>
      <p:sp>
        <p:nvSpPr>
          <p:cNvPr id="19" name="Shape 17"/>
          <p:cNvSpPr/>
          <p:nvPr/>
        </p:nvSpPr>
        <p:spPr>
          <a:xfrm>
            <a:off x="566928" y="4663440"/>
            <a:ext cx="11055096" cy="566928"/>
          </a:xfrm>
          <a:prstGeom prst="roundRect">
            <a:avLst>
              <a:gd name="adj" fmla="val 9677"/>
            </a:avLst>
          </a:prstGeom>
          <a:solidFill>
            <a:srgbClr val="F0F1F2"/>
          </a:solidFill>
          <a:ln/>
        </p:spPr>
        <p:txBody>
          <a:bodyPr/>
          <a:lstStyle/>
          <a:p>
            <a:endParaRPr lang="pt-BR"/>
          </a:p>
        </p:txBody>
      </p:sp>
      <p:sp>
        <p:nvSpPr>
          <p:cNvPr id="20" name="Text 18"/>
          <p:cNvSpPr/>
          <p:nvPr/>
        </p:nvSpPr>
        <p:spPr>
          <a:xfrm>
            <a:off x="768096" y="4663440"/>
            <a:ext cx="3474720" cy="56692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Apresentação dos resultados</a:t>
            </a:r>
            <a:endParaRPr lang="en-US" sz="1300" dirty="0"/>
          </a:p>
        </p:txBody>
      </p:sp>
      <p:sp>
        <p:nvSpPr>
          <p:cNvPr id="21" name="Text 19"/>
          <p:cNvSpPr/>
          <p:nvPr/>
        </p:nvSpPr>
        <p:spPr>
          <a:xfrm>
            <a:off x="4389120" y="4663440"/>
            <a:ext cx="7031736" cy="566928"/>
          </a:xfrm>
          <a:prstGeom prst="rect">
            <a:avLst/>
          </a:prstGeom>
          <a:noFill/>
          <a:ln/>
        </p:spPr>
        <p:txBody>
          <a:bodyPr wrap="square" lIns="0" tIns="0" rIns="0" bIns="0" rtlCol="0" anchor="ctr"/>
          <a:lstStyle/>
          <a:p>
            <a:pPr marL="0" indent="0">
              <a:lnSpc>
                <a:spcPct val="105000"/>
              </a:lnSpc>
              <a:buNone/>
            </a:pPr>
            <a:r>
              <a:rPr lang="en-US" sz="1250" dirty="0">
                <a:solidFill>
                  <a:srgbClr val="4C555C"/>
                </a:solidFill>
                <a:latin typeface="Calibri" pitchFamily="34" charset="0"/>
                <a:ea typeface="Calibri" pitchFamily="34" charset="-122"/>
                <a:cs typeface="Calibri" pitchFamily="34" charset="-120"/>
              </a:rPr>
              <a:t>O conhecimento extraído precisa chegar aos interessados em forma adequada, sob pena de não se converter em decisão.</a:t>
            </a:r>
            <a:endParaRPr lang="en-US" sz="1250" dirty="0"/>
          </a:p>
        </p:txBody>
      </p:sp>
      <p:sp>
        <p:nvSpPr>
          <p:cNvPr id="22" name="Shape 20"/>
          <p:cNvSpPr/>
          <p:nvPr/>
        </p:nvSpPr>
        <p:spPr>
          <a:xfrm>
            <a:off x="566928" y="5358384"/>
            <a:ext cx="11055096" cy="877824"/>
          </a:xfrm>
          <a:prstGeom prst="roundRect">
            <a:avLst>
              <a:gd name="adj" fmla="val 6250"/>
            </a:avLst>
          </a:prstGeom>
          <a:solidFill>
            <a:srgbClr val="23272A"/>
          </a:solidFill>
          <a:ln w="12700">
            <a:solidFill>
              <a:srgbClr val="23272A"/>
            </a:solidFill>
            <a:prstDash val="solid"/>
          </a:ln>
        </p:spPr>
        <p:txBody>
          <a:bodyPr/>
          <a:lstStyle/>
          <a:p>
            <a:endParaRPr lang="pt-BR"/>
          </a:p>
        </p:txBody>
      </p:sp>
      <p:sp>
        <p:nvSpPr>
          <p:cNvPr id="23" name="Text 21"/>
          <p:cNvSpPr/>
          <p:nvPr/>
        </p:nvSpPr>
        <p:spPr>
          <a:xfrm>
            <a:off x="768096" y="5486400"/>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Consequência para a prática</a:t>
            </a:r>
            <a:endParaRPr lang="en-US" sz="1300" dirty="0"/>
          </a:p>
        </p:txBody>
      </p:sp>
      <p:sp>
        <p:nvSpPr>
          <p:cNvPr id="24" name="Text 22"/>
          <p:cNvSpPr/>
          <p:nvPr/>
        </p:nvSpPr>
        <p:spPr>
          <a:xfrm>
            <a:off x="768096" y="5779008"/>
            <a:ext cx="10652760" cy="402336"/>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Cronogramas de projeto que alocam a maior parte do tempo à modelagem costumam falhar: as etapas de acesso, entendimento e preparação são as que efetivamente consomem o esforço e determinam o resultado.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72A"/>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3</a:t>
            </a:r>
            <a:endParaRPr lang="en-US" sz="1050" dirty="0"/>
          </a:p>
        </p:txBody>
      </p:sp>
      <p:sp>
        <p:nvSpPr>
          <p:cNvPr id="3" name="Shape 1"/>
          <p:cNvSpPr/>
          <p:nvPr/>
        </p:nvSpPr>
        <p:spPr>
          <a:xfrm>
            <a:off x="566928" y="2706624"/>
            <a:ext cx="2011680" cy="27432"/>
          </a:xfrm>
          <a:prstGeom prst="rect">
            <a:avLst/>
          </a:prstGeom>
          <a:solidFill>
            <a:srgbClr val="8A7B66"/>
          </a:solidFill>
          <a:ln w="12700">
            <a:solidFill>
              <a:srgbClr val="8A7B66"/>
            </a:solidFill>
            <a:prstDash val="solid"/>
          </a:ln>
        </p:spPr>
        <p:txBody>
          <a:bodyPr/>
          <a:lstStyle/>
          <a:p>
            <a:endParaRPr lang="pt-BR"/>
          </a:p>
        </p:txBody>
      </p:sp>
      <p:sp>
        <p:nvSpPr>
          <p:cNvPr id="4" name="Text 2"/>
          <p:cNvSpPr/>
          <p:nvPr/>
        </p:nvSpPr>
        <p:spPr>
          <a:xfrm>
            <a:off x="566928" y="2926080"/>
            <a:ext cx="100584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Tipos de dados e repositórios</a:t>
            </a:r>
            <a:endParaRPr lang="en-US" sz="4000" dirty="0"/>
          </a:p>
        </p:txBody>
      </p:sp>
      <p:sp>
        <p:nvSpPr>
          <p:cNvPr id="5" name="Text 3"/>
          <p:cNvSpPr/>
          <p:nvPr/>
        </p:nvSpPr>
        <p:spPr>
          <a:xfrm>
            <a:off x="566928" y="3749040"/>
            <a:ext cx="7863840" cy="822960"/>
          </a:xfrm>
          <a:prstGeom prst="rect">
            <a:avLst/>
          </a:prstGeom>
          <a:noFill/>
          <a:ln/>
        </p:spPr>
        <p:txBody>
          <a:bodyPr wrap="square" lIns="0" tIns="0" rIns="0" bIns="0" rtlCol="0" anchor="t"/>
          <a:lstStyle/>
          <a:p>
            <a:pPr marL="0" indent="0">
              <a:lnSpc>
                <a:spcPct val="110000"/>
              </a:lnSpc>
              <a:buNone/>
            </a:pPr>
            <a:r>
              <a:rPr lang="en-US" sz="1350" dirty="0">
                <a:solidFill>
                  <a:srgbClr val="C6CACD"/>
                </a:solidFill>
                <a:latin typeface="Calibri" pitchFamily="34" charset="0"/>
                <a:ea typeface="Calibri" pitchFamily="34" charset="-122"/>
                <a:cs typeface="Calibri" pitchFamily="34" charset="-120"/>
              </a:rPr>
              <a:t>Com que matéria-prima se trabalha e onde ela é armazenada: dados estruturados, semiestruturados e não estruturados, e a distinção entre Data Warehouse e Data Lake.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3 · 3.1</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Tipos de dados quanto à estruturação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A facilidade de trabalhar com dados está ligada a quanto eles são estruturados. Essa característica define o esforço de preparação e as técnicas aplicáveis.</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566928" y="2048256"/>
            <a:ext cx="3538728" cy="2103120"/>
          </a:xfrm>
          <a:prstGeom prst="roundRect">
            <a:avLst>
              <a:gd name="adj" fmla="val 2609"/>
            </a:avLst>
          </a:prstGeom>
          <a:solidFill>
            <a:srgbClr val="F0F1F2"/>
          </a:solidFill>
          <a:ln w="12700">
            <a:solidFill>
              <a:srgbClr val="F0F1F2"/>
            </a:solidFill>
            <a:prstDash val="solid"/>
          </a:ln>
        </p:spPr>
        <p:txBody>
          <a:bodyPr/>
          <a:lstStyle/>
          <a:p>
            <a:endParaRPr lang="pt-BR"/>
          </a:p>
        </p:txBody>
      </p:sp>
      <p:sp>
        <p:nvSpPr>
          <p:cNvPr id="8" name="Text 6"/>
          <p:cNvSpPr/>
          <p:nvPr/>
        </p:nvSpPr>
        <p:spPr>
          <a:xfrm>
            <a:off x="768096" y="2194560"/>
            <a:ext cx="3136392" cy="310896"/>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Estruturados</a:t>
            </a:r>
            <a:endParaRPr lang="en-US" sz="1500" dirty="0"/>
          </a:p>
        </p:txBody>
      </p:sp>
      <p:sp>
        <p:nvSpPr>
          <p:cNvPr id="9" name="Text 7"/>
          <p:cNvSpPr/>
          <p:nvPr/>
        </p:nvSpPr>
        <p:spPr>
          <a:xfrm>
            <a:off x="768096" y="2560320"/>
            <a:ext cx="3136392" cy="713232"/>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Organizados em esquema definido, com campos e tipos conhecidos.</a:t>
            </a:r>
            <a:endParaRPr lang="en-US" sz="1200" dirty="0"/>
          </a:p>
        </p:txBody>
      </p:sp>
      <p:sp>
        <p:nvSpPr>
          <p:cNvPr id="10" name="Text 8"/>
          <p:cNvSpPr/>
          <p:nvPr/>
        </p:nvSpPr>
        <p:spPr>
          <a:xfrm>
            <a:off x="768096" y="3291840"/>
            <a:ext cx="3136392" cy="219456"/>
          </a:xfrm>
          <a:prstGeom prst="rect">
            <a:avLst/>
          </a:prstGeom>
          <a:noFill/>
          <a:ln/>
        </p:spPr>
        <p:txBody>
          <a:bodyPr wrap="square" lIns="0" tIns="0" rIns="0" bIns="0" rtlCol="0" anchor="ctr"/>
          <a:lstStyle/>
          <a:p>
            <a:pPr marL="0" indent="0">
              <a:buNone/>
            </a:pPr>
            <a:r>
              <a:rPr lang="en-US" sz="950" b="1" kern="0" spc="150" dirty="0">
                <a:solidFill>
                  <a:srgbClr val="8A7B66"/>
                </a:solidFill>
                <a:latin typeface="Calibri" pitchFamily="34" charset="0"/>
                <a:ea typeface="Calibri" pitchFamily="34" charset="-122"/>
                <a:cs typeface="Calibri" pitchFamily="34" charset="-120"/>
              </a:rPr>
              <a:t>EXEMPLOS</a:t>
            </a:r>
            <a:endParaRPr lang="en-US" sz="950" dirty="0"/>
          </a:p>
        </p:txBody>
      </p:sp>
      <p:sp>
        <p:nvSpPr>
          <p:cNvPr id="11" name="Text 9"/>
          <p:cNvSpPr/>
          <p:nvPr/>
        </p:nvSpPr>
        <p:spPr>
          <a:xfrm>
            <a:off x="768096" y="3529584"/>
            <a:ext cx="3136392" cy="548640"/>
          </a:xfrm>
          <a:prstGeom prst="rect">
            <a:avLst/>
          </a:prstGeom>
          <a:noFill/>
          <a:ln/>
        </p:spPr>
        <p:txBody>
          <a:bodyPr wrap="square" lIns="0" tIns="0" rIns="0" bIns="0" rtlCol="0" anchor="t"/>
          <a:lstStyle/>
          <a:p>
            <a:pPr marL="0" indent="0">
              <a:lnSpc>
                <a:spcPct val="105000"/>
              </a:lnSpc>
              <a:buNone/>
            </a:pPr>
            <a:r>
              <a:rPr lang="en-US" sz="1150" dirty="0">
                <a:solidFill>
                  <a:srgbClr val="6F7880"/>
                </a:solidFill>
                <a:latin typeface="Calibri" pitchFamily="34" charset="0"/>
                <a:ea typeface="Calibri" pitchFamily="34" charset="-122"/>
                <a:cs typeface="Calibri" pitchFamily="34" charset="-120"/>
              </a:rPr>
              <a:t>Planilhas e tabelas de um banco de dados.</a:t>
            </a:r>
            <a:endParaRPr lang="en-US" sz="1150" dirty="0"/>
          </a:p>
        </p:txBody>
      </p:sp>
      <p:sp>
        <p:nvSpPr>
          <p:cNvPr id="12" name="Shape 10"/>
          <p:cNvSpPr/>
          <p:nvPr/>
        </p:nvSpPr>
        <p:spPr>
          <a:xfrm>
            <a:off x="4325112" y="2048256"/>
            <a:ext cx="3538728" cy="2103120"/>
          </a:xfrm>
          <a:prstGeom prst="roundRect">
            <a:avLst>
              <a:gd name="adj" fmla="val 2609"/>
            </a:avLst>
          </a:prstGeom>
          <a:solidFill>
            <a:srgbClr val="F7F8F8"/>
          </a:solidFill>
          <a:ln w="12700">
            <a:solidFill>
              <a:srgbClr val="F7F8F8"/>
            </a:solidFill>
            <a:prstDash val="solid"/>
          </a:ln>
        </p:spPr>
        <p:txBody>
          <a:bodyPr/>
          <a:lstStyle/>
          <a:p>
            <a:endParaRPr lang="pt-BR"/>
          </a:p>
        </p:txBody>
      </p:sp>
      <p:sp>
        <p:nvSpPr>
          <p:cNvPr id="13" name="Text 11"/>
          <p:cNvSpPr/>
          <p:nvPr/>
        </p:nvSpPr>
        <p:spPr>
          <a:xfrm>
            <a:off x="4526280" y="2194560"/>
            <a:ext cx="3136392" cy="310896"/>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Semiestruturados</a:t>
            </a:r>
            <a:endParaRPr lang="en-US" sz="1500" dirty="0"/>
          </a:p>
        </p:txBody>
      </p:sp>
      <p:sp>
        <p:nvSpPr>
          <p:cNvPr id="14" name="Text 12"/>
          <p:cNvSpPr/>
          <p:nvPr/>
        </p:nvSpPr>
        <p:spPr>
          <a:xfrm>
            <a:off x="4526280" y="2560320"/>
            <a:ext cx="3136392" cy="713232"/>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Combinam partes organizadas e partes livres no mesmo registro.</a:t>
            </a:r>
            <a:endParaRPr lang="en-US" sz="1200" dirty="0"/>
          </a:p>
        </p:txBody>
      </p:sp>
      <p:sp>
        <p:nvSpPr>
          <p:cNvPr id="15" name="Text 13"/>
          <p:cNvSpPr/>
          <p:nvPr/>
        </p:nvSpPr>
        <p:spPr>
          <a:xfrm>
            <a:off x="4526280" y="3291840"/>
            <a:ext cx="3136392" cy="219456"/>
          </a:xfrm>
          <a:prstGeom prst="rect">
            <a:avLst/>
          </a:prstGeom>
          <a:noFill/>
          <a:ln/>
        </p:spPr>
        <p:txBody>
          <a:bodyPr wrap="square" lIns="0" tIns="0" rIns="0" bIns="0" rtlCol="0" anchor="ctr"/>
          <a:lstStyle/>
          <a:p>
            <a:pPr marL="0" indent="0">
              <a:buNone/>
            </a:pPr>
            <a:r>
              <a:rPr lang="en-US" sz="950" b="1" kern="0" spc="150" dirty="0">
                <a:solidFill>
                  <a:srgbClr val="8A7B66"/>
                </a:solidFill>
                <a:latin typeface="Calibri" pitchFamily="34" charset="0"/>
                <a:ea typeface="Calibri" pitchFamily="34" charset="-122"/>
                <a:cs typeface="Calibri" pitchFamily="34" charset="-120"/>
              </a:rPr>
              <a:t>EXEMPLOS</a:t>
            </a:r>
            <a:endParaRPr lang="en-US" sz="950" dirty="0"/>
          </a:p>
        </p:txBody>
      </p:sp>
      <p:sp>
        <p:nvSpPr>
          <p:cNvPr id="16" name="Text 14"/>
          <p:cNvSpPr/>
          <p:nvPr/>
        </p:nvSpPr>
        <p:spPr>
          <a:xfrm>
            <a:off x="4526280" y="3529584"/>
            <a:ext cx="3136392" cy="548640"/>
          </a:xfrm>
          <a:prstGeom prst="rect">
            <a:avLst/>
          </a:prstGeom>
          <a:noFill/>
          <a:ln/>
        </p:spPr>
        <p:txBody>
          <a:bodyPr wrap="square" lIns="0" tIns="0" rIns="0" bIns="0" rtlCol="0" anchor="t"/>
          <a:lstStyle/>
          <a:p>
            <a:pPr marL="0" indent="0">
              <a:lnSpc>
                <a:spcPct val="105000"/>
              </a:lnSpc>
              <a:buNone/>
            </a:pPr>
            <a:r>
              <a:rPr lang="en-US" sz="1150" dirty="0">
                <a:solidFill>
                  <a:srgbClr val="6F7880"/>
                </a:solidFill>
                <a:latin typeface="Calibri" pitchFamily="34" charset="0"/>
                <a:ea typeface="Calibri" pitchFamily="34" charset="-122"/>
                <a:cs typeface="Calibri" pitchFamily="34" charset="-120"/>
              </a:rPr>
              <a:t>E-mails: data de envio, remetente, destinatário e título são estruturados; anexos e a mensagem em si, não.</a:t>
            </a:r>
            <a:endParaRPr lang="en-US" sz="1150" dirty="0"/>
          </a:p>
        </p:txBody>
      </p:sp>
      <p:sp>
        <p:nvSpPr>
          <p:cNvPr id="17" name="Shape 15"/>
          <p:cNvSpPr/>
          <p:nvPr/>
        </p:nvSpPr>
        <p:spPr>
          <a:xfrm>
            <a:off x="8083296" y="2048256"/>
            <a:ext cx="3538728" cy="2103120"/>
          </a:xfrm>
          <a:prstGeom prst="roundRect">
            <a:avLst>
              <a:gd name="adj" fmla="val 2609"/>
            </a:avLst>
          </a:prstGeom>
          <a:solidFill>
            <a:srgbClr val="F0F1F2"/>
          </a:solidFill>
          <a:ln w="12700">
            <a:solidFill>
              <a:srgbClr val="F0F1F2"/>
            </a:solidFill>
            <a:prstDash val="solid"/>
          </a:ln>
        </p:spPr>
        <p:txBody>
          <a:bodyPr/>
          <a:lstStyle/>
          <a:p>
            <a:endParaRPr lang="pt-BR"/>
          </a:p>
        </p:txBody>
      </p:sp>
      <p:sp>
        <p:nvSpPr>
          <p:cNvPr id="18" name="Text 16"/>
          <p:cNvSpPr/>
          <p:nvPr/>
        </p:nvSpPr>
        <p:spPr>
          <a:xfrm>
            <a:off x="8284464" y="2194560"/>
            <a:ext cx="3136392" cy="310896"/>
          </a:xfrm>
          <a:prstGeom prst="rect">
            <a:avLst/>
          </a:prstGeom>
          <a:noFill/>
          <a:ln/>
        </p:spPr>
        <p:txBody>
          <a:bodyPr wrap="square" lIns="0" tIns="0" rIns="0" bIns="0" rtlCol="0" anchor="ctr"/>
          <a:lstStyle/>
          <a:p>
            <a:pPr marL="0" indent="0">
              <a:buNone/>
            </a:pPr>
            <a:r>
              <a:rPr lang="en-US" sz="1500" b="1" dirty="0">
                <a:solidFill>
                  <a:srgbClr val="23272A"/>
                </a:solidFill>
                <a:latin typeface="Calibri" pitchFamily="34" charset="0"/>
                <a:ea typeface="Calibri" pitchFamily="34" charset="-122"/>
                <a:cs typeface="Calibri" pitchFamily="34" charset="-120"/>
              </a:rPr>
              <a:t>Não estruturados</a:t>
            </a:r>
            <a:endParaRPr lang="en-US" sz="1500" dirty="0"/>
          </a:p>
        </p:txBody>
      </p:sp>
      <p:sp>
        <p:nvSpPr>
          <p:cNvPr id="19" name="Text 17"/>
          <p:cNvSpPr/>
          <p:nvPr/>
        </p:nvSpPr>
        <p:spPr>
          <a:xfrm>
            <a:off x="8284464" y="2560320"/>
            <a:ext cx="3136392" cy="713232"/>
          </a:xfrm>
          <a:prstGeom prst="rect">
            <a:avLst/>
          </a:prstGeom>
          <a:noFill/>
          <a:ln/>
        </p:spPr>
        <p:txBody>
          <a:bodyPr wrap="square" lIns="0" tIns="0" rIns="0" bIns="0" rtlCol="0" anchor="t"/>
          <a:lstStyle/>
          <a:p>
            <a:pPr marL="0" indent="0">
              <a:lnSpc>
                <a:spcPct val="106000"/>
              </a:lnSpc>
              <a:buNone/>
            </a:pPr>
            <a:r>
              <a:rPr lang="en-US" sz="1200" dirty="0">
                <a:solidFill>
                  <a:srgbClr val="4C555C"/>
                </a:solidFill>
                <a:latin typeface="Calibri" pitchFamily="34" charset="0"/>
                <a:ea typeface="Calibri" pitchFamily="34" charset="-122"/>
                <a:cs typeface="Calibri" pitchFamily="34" charset="-120"/>
              </a:rPr>
              <a:t>Sem esquema predefinido; exigem processamento específico para extração de conteúdo.</a:t>
            </a:r>
            <a:endParaRPr lang="en-US" sz="1200" dirty="0"/>
          </a:p>
        </p:txBody>
      </p:sp>
      <p:sp>
        <p:nvSpPr>
          <p:cNvPr id="20" name="Text 18"/>
          <p:cNvSpPr/>
          <p:nvPr/>
        </p:nvSpPr>
        <p:spPr>
          <a:xfrm>
            <a:off x="8284464" y="3291840"/>
            <a:ext cx="3136392" cy="219456"/>
          </a:xfrm>
          <a:prstGeom prst="rect">
            <a:avLst/>
          </a:prstGeom>
          <a:noFill/>
          <a:ln/>
        </p:spPr>
        <p:txBody>
          <a:bodyPr wrap="square" lIns="0" tIns="0" rIns="0" bIns="0" rtlCol="0" anchor="ctr"/>
          <a:lstStyle/>
          <a:p>
            <a:pPr marL="0" indent="0">
              <a:buNone/>
            </a:pPr>
            <a:r>
              <a:rPr lang="en-US" sz="950" b="1" kern="0" spc="150" dirty="0">
                <a:solidFill>
                  <a:srgbClr val="8A7B66"/>
                </a:solidFill>
                <a:latin typeface="Calibri" pitchFamily="34" charset="0"/>
                <a:ea typeface="Calibri" pitchFamily="34" charset="-122"/>
                <a:cs typeface="Calibri" pitchFamily="34" charset="-120"/>
              </a:rPr>
              <a:t>EXEMPLOS</a:t>
            </a:r>
            <a:endParaRPr lang="en-US" sz="950" dirty="0"/>
          </a:p>
        </p:txBody>
      </p:sp>
      <p:sp>
        <p:nvSpPr>
          <p:cNvPr id="21" name="Text 19"/>
          <p:cNvSpPr/>
          <p:nvPr/>
        </p:nvSpPr>
        <p:spPr>
          <a:xfrm>
            <a:off x="8284464" y="3529584"/>
            <a:ext cx="3136392" cy="548640"/>
          </a:xfrm>
          <a:prstGeom prst="rect">
            <a:avLst/>
          </a:prstGeom>
          <a:noFill/>
          <a:ln/>
        </p:spPr>
        <p:txBody>
          <a:bodyPr wrap="square" lIns="0" tIns="0" rIns="0" bIns="0" rtlCol="0" anchor="t"/>
          <a:lstStyle/>
          <a:p>
            <a:pPr marL="0" indent="0">
              <a:lnSpc>
                <a:spcPct val="105000"/>
              </a:lnSpc>
              <a:buNone/>
            </a:pPr>
            <a:r>
              <a:rPr lang="en-US" sz="1150" dirty="0">
                <a:solidFill>
                  <a:srgbClr val="6F7880"/>
                </a:solidFill>
                <a:latin typeface="Calibri" pitchFamily="34" charset="0"/>
                <a:ea typeface="Calibri" pitchFamily="34" charset="-122"/>
                <a:cs typeface="Calibri" pitchFamily="34" charset="-120"/>
              </a:rPr>
              <a:t>Arquivos, fotos e publicações em redes sociais.</a:t>
            </a:r>
            <a:endParaRPr lang="en-US" sz="1150" dirty="0"/>
          </a:p>
        </p:txBody>
      </p:sp>
      <p:sp>
        <p:nvSpPr>
          <p:cNvPr id="22" name="Shape 20"/>
          <p:cNvSpPr/>
          <p:nvPr/>
        </p:nvSpPr>
        <p:spPr>
          <a:xfrm>
            <a:off x="566928" y="4297680"/>
            <a:ext cx="5394960" cy="1005840"/>
          </a:xfrm>
          <a:prstGeom prst="roundRect">
            <a:avLst>
              <a:gd name="adj" fmla="val 5455"/>
            </a:avLst>
          </a:prstGeom>
          <a:solidFill>
            <a:srgbClr val="23272A"/>
          </a:solidFill>
          <a:ln w="12700">
            <a:solidFill>
              <a:srgbClr val="23272A"/>
            </a:solidFill>
            <a:prstDash val="solid"/>
          </a:ln>
        </p:spPr>
        <p:txBody>
          <a:bodyPr/>
          <a:lstStyle/>
          <a:p>
            <a:endParaRPr lang="pt-BR"/>
          </a:p>
        </p:txBody>
      </p:sp>
      <p:sp>
        <p:nvSpPr>
          <p:cNvPr id="23" name="Text 21"/>
          <p:cNvSpPr/>
          <p:nvPr/>
        </p:nvSpPr>
        <p:spPr>
          <a:xfrm>
            <a:off x="768096" y="4443984"/>
            <a:ext cx="4992624"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A proporção que define o desafio</a:t>
            </a:r>
            <a:endParaRPr lang="en-US" sz="1300" dirty="0"/>
          </a:p>
        </p:txBody>
      </p:sp>
      <p:sp>
        <p:nvSpPr>
          <p:cNvPr id="24" name="Text 22"/>
          <p:cNvSpPr/>
          <p:nvPr/>
        </p:nvSpPr>
        <p:spPr>
          <a:xfrm>
            <a:off x="768096" y="4791456"/>
            <a:ext cx="4992624" cy="36576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Estima-se que pelo menos 80% dos dados do mundo sejam não estruturados, o que traz complexidade adicional para utilizá-los na extração de conhecimento.</a:t>
            </a:r>
            <a:endParaRPr lang="en-US" sz="1250" dirty="0"/>
          </a:p>
        </p:txBody>
      </p:sp>
      <p:sp>
        <p:nvSpPr>
          <p:cNvPr id="25" name="Shape 23"/>
          <p:cNvSpPr/>
          <p:nvPr/>
        </p:nvSpPr>
        <p:spPr>
          <a:xfrm>
            <a:off x="6227064" y="4297680"/>
            <a:ext cx="5394960" cy="1005840"/>
          </a:xfrm>
          <a:prstGeom prst="roundRect">
            <a:avLst>
              <a:gd name="adj" fmla="val 5455"/>
            </a:avLst>
          </a:prstGeom>
          <a:solidFill>
            <a:srgbClr val="F0F1F2"/>
          </a:solidFill>
          <a:ln w="12700">
            <a:solidFill>
              <a:srgbClr val="F0F1F2"/>
            </a:solidFill>
            <a:prstDash val="solid"/>
          </a:ln>
        </p:spPr>
        <p:txBody>
          <a:bodyPr/>
          <a:lstStyle/>
          <a:p>
            <a:endParaRPr lang="pt-BR"/>
          </a:p>
        </p:txBody>
      </p:sp>
      <p:sp>
        <p:nvSpPr>
          <p:cNvPr id="26" name="Text 24"/>
          <p:cNvSpPr/>
          <p:nvPr/>
        </p:nvSpPr>
        <p:spPr>
          <a:xfrm>
            <a:off x="6428232" y="4443984"/>
            <a:ext cx="4992624" cy="29260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Onde cada tipo costuma residir</a:t>
            </a:r>
            <a:endParaRPr lang="en-US" sz="1300" dirty="0"/>
          </a:p>
        </p:txBody>
      </p:sp>
      <p:sp>
        <p:nvSpPr>
          <p:cNvPr id="27" name="Text 25"/>
          <p:cNvSpPr/>
          <p:nvPr/>
        </p:nvSpPr>
        <p:spPr>
          <a:xfrm>
            <a:off x="6428232" y="4791456"/>
            <a:ext cx="4992624" cy="36576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Os dados estruturados são mais comumente armazenados em bancos relacionais e Data Warehouses; os não estruturados podem ser armazenados em Data Lakes.</a:t>
            </a:r>
            <a:endParaRPr lang="en-US" sz="1250" dirty="0"/>
          </a:p>
        </p:txBody>
      </p:sp>
      <p:sp>
        <p:nvSpPr>
          <p:cNvPr id="28" name="Shape 26"/>
          <p:cNvSpPr/>
          <p:nvPr/>
        </p:nvSpPr>
        <p:spPr>
          <a:xfrm>
            <a:off x="566928" y="5413248"/>
            <a:ext cx="11055096" cy="877824"/>
          </a:xfrm>
          <a:prstGeom prst="roundRect">
            <a:avLst>
              <a:gd name="adj" fmla="val 6250"/>
            </a:avLst>
          </a:prstGeom>
          <a:solidFill>
            <a:srgbClr val="23272A"/>
          </a:solidFill>
          <a:ln w="12700">
            <a:solidFill>
              <a:srgbClr val="23272A"/>
            </a:solidFill>
            <a:prstDash val="solid"/>
          </a:ln>
        </p:spPr>
        <p:txBody>
          <a:bodyPr/>
          <a:lstStyle/>
          <a:p>
            <a:endParaRPr lang="pt-BR"/>
          </a:p>
        </p:txBody>
      </p:sp>
      <p:sp>
        <p:nvSpPr>
          <p:cNvPr id="29" name="Text 27"/>
          <p:cNvSpPr/>
          <p:nvPr/>
        </p:nvSpPr>
        <p:spPr>
          <a:xfrm>
            <a:off x="768096" y="5541264"/>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Implicação prática</a:t>
            </a:r>
            <a:endParaRPr lang="en-US" sz="1300" dirty="0"/>
          </a:p>
        </p:txBody>
      </p:sp>
      <p:sp>
        <p:nvSpPr>
          <p:cNvPr id="30" name="Text 28"/>
          <p:cNvSpPr/>
          <p:nvPr/>
        </p:nvSpPr>
        <p:spPr>
          <a:xfrm>
            <a:off x="768096" y="5833872"/>
            <a:ext cx="10652760" cy="402336"/>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Projetos que dependem de dados não estruturados exigem etapa adicional de extração — de texto, de imagem, de áudio — antes que qualquer técnica tabular clássica possa ser aplicada.</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3 · 3.2</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Data Warehouse e Data Lake</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Quando falamos de repositórios de dados, em geral falamos de bancos de dados relacionais, Data Warehouses e Data Lakes. De forma simplificada, um banco relacional armazena dados em tabelas relacionadas entre si.</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20</a:t>
            </a:r>
            <a:endParaRPr lang="en-US" sz="900" dirty="0"/>
          </a:p>
        </p:txBody>
      </p:sp>
      <p:sp>
        <p:nvSpPr>
          <p:cNvPr id="7" name="Shape 5"/>
          <p:cNvSpPr/>
          <p:nvPr/>
        </p:nvSpPr>
        <p:spPr>
          <a:xfrm>
            <a:off x="566928" y="2048256"/>
            <a:ext cx="5394960" cy="1325880"/>
          </a:xfrm>
          <a:prstGeom prst="roundRect">
            <a:avLst>
              <a:gd name="adj" fmla="val 4138"/>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194560"/>
            <a:ext cx="4992624"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Data Warehouse</a:t>
            </a:r>
            <a:endParaRPr lang="en-US" sz="1400" dirty="0"/>
          </a:p>
        </p:txBody>
      </p:sp>
      <p:sp>
        <p:nvSpPr>
          <p:cNvPr id="9" name="Text 7"/>
          <p:cNvSpPr/>
          <p:nvPr/>
        </p:nvSpPr>
        <p:spPr>
          <a:xfrm>
            <a:off x="768096" y="2542032"/>
            <a:ext cx="4992624" cy="68580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Repositório de dados orientado por assunto, integrado, não volátil e variável com o tempo, que favorece a extração de relatórios e análises para apoiar as decisões gerenciais.</a:t>
            </a:r>
            <a:endParaRPr lang="en-US" sz="1250" dirty="0"/>
          </a:p>
        </p:txBody>
      </p:sp>
      <p:sp>
        <p:nvSpPr>
          <p:cNvPr id="10" name="Shape 8"/>
          <p:cNvSpPr/>
          <p:nvPr/>
        </p:nvSpPr>
        <p:spPr>
          <a:xfrm>
            <a:off x="6227064" y="2048256"/>
            <a:ext cx="5394960" cy="1325880"/>
          </a:xfrm>
          <a:prstGeom prst="roundRect">
            <a:avLst>
              <a:gd name="adj" fmla="val 4138"/>
            </a:avLst>
          </a:prstGeom>
          <a:solidFill>
            <a:srgbClr val="F0F1F2"/>
          </a:solidFill>
          <a:ln w="12700">
            <a:solidFill>
              <a:srgbClr val="F0F1F2"/>
            </a:solidFill>
            <a:prstDash val="solid"/>
          </a:ln>
        </p:spPr>
        <p:txBody>
          <a:bodyPr/>
          <a:lstStyle/>
          <a:p>
            <a:endParaRPr lang="pt-BR"/>
          </a:p>
        </p:txBody>
      </p:sp>
      <p:sp>
        <p:nvSpPr>
          <p:cNvPr id="11" name="Text 9"/>
          <p:cNvSpPr/>
          <p:nvPr/>
        </p:nvSpPr>
        <p:spPr>
          <a:xfrm>
            <a:off x="6428232" y="2194560"/>
            <a:ext cx="4992624" cy="292608"/>
          </a:xfrm>
          <a:prstGeom prst="rect">
            <a:avLst/>
          </a:prstGeom>
          <a:noFill/>
          <a:ln/>
        </p:spPr>
        <p:txBody>
          <a:bodyPr wrap="square" lIns="0" tIns="0" rIns="0" bIns="0" rtlCol="0" anchor="ctr"/>
          <a:lstStyle/>
          <a:p>
            <a:pPr marL="0" indent="0">
              <a:buNone/>
            </a:pPr>
            <a:r>
              <a:rPr lang="en-US" sz="1400" b="1" dirty="0">
                <a:solidFill>
                  <a:srgbClr val="23272A"/>
                </a:solidFill>
                <a:latin typeface="Calibri" pitchFamily="34" charset="0"/>
                <a:ea typeface="Calibri" pitchFamily="34" charset="-122"/>
                <a:cs typeface="Calibri" pitchFamily="34" charset="-120"/>
              </a:rPr>
              <a:t>Data Lake</a:t>
            </a:r>
            <a:endParaRPr lang="en-US" sz="1400" dirty="0"/>
          </a:p>
        </p:txBody>
      </p:sp>
      <p:sp>
        <p:nvSpPr>
          <p:cNvPr id="12" name="Text 10"/>
          <p:cNvSpPr/>
          <p:nvPr/>
        </p:nvSpPr>
        <p:spPr>
          <a:xfrm>
            <a:off x="6428232" y="2542032"/>
            <a:ext cx="4992624" cy="68580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Repositório único de dados brutos da empresa, que utiliza processamento e armazenamento distribuído devido ao grande volume de dados que comumente armazena.</a:t>
            </a:r>
            <a:endParaRPr lang="en-US" sz="1250" dirty="0"/>
          </a:p>
        </p:txBody>
      </p:sp>
      <p:sp>
        <p:nvSpPr>
          <p:cNvPr id="13" name="Text 11"/>
          <p:cNvSpPr/>
          <p:nvPr/>
        </p:nvSpPr>
        <p:spPr>
          <a:xfrm>
            <a:off x="566928" y="357530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Como cada um trata os dados</a:t>
            </a:r>
            <a:endParaRPr lang="en-US" sz="1300" dirty="0"/>
          </a:p>
        </p:txBody>
      </p:sp>
      <p:sp>
        <p:nvSpPr>
          <p:cNvPr id="14" name="Shape 12"/>
          <p:cNvSpPr/>
          <p:nvPr/>
        </p:nvSpPr>
        <p:spPr>
          <a:xfrm>
            <a:off x="566928" y="3941064"/>
            <a:ext cx="11055096" cy="402336"/>
          </a:xfrm>
          <a:prstGeom prst="roundRect">
            <a:avLst>
              <a:gd name="adj" fmla="val 13636"/>
            </a:avLst>
          </a:prstGeom>
          <a:solidFill>
            <a:srgbClr val="23272A"/>
          </a:solidFill>
          <a:ln/>
        </p:spPr>
        <p:txBody>
          <a:bodyPr/>
          <a:lstStyle/>
          <a:p>
            <a:endParaRPr lang="pt-BR"/>
          </a:p>
        </p:txBody>
      </p:sp>
      <p:sp>
        <p:nvSpPr>
          <p:cNvPr id="15" name="Text 13"/>
          <p:cNvSpPr/>
          <p:nvPr/>
        </p:nvSpPr>
        <p:spPr>
          <a:xfrm>
            <a:off x="768096" y="3941064"/>
            <a:ext cx="2505456"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Critério</a:t>
            </a:r>
            <a:endParaRPr lang="en-US" sz="1200" dirty="0"/>
          </a:p>
        </p:txBody>
      </p:sp>
      <p:sp>
        <p:nvSpPr>
          <p:cNvPr id="16" name="Text 14"/>
          <p:cNvSpPr/>
          <p:nvPr/>
        </p:nvSpPr>
        <p:spPr>
          <a:xfrm>
            <a:off x="3419856" y="3941064"/>
            <a:ext cx="4059936"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Banco relacional e Data Warehouse</a:t>
            </a:r>
            <a:endParaRPr lang="en-US" sz="1200" dirty="0"/>
          </a:p>
        </p:txBody>
      </p:sp>
      <p:sp>
        <p:nvSpPr>
          <p:cNvPr id="17" name="Text 15"/>
          <p:cNvSpPr/>
          <p:nvPr/>
        </p:nvSpPr>
        <p:spPr>
          <a:xfrm>
            <a:off x="7626096" y="3941064"/>
            <a:ext cx="4050792"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Data Lake</a:t>
            </a:r>
            <a:endParaRPr lang="en-US" sz="1200" dirty="0"/>
          </a:p>
        </p:txBody>
      </p:sp>
      <p:sp>
        <p:nvSpPr>
          <p:cNvPr id="18" name="Shape 16"/>
          <p:cNvSpPr/>
          <p:nvPr/>
        </p:nvSpPr>
        <p:spPr>
          <a:xfrm>
            <a:off x="566928" y="4398264"/>
            <a:ext cx="11055096" cy="548640"/>
          </a:xfrm>
          <a:prstGeom prst="roundRect">
            <a:avLst>
              <a:gd name="adj" fmla="val 10000"/>
            </a:avLst>
          </a:prstGeom>
          <a:solidFill>
            <a:srgbClr val="F0F1F2"/>
          </a:solidFill>
          <a:ln/>
        </p:spPr>
        <p:txBody>
          <a:bodyPr/>
          <a:lstStyle/>
          <a:p>
            <a:endParaRPr lang="pt-BR"/>
          </a:p>
        </p:txBody>
      </p:sp>
      <p:sp>
        <p:nvSpPr>
          <p:cNvPr id="19" name="Text 17"/>
          <p:cNvSpPr/>
          <p:nvPr/>
        </p:nvSpPr>
        <p:spPr>
          <a:xfrm>
            <a:off x="768096" y="4398264"/>
            <a:ext cx="2505456" cy="548640"/>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Momento da organização</a:t>
            </a:r>
            <a:endParaRPr lang="en-US" sz="1250" dirty="0"/>
          </a:p>
        </p:txBody>
      </p:sp>
      <p:sp>
        <p:nvSpPr>
          <p:cNvPr id="20" name="Text 18"/>
          <p:cNvSpPr/>
          <p:nvPr/>
        </p:nvSpPr>
        <p:spPr>
          <a:xfrm>
            <a:off x="3419856" y="4398264"/>
            <a:ext cx="4059936"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Os dados são limpos e organizados em um único esquema antes do armazenamento.</a:t>
            </a:r>
            <a:endParaRPr lang="en-US" sz="1200" dirty="0"/>
          </a:p>
        </p:txBody>
      </p:sp>
      <p:sp>
        <p:nvSpPr>
          <p:cNvPr id="21" name="Text 19"/>
          <p:cNvSpPr/>
          <p:nvPr/>
        </p:nvSpPr>
        <p:spPr>
          <a:xfrm>
            <a:off x="7626096" y="4398264"/>
            <a:ext cx="4050792"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Os dados são armazenados em seu formato bruto, como chegam da origem.</a:t>
            </a:r>
            <a:endParaRPr lang="en-US" sz="1200" dirty="0"/>
          </a:p>
        </p:txBody>
      </p:sp>
      <p:sp>
        <p:nvSpPr>
          <p:cNvPr id="22" name="Shape 20"/>
          <p:cNvSpPr/>
          <p:nvPr/>
        </p:nvSpPr>
        <p:spPr>
          <a:xfrm>
            <a:off x="566928" y="5020056"/>
            <a:ext cx="11055096" cy="548640"/>
          </a:xfrm>
          <a:prstGeom prst="roundRect">
            <a:avLst>
              <a:gd name="adj" fmla="val 10000"/>
            </a:avLst>
          </a:prstGeom>
          <a:solidFill>
            <a:srgbClr val="F7F8F8"/>
          </a:solidFill>
          <a:ln/>
        </p:spPr>
        <p:txBody>
          <a:bodyPr/>
          <a:lstStyle/>
          <a:p>
            <a:endParaRPr lang="pt-BR"/>
          </a:p>
        </p:txBody>
      </p:sp>
      <p:sp>
        <p:nvSpPr>
          <p:cNvPr id="23" name="Text 21"/>
          <p:cNvSpPr/>
          <p:nvPr/>
        </p:nvSpPr>
        <p:spPr>
          <a:xfrm>
            <a:off x="768096" y="5020056"/>
            <a:ext cx="2505456" cy="548640"/>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Momento da seleção</a:t>
            </a:r>
            <a:endParaRPr lang="en-US" sz="1250" dirty="0"/>
          </a:p>
        </p:txBody>
      </p:sp>
      <p:sp>
        <p:nvSpPr>
          <p:cNvPr id="24" name="Text 22"/>
          <p:cNvSpPr/>
          <p:nvPr/>
        </p:nvSpPr>
        <p:spPr>
          <a:xfrm>
            <a:off x="3419856" y="5020056"/>
            <a:ext cx="4059936"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O esquema já define o que está disponível para consulta.</a:t>
            </a:r>
            <a:endParaRPr lang="en-US" sz="1200" dirty="0"/>
          </a:p>
        </p:txBody>
      </p:sp>
      <p:sp>
        <p:nvSpPr>
          <p:cNvPr id="25" name="Text 23"/>
          <p:cNvSpPr/>
          <p:nvPr/>
        </p:nvSpPr>
        <p:spPr>
          <a:xfrm>
            <a:off x="7626096" y="5020056"/>
            <a:ext cx="4050792"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A seleção e a organização ocorrem depois, de acordo com a necessidade de cada análise.</a:t>
            </a:r>
            <a:endParaRPr lang="en-US" sz="1200" dirty="0"/>
          </a:p>
        </p:txBody>
      </p:sp>
      <p:sp>
        <p:nvSpPr>
          <p:cNvPr id="26" name="Shape 24"/>
          <p:cNvSpPr/>
          <p:nvPr/>
        </p:nvSpPr>
        <p:spPr>
          <a:xfrm>
            <a:off x="566928" y="5641848"/>
            <a:ext cx="11055096" cy="548640"/>
          </a:xfrm>
          <a:prstGeom prst="roundRect">
            <a:avLst>
              <a:gd name="adj" fmla="val 10000"/>
            </a:avLst>
          </a:prstGeom>
          <a:solidFill>
            <a:srgbClr val="F0F1F2"/>
          </a:solidFill>
          <a:ln/>
        </p:spPr>
        <p:txBody>
          <a:bodyPr/>
          <a:lstStyle/>
          <a:p>
            <a:endParaRPr lang="pt-BR"/>
          </a:p>
        </p:txBody>
      </p:sp>
      <p:sp>
        <p:nvSpPr>
          <p:cNvPr id="27" name="Text 25"/>
          <p:cNvSpPr/>
          <p:nvPr/>
        </p:nvSpPr>
        <p:spPr>
          <a:xfrm>
            <a:off x="768096" y="5641848"/>
            <a:ext cx="2505456" cy="548640"/>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Forma de análise</a:t>
            </a:r>
            <a:endParaRPr lang="en-US" sz="1250" dirty="0"/>
          </a:p>
        </p:txBody>
      </p:sp>
      <p:sp>
        <p:nvSpPr>
          <p:cNvPr id="28" name="Text 26"/>
          <p:cNvSpPr/>
          <p:nvPr/>
        </p:nvSpPr>
        <p:spPr>
          <a:xfrm>
            <a:off x="3419856" y="5641848"/>
            <a:ext cx="4059936"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Consulta direta ao banco relacional ou ao Data Warehouse.</a:t>
            </a:r>
            <a:endParaRPr lang="en-US" sz="1200" dirty="0"/>
          </a:p>
        </p:txBody>
      </p:sp>
      <p:sp>
        <p:nvSpPr>
          <p:cNvPr id="29" name="Text 27"/>
          <p:cNvSpPr/>
          <p:nvPr/>
        </p:nvSpPr>
        <p:spPr>
          <a:xfrm>
            <a:off x="7626096" y="5641848"/>
            <a:ext cx="4050792" cy="548640"/>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Preparação sob demanda antes de cada uso analítico.</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3272A"/>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4</a:t>
            </a:r>
            <a:endParaRPr lang="en-US" sz="1050" dirty="0"/>
          </a:p>
        </p:txBody>
      </p:sp>
      <p:sp>
        <p:nvSpPr>
          <p:cNvPr id="3" name="Shape 1"/>
          <p:cNvSpPr/>
          <p:nvPr/>
        </p:nvSpPr>
        <p:spPr>
          <a:xfrm>
            <a:off x="566928" y="2706624"/>
            <a:ext cx="2011680" cy="27432"/>
          </a:xfrm>
          <a:prstGeom prst="rect">
            <a:avLst/>
          </a:prstGeom>
          <a:solidFill>
            <a:srgbClr val="8A7B66"/>
          </a:solidFill>
          <a:ln w="12700">
            <a:solidFill>
              <a:srgbClr val="8A7B66"/>
            </a:solidFill>
            <a:prstDash val="solid"/>
          </a:ln>
        </p:spPr>
        <p:txBody>
          <a:bodyPr/>
          <a:lstStyle/>
          <a:p>
            <a:endParaRPr lang="pt-BR"/>
          </a:p>
        </p:txBody>
      </p:sp>
      <p:sp>
        <p:nvSpPr>
          <p:cNvPr id="4" name="Text 2"/>
          <p:cNvSpPr/>
          <p:nvPr/>
        </p:nvSpPr>
        <p:spPr>
          <a:xfrm>
            <a:off x="566928" y="2926080"/>
            <a:ext cx="100584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Tipos de problemas e aprendizado</a:t>
            </a:r>
            <a:endParaRPr lang="en-US" sz="4000" dirty="0"/>
          </a:p>
        </p:txBody>
      </p:sp>
      <p:sp>
        <p:nvSpPr>
          <p:cNvPr id="5" name="Text 3"/>
          <p:cNvSpPr/>
          <p:nvPr/>
        </p:nvSpPr>
        <p:spPr>
          <a:xfrm>
            <a:off x="566928" y="3749040"/>
            <a:ext cx="7863840" cy="822960"/>
          </a:xfrm>
          <a:prstGeom prst="rect">
            <a:avLst/>
          </a:prstGeom>
          <a:noFill/>
          <a:ln/>
        </p:spPr>
        <p:txBody>
          <a:bodyPr wrap="square" lIns="0" tIns="0" rIns="0" bIns="0" rtlCol="0" anchor="t"/>
          <a:lstStyle/>
          <a:p>
            <a:pPr marL="0" indent="0">
              <a:lnSpc>
                <a:spcPct val="110000"/>
              </a:lnSpc>
              <a:buNone/>
            </a:pPr>
            <a:r>
              <a:rPr lang="en-US" sz="1350" dirty="0">
                <a:solidFill>
                  <a:srgbClr val="C6CACD"/>
                </a:solidFill>
                <a:latin typeface="Calibri" pitchFamily="34" charset="0"/>
                <a:ea typeface="Calibri" pitchFamily="34" charset="-122"/>
                <a:cs typeface="Calibri" pitchFamily="34" charset="-120"/>
              </a:rPr>
              <a:t>As quatro camadas de análise, a distinção entre aprendizado supervisionado e não supervisionado e as quatro famílias de problema: classificação, regressão, clusterização e associação.</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4 · 4.1</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Quatro tipos de análise</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A ciência de dados pode englobar análises descritivas, diagnósticas, preditivas ou prescritivas. Para as descritivas e diagnósticas geralmente se utilizam técnicas de Business Intelligence; para a preditiva, técnicas de Machine Learning.</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22</a:t>
            </a:r>
            <a:endParaRPr lang="en-US" sz="900" dirty="0"/>
          </a:p>
        </p:txBody>
      </p:sp>
      <p:sp>
        <p:nvSpPr>
          <p:cNvPr id="7" name="Shape 5"/>
          <p:cNvSpPr/>
          <p:nvPr/>
        </p:nvSpPr>
        <p:spPr>
          <a:xfrm>
            <a:off x="566928" y="2011680"/>
            <a:ext cx="11055096" cy="420624"/>
          </a:xfrm>
          <a:prstGeom prst="roundRect">
            <a:avLst>
              <a:gd name="adj" fmla="val 13043"/>
            </a:avLst>
          </a:prstGeom>
          <a:solidFill>
            <a:srgbClr val="23272A"/>
          </a:solidFill>
          <a:ln/>
        </p:spPr>
        <p:txBody>
          <a:bodyPr/>
          <a:lstStyle/>
          <a:p>
            <a:endParaRPr lang="pt-BR"/>
          </a:p>
        </p:txBody>
      </p:sp>
      <p:sp>
        <p:nvSpPr>
          <p:cNvPr id="8" name="Text 6"/>
          <p:cNvSpPr/>
          <p:nvPr/>
        </p:nvSpPr>
        <p:spPr>
          <a:xfrm>
            <a:off x="768096" y="2011680"/>
            <a:ext cx="2231136" cy="420624"/>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Tipo de análise</a:t>
            </a:r>
            <a:endParaRPr lang="en-US" sz="1200" dirty="0"/>
          </a:p>
        </p:txBody>
      </p:sp>
      <p:sp>
        <p:nvSpPr>
          <p:cNvPr id="9" name="Text 7"/>
          <p:cNvSpPr/>
          <p:nvPr/>
        </p:nvSpPr>
        <p:spPr>
          <a:xfrm>
            <a:off x="3145536" y="2011680"/>
            <a:ext cx="2962656" cy="420624"/>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Pergunta que responde</a:t>
            </a:r>
            <a:endParaRPr lang="en-US" sz="1200" dirty="0"/>
          </a:p>
        </p:txBody>
      </p:sp>
      <p:sp>
        <p:nvSpPr>
          <p:cNvPr id="10" name="Text 8"/>
          <p:cNvSpPr/>
          <p:nvPr/>
        </p:nvSpPr>
        <p:spPr>
          <a:xfrm>
            <a:off x="6254496" y="2011680"/>
            <a:ext cx="2688336" cy="420624"/>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Técnica usual</a:t>
            </a:r>
            <a:endParaRPr lang="en-US" sz="1200" dirty="0"/>
          </a:p>
        </p:txBody>
      </p:sp>
      <p:sp>
        <p:nvSpPr>
          <p:cNvPr id="11" name="Text 9"/>
          <p:cNvSpPr/>
          <p:nvPr/>
        </p:nvSpPr>
        <p:spPr>
          <a:xfrm>
            <a:off x="9089136" y="2011680"/>
            <a:ext cx="2587752" cy="420624"/>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Escopo</a:t>
            </a:r>
            <a:endParaRPr lang="en-US" sz="1200" dirty="0"/>
          </a:p>
        </p:txBody>
      </p:sp>
      <p:sp>
        <p:nvSpPr>
          <p:cNvPr id="12" name="Shape 10"/>
          <p:cNvSpPr/>
          <p:nvPr/>
        </p:nvSpPr>
        <p:spPr>
          <a:xfrm>
            <a:off x="566928" y="2542032"/>
            <a:ext cx="11055096" cy="603504"/>
          </a:xfrm>
          <a:prstGeom prst="roundRect">
            <a:avLst>
              <a:gd name="adj" fmla="val 9091"/>
            </a:avLst>
          </a:prstGeom>
          <a:solidFill>
            <a:srgbClr val="F0F1F2"/>
          </a:solidFill>
          <a:ln/>
        </p:spPr>
        <p:txBody>
          <a:bodyPr/>
          <a:lstStyle/>
          <a:p>
            <a:endParaRPr lang="pt-BR"/>
          </a:p>
        </p:txBody>
      </p:sp>
      <p:sp>
        <p:nvSpPr>
          <p:cNvPr id="13" name="Text 11"/>
          <p:cNvSpPr/>
          <p:nvPr/>
        </p:nvSpPr>
        <p:spPr>
          <a:xfrm>
            <a:off x="768096" y="2542032"/>
            <a:ext cx="2231136" cy="603504"/>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Descritiva</a:t>
            </a:r>
            <a:endParaRPr lang="en-US" sz="1250" dirty="0"/>
          </a:p>
        </p:txBody>
      </p:sp>
      <p:sp>
        <p:nvSpPr>
          <p:cNvPr id="14" name="Text 12"/>
          <p:cNvSpPr/>
          <p:nvPr/>
        </p:nvSpPr>
        <p:spPr>
          <a:xfrm>
            <a:off x="3145536" y="2542032"/>
            <a:ext cx="2962656"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O que aconteceu?</a:t>
            </a:r>
            <a:endParaRPr lang="en-US" sz="1200" dirty="0"/>
          </a:p>
        </p:txBody>
      </p:sp>
      <p:sp>
        <p:nvSpPr>
          <p:cNvPr id="15" name="Text 13"/>
          <p:cNvSpPr/>
          <p:nvPr/>
        </p:nvSpPr>
        <p:spPr>
          <a:xfrm>
            <a:off x="6254496" y="2542032"/>
            <a:ext cx="2688336"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Business Intelligence</a:t>
            </a:r>
            <a:endParaRPr lang="en-US" sz="1200" dirty="0"/>
          </a:p>
        </p:txBody>
      </p:sp>
      <p:sp>
        <p:nvSpPr>
          <p:cNvPr id="16" name="Text 14"/>
          <p:cNvSpPr/>
          <p:nvPr/>
        </p:nvSpPr>
        <p:spPr>
          <a:xfrm>
            <a:off x="9089136" y="2542032"/>
            <a:ext cx="2587752"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BI tradicional</a:t>
            </a:r>
            <a:endParaRPr lang="en-US" sz="1200" dirty="0"/>
          </a:p>
        </p:txBody>
      </p:sp>
      <p:sp>
        <p:nvSpPr>
          <p:cNvPr id="17" name="Shape 15"/>
          <p:cNvSpPr/>
          <p:nvPr/>
        </p:nvSpPr>
        <p:spPr>
          <a:xfrm>
            <a:off x="566928" y="3218688"/>
            <a:ext cx="11055096" cy="603504"/>
          </a:xfrm>
          <a:prstGeom prst="roundRect">
            <a:avLst>
              <a:gd name="adj" fmla="val 9091"/>
            </a:avLst>
          </a:prstGeom>
          <a:solidFill>
            <a:srgbClr val="F7F8F8"/>
          </a:solidFill>
          <a:ln/>
        </p:spPr>
        <p:txBody>
          <a:bodyPr/>
          <a:lstStyle/>
          <a:p>
            <a:endParaRPr lang="pt-BR"/>
          </a:p>
        </p:txBody>
      </p:sp>
      <p:sp>
        <p:nvSpPr>
          <p:cNvPr id="18" name="Text 16"/>
          <p:cNvSpPr/>
          <p:nvPr/>
        </p:nvSpPr>
        <p:spPr>
          <a:xfrm>
            <a:off x="768096" y="3218688"/>
            <a:ext cx="2231136" cy="603504"/>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Diagnóstica</a:t>
            </a:r>
            <a:endParaRPr lang="en-US" sz="1250" dirty="0"/>
          </a:p>
        </p:txBody>
      </p:sp>
      <p:sp>
        <p:nvSpPr>
          <p:cNvPr id="19" name="Text 17"/>
          <p:cNvSpPr/>
          <p:nvPr/>
        </p:nvSpPr>
        <p:spPr>
          <a:xfrm>
            <a:off x="3145536" y="3218688"/>
            <a:ext cx="2962656"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Por que isso aconteceu?</a:t>
            </a:r>
            <a:endParaRPr lang="en-US" sz="1200" dirty="0"/>
          </a:p>
        </p:txBody>
      </p:sp>
      <p:sp>
        <p:nvSpPr>
          <p:cNvPr id="20" name="Text 18"/>
          <p:cNvSpPr/>
          <p:nvPr/>
        </p:nvSpPr>
        <p:spPr>
          <a:xfrm>
            <a:off x="6254496" y="3218688"/>
            <a:ext cx="2688336"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Business Intelligence</a:t>
            </a:r>
            <a:endParaRPr lang="en-US" sz="1200" dirty="0"/>
          </a:p>
        </p:txBody>
      </p:sp>
      <p:sp>
        <p:nvSpPr>
          <p:cNvPr id="21" name="Text 19"/>
          <p:cNvSpPr/>
          <p:nvPr/>
        </p:nvSpPr>
        <p:spPr>
          <a:xfrm>
            <a:off x="9089136" y="3218688"/>
            <a:ext cx="2587752"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BI tradicional</a:t>
            </a:r>
            <a:endParaRPr lang="en-US" sz="1200" dirty="0"/>
          </a:p>
        </p:txBody>
      </p:sp>
      <p:sp>
        <p:nvSpPr>
          <p:cNvPr id="22" name="Shape 20"/>
          <p:cNvSpPr/>
          <p:nvPr/>
        </p:nvSpPr>
        <p:spPr>
          <a:xfrm>
            <a:off x="566928" y="3895344"/>
            <a:ext cx="11055096" cy="603504"/>
          </a:xfrm>
          <a:prstGeom prst="roundRect">
            <a:avLst>
              <a:gd name="adj" fmla="val 9091"/>
            </a:avLst>
          </a:prstGeom>
          <a:solidFill>
            <a:srgbClr val="F0F1F2"/>
          </a:solidFill>
          <a:ln/>
        </p:spPr>
        <p:txBody>
          <a:bodyPr/>
          <a:lstStyle/>
          <a:p>
            <a:endParaRPr lang="pt-BR"/>
          </a:p>
        </p:txBody>
      </p:sp>
      <p:sp>
        <p:nvSpPr>
          <p:cNvPr id="23" name="Text 21"/>
          <p:cNvSpPr/>
          <p:nvPr/>
        </p:nvSpPr>
        <p:spPr>
          <a:xfrm>
            <a:off x="768096" y="3895344"/>
            <a:ext cx="2231136" cy="603504"/>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Preditiva</a:t>
            </a:r>
            <a:endParaRPr lang="en-US" sz="1250" dirty="0"/>
          </a:p>
        </p:txBody>
      </p:sp>
      <p:sp>
        <p:nvSpPr>
          <p:cNvPr id="24" name="Text 22"/>
          <p:cNvSpPr/>
          <p:nvPr/>
        </p:nvSpPr>
        <p:spPr>
          <a:xfrm>
            <a:off x="3145536" y="3895344"/>
            <a:ext cx="2962656"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O que acontecerá?</a:t>
            </a:r>
            <a:endParaRPr lang="en-US" sz="1200" dirty="0"/>
          </a:p>
        </p:txBody>
      </p:sp>
      <p:sp>
        <p:nvSpPr>
          <p:cNvPr id="25" name="Text 23"/>
          <p:cNvSpPr/>
          <p:nvPr/>
        </p:nvSpPr>
        <p:spPr>
          <a:xfrm>
            <a:off x="6254496" y="3895344"/>
            <a:ext cx="2688336"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Machine Learning</a:t>
            </a:r>
            <a:endParaRPr lang="en-US" sz="1200" dirty="0"/>
          </a:p>
        </p:txBody>
      </p:sp>
      <p:sp>
        <p:nvSpPr>
          <p:cNvPr id="26" name="Text 24"/>
          <p:cNvSpPr/>
          <p:nvPr/>
        </p:nvSpPr>
        <p:spPr>
          <a:xfrm>
            <a:off x="9089136" y="3895344"/>
            <a:ext cx="2587752"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Ciência de dados</a:t>
            </a:r>
            <a:endParaRPr lang="en-US" sz="1200" dirty="0"/>
          </a:p>
        </p:txBody>
      </p:sp>
      <p:sp>
        <p:nvSpPr>
          <p:cNvPr id="27" name="Shape 25"/>
          <p:cNvSpPr/>
          <p:nvPr/>
        </p:nvSpPr>
        <p:spPr>
          <a:xfrm>
            <a:off x="566928" y="4572000"/>
            <a:ext cx="11055096" cy="603504"/>
          </a:xfrm>
          <a:prstGeom prst="roundRect">
            <a:avLst>
              <a:gd name="adj" fmla="val 9091"/>
            </a:avLst>
          </a:prstGeom>
          <a:solidFill>
            <a:srgbClr val="F7F8F8"/>
          </a:solidFill>
          <a:ln/>
        </p:spPr>
        <p:txBody>
          <a:bodyPr/>
          <a:lstStyle/>
          <a:p>
            <a:endParaRPr lang="pt-BR"/>
          </a:p>
        </p:txBody>
      </p:sp>
      <p:sp>
        <p:nvSpPr>
          <p:cNvPr id="28" name="Text 26"/>
          <p:cNvSpPr/>
          <p:nvPr/>
        </p:nvSpPr>
        <p:spPr>
          <a:xfrm>
            <a:off x="768096" y="4572000"/>
            <a:ext cx="2231136" cy="603504"/>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Prescritiva</a:t>
            </a:r>
            <a:endParaRPr lang="en-US" sz="1250" dirty="0"/>
          </a:p>
        </p:txBody>
      </p:sp>
      <p:sp>
        <p:nvSpPr>
          <p:cNvPr id="29" name="Text 27"/>
          <p:cNvSpPr/>
          <p:nvPr/>
        </p:nvSpPr>
        <p:spPr>
          <a:xfrm>
            <a:off x="3145536" y="4572000"/>
            <a:ext cx="2962656"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O que deve ser feito?</a:t>
            </a:r>
            <a:endParaRPr lang="en-US" sz="1200" dirty="0"/>
          </a:p>
        </p:txBody>
      </p:sp>
      <p:sp>
        <p:nvSpPr>
          <p:cNvPr id="30" name="Text 28"/>
          <p:cNvSpPr/>
          <p:nvPr/>
        </p:nvSpPr>
        <p:spPr>
          <a:xfrm>
            <a:off x="6254496" y="4572000"/>
            <a:ext cx="2688336"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Modelos combinados a objetivos e restrições</a:t>
            </a:r>
            <a:endParaRPr lang="en-US" sz="1200" dirty="0"/>
          </a:p>
        </p:txBody>
      </p:sp>
      <p:sp>
        <p:nvSpPr>
          <p:cNvPr id="31" name="Text 29"/>
          <p:cNvSpPr/>
          <p:nvPr/>
        </p:nvSpPr>
        <p:spPr>
          <a:xfrm>
            <a:off x="9089136" y="4572000"/>
            <a:ext cx="2587752" cy="60350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Ciência de dados</a:t>
            </a:r>
            <a:endParaRPr lang="en-US" sz="1200" dirty="0"/>
          </a:p>
        </p:txBody>
      </p:sp>
      <p:sp>
        <p:nvSpPr>
          <p:cNvPr id="32" name="Shape 30"/>
          <p:cNvSpPr/>
          <p:nvPr/>
        </p:nvSpPr>
        <p:spPr>
          <a:xfrm>
            <a:off x="566928" y="5285232"/>
            <a:ext cx="5394960" cy="932688"/>
          </a:xfrm>
          <a:prstGeom prst="roundRect">
            <a:avLst>
              <a:gd name="adj" fmla="val 5882"/>
            </a:avLst>
          </a:prstGeom>
          <a:solidFill>
            <a:srgbClr val="F0F1F2"/>
          </a:solidFill>
          <a:ln w="12700">
            <a:solidFill>
              <a:srgbClr val="F0F1F2"/>
            </a:solidFill>
            <a:prstDash val="solid"/>
          </a:ln>
        </p:spPr>
        <p:txBody>
          <a:bodyPr/>
          <a:lstStyle/>
          <a:p>
            <a:endParaRPr lang="pt-BR"/>
          </a:p>
        </p:txBody>
      </p:sp>
      <p:sp>
        <p:nvSpPr>
          <p:cNvPr id="33" name="Text 31"/>
          <p:cNvSpPr/>
          <p:nvPr/>
        </p:nvSpPr>
        <p:spPr>
          <a:xfrm>
            <a:off x="768096" y="5431536"/>
            <a:ext cx="4992624" cy="29260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Complexidade crescente</a:t>
            </a:r>
            <a:endParaRPr lang="en-US" sz="1300" dirty="0"/>
          </a:p>
        </p:txBody>
      </p:sp>
      <p:sp>
        <p:nvSpPr>
          <p:cNvPr id="34" name="Text 32"/>
          <p:cNvSpPr/>
          <p:nvPr/>
        </p:nvSpPr>
        <p:spPr>
          <a:xfrm>
            <a:off x="768096" y="5779008"/>
            <a:ext cx="4992624" cy="292608"/>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Cada camada exige a anterior: não se prevê bem o que não se descreveu corretamente.</a:t>
            </a:r>
            <a:endParaRPr lang="en-US" sz="1200" dirty="0"/>
          </a:p>
        </p:txBody>
      </p:sp>
      <p:sp>
        <p:nvSpPr>
          <p:cNvPr id="35" name="Shape 33"/>
          <p:cNvSpPr/>
          <p:nvPr/>
        </p:nvSpPr>
        <p:spPr>
          <a:xfrm>
            <a:off x="6227064" y="5285232"/>
            <a:ext cx="5394960" cy="932688"/>
          </a:xfrm>
          <a:prstGeom prst="roundRect">
            <a:avLst>
              <a:gd name="adj" fmla="val 5882"/>
            </a:avLst>
          </a:prstGeom>
          <a:solidFill>
            <a:srgbClr val="23272A"/>
          </a:solidFill>
          <a:ln w="12700">
            <a:solidFill>
              <a:srgbClr val="23272A"/>
            </a:solidFill>
            <a:prstDash val="solid"/>
          </a:ln>
        </p:spPr>
        <p:txBody>
          <a:bodyPr/>
          <a:lstStyle/>
          <a:p>
            <a:endParaRPr lang="pt-BR"/>
          </a:p>
        </p:txBody>
      </p:sp>
      <p:sp>
        <p:nvSpPr>
          <p:cNvPr id="36" name="Text 34"/>
          <p:cNvSpPr/>
          <p:nvPr/>
        </p:nvSpPr>
        <p:spPr>
          <a:xfrm>
            <a:off x="6428232" y="5431536"/>
            <a:ext cx="4992624"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Valor crescente</a:t>
            </a:r>
            <a:endParaRPr lang="en-US" sz="1300" dirty="0"/>
          </a:p>
        </p:txBody>
      </p:sp>
      <p:sp>
        <p:nvSpPr>
          <p:cNvPr id="37" name="Text 35"/>
          <p:cNvSpPr/>
          <p:nvPr/>
        </p:nvSpPr>
        <p:spPr>
          <a:xfrm>
            <a:off x="6428232" y="5779008"/>
            <a:ext cx="4992624" cy="292608"/>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Quanto mais a análise se aproxima da ação, maior o valor gerado — e maior a exigência de conhecimento do domínio.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4 · 4.2</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Aprendizado supervisionado e não supervisionado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Em Machine Learning, o aprendizado por meio dos dados é o objetivo principal. Aprendizado é a capacidade de se adaptar, modificar e melhorar o comportamento e as respostas — uma das propriedades mais importantes dos seres inteligentes, humanos ou não.</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23</a:t>
            </a:r>
            <a:endParaRPr lang="en-US" sz="900" dirty="0"/>
          </a:p>
        </p:txBody>
      </p:sp>
      <p:sp>
        <p:nvSpPr>
          <p:cNvPr id="7" name="Shape 5"/>
          <p:cNvSpPr/>
          <p:nvPr/>
        </p:nvSpPr>
        <p:spPr>
          <a:xfrm>
            <a:off x="566928" y="2103120"/>
            <a:ext cx="5394960" cy="1463040"/>
          </a:xfrm>
          <a:prstGeom prst="roundRect">
            <a:avLst>
              <a:gd name="adj" fmla="val 3750"/>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249424"/>
            <a:ext cx="4992624"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Supervisionado</a:t>
            </a:r>
            <a:endParaRPr lang="en-US" sz="1400" dirty="0"/>
          </a:p>
        </p:txBody>
      </p:sp>
      <p:sp>
        <p:nvSpPr>
          <p:cNvPr id="9" name="Text 7"/>
          <p:cNvSpPr/>
          <p:nvPr/>
        </p:nvSpPr>
        <p:spPr>
          <a:xfrm>
            <a:off x="768096" y="2596896"/>
            <a:ext cx="4992624" cy="82296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O modelo é construído a partir de dados apresentados ao algoritmo na forma de pares ordenados: entrada e saída desejada. Os dados são rotulados, pois se sabe de antemão a saída esperada para cada entrada.</a:t>
            </a:r>
            <a:endParaRPr lang="en-US" sz="1250" dirty="0"/>
          </a:p>
        </p:txBody>
      </p:sp>
      <p:sp>
        <p:nvSpPr>
          <p:cNvPr id="10" name="Shape 8"/>
          <p:cNvSpPr/>
          <p:nvPr/>
        </p:nvSpPr>
        <p:spPr>
          <a:xfrm>
            <a:off x="6227064" y="2103120"/>
            <a:ext cx="5394960" cy="1463040"/>
          </a:xfrm>
          <a:prstGeom prst="roundRect">
            <a:avLst>
              <a:gd name="adj" fmla="val 3750"/>
            </a:avLst>
          </a:prstGeom>
          <a:solidFill>
            <a:srgbClr val="F0F1F2"/>
          </a:solidFill>
          <a:ln w="12700">
            <a:solidFill>
              <a:srgbClr val="F0F1F2"/>
            </a:solidFill>
            <a:prstDash val="solid"/>
          </a:ln>
        </p:spPr>
        <p:txBody>
          <a:bodyPr/>
          <a:lstStyle/>
          <a:p>
            <a:endParaRPr lang="pt-BR"/>
          </a:p>
        </p:txBody>
      </p:sp>
      <p:sp>
        <p:nvSpPr>
          <p:cNvPr id="11" name="Text 9"/>
          <p:cNvSpPr/>
          <p:nvPr/>
        </p:nvSpPr>
        <p:spPr>
          <a:xfrm>
            <a:off x="6428232" y="2249424"/>
            <a:ext cx="4992624" cy="292608"/>
          </a:xfrm>
          <a:prstGeom prst="rect">
            <a:avLst/>
          </a:prstGeom>
          <a:noFill/>
          <a:ln/>
        </p:spPr>
        <p:txBody>
          <a:bodyPr wrap="square" lIns="0" tIns="0" rIns="0" bIns="0" rtlCol="0" anchor="ctr"/>
          <a:lstStyle/>
          <a:p>
            <a:pPr marL="0" indent="0">
              <a:buNone/>
            </a:pPr>
            <a:r>
              <a:rPr lang="en-US" sz="1400" b="1" dirty="0">
                <a:solidFill>
                  <a:srgbClr val="23272A"/>
                </a:solidFill>
                <a:latin typeface="Calibri" pitchFamily="34" charset="0"/>
                <a:ea typeface="Calibri" pitchFamily="34" charset="-122"/>
                <a:cs typeface="Calibri" pitchFamily="34" charset="-120"/>
              </a:rPr>
              <a:t>Não supervisionado</a:t>
            </a:r>
            <a:endParaRPr lang="en-US" sz="1400" dirty="0"/>
          </a:p>
        </p:txBody>
      </p:sp>
      <p:sp>
        <p:nvSpPr>
          <p:cNvPr id="12" name="Text 10"/>
          <p:cNvSpPr/>
          <p:nvPr/>
        </p:nvSpPr>
        <p:spPr>
          <a:xfrm>
            <a:off x="6428232" y="2596896"/>
            <a:ext cx="4992624" cy="82296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Não existe a informação dos rótulos históricos: não há saídas desejadas a estimar. O algoritmo deve descobrir por si só, explorando os dados, os possíveis relacionamentos entre eles.</a:t>
            </a:r>
            <a:endParaRPr lang="en-US" sz="1250" dirty="0"/>
          </a:p>
        </p:txBody>
      </p:sp>
      <p:sp>
        <p:nvSpPr>
          <p:cNvPr id="13" name="Text 11"/>
          <p:cNvSpPr/>
          <p:nvPr/>
        </p:nvSpPr>
        <p:spPr>
          <a:xfrm>
            <a:off x="566928" y="3767328"/>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Diferenças operacionais</a:t>
            </a:r>
            <a:endParaRPr lang="en-US" sz="1300" dirty="0"/>
          </a:p>
        </p:txBody>
      </p:sp>
      <p:sp>
        <p:nvSpPr>
          <p:cNvPr id="14" name="Shape 12"/>
          <p:cNvSpPr/>
          <p:nvPr/>
        </p:nvSpPr>
        <p:spPr>
          <a:xfrm>
            <a:off x="566928" y="4133088"/>
            <a:ext cx="11055096" cy="402336"/>
          </a:xfrm>
          <a:prstGeom prst="roundRect">
            <a:avLst>
              <a:gd name="adj" fmla="val 13636"/>
            </a:avLst>
          </a:prstGeom>
          <a:solidFill>
            <a:srgbClr val="23272A"/>
          </a:solidFill>
          <a:ln/>
        </p:spPr>
        <p:txBody>
          <a:bodyPr/>
          <a:lstStyle/>
          <a:p>
            <a:endParaRPr lang="pt-BR"/>
          </a:p>
        </p:txBody>
      </p:sp>
      <p:sp>
        <p:nvSpPr>
          <p:cNvPr id="15" name="Text 13"/>
          <p:cNvSpPr/>
          <p:nvPr/>
        </p:nvSpPr>
        <p:spPr>
          <a:xfrm>
            <a:off x="768096" y="4133088"/>
            <a:ext cx="2596896"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Critério</a:t>
            </a:r>
            <a:endParaRPr lang="en-US" sz="1200" dirty="0"/>
          </a:p>
        </p:txBody>
      </p:sp>
      <p:sp>
        <p:nvSpPr>
          <p:cNvPr id="16" name="Text 14"/>
          <p:cNvSpPr/>
          <p:nvPr/>
        </p:nvSpPr>
        <p:spPr>
          <a:xfrm>
            <a:off x="3511296" y="4133088"/>
            <a:ext cx="3968496"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Supervisionado</a:t>
            </a:r>
            <a:endParaRPr lang="en-US" sz="1200" dirty="0"/>
          </a:p>
        </p:txBody>
      </p:sp>
      <p:sp>
        <p:nvSpPr>
          <p:cNvPr id="17" name="Text 15"/>
          <p:cNvSpPr/>
          <p:nvPr/>
        </p:nvSpPr>
        <p:spPr>
          <a:xfrm>
            <a:off x="7626096" y="4133088"/>
            <a:ext cx="4050792"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Não supervisionado</a:t>
            </a:r>
            <a:endParaRPr lang="en-US" sz="1200" dirty="0"/>
          </a:p>
        </p:txBody>
      </p:sp>
      <p:sp>
        <p:nvSpPr>
          <p:cNvPr id="18" name="Shape 16"/>
          <p:cNvSpPr/>
          <p:nvPr/>
        </p:nvSpPr>
        <p:spPr>
          <a:xfrm>
            <a:off x="566928" y="4590288"/>
            <a:ext cx="11055096" cy="512064"/>
          </a:xfrm>
          <a:prstGeom prst="roundRect">
            <a:avLst>
              <a:gd name="adj" fmla="val 10714"/>
            </a:avLst>
          </a:prstGeom>
          <a:solidFill>
            <a:srgbClr val="F0F1F2"/>
          </a:solidFill>
          <a:ln/>
        </p:spPr>
        <p:txBody>
          <a:bodyPr/>
          <a:lstStyle/>
          <a:p>
            <a:endParaRPr lang="pt-BR"/>
          </a:p>
        </p:txBody>
      </p:sp>
      <p:sp>
        <p:nvSpPr>
          <p:cNvPr id="19" name="Text 17"/>
          <p:cNvSpPr/>
          <p:nvPr/>
        </p:nvSpPr>
        <p:spPr>
          <a:xfrm>
            <a:off x="768096" y="4590288"/>
            <a:ext cx="2596896" cy="512064"/>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Dados</a:t>
            </a:r>
            <a:endParaRPr lang="en-US" sz="1250" dirty="0"/>
          </a:p>
        </p:txBody>
      </p:sp>
      <p:sp>
        <p:nvSpPr>
          <p:cNvPr id="20" name="Text 18"/>
          <p:cNvSpPr/>
          <p:nvPr/>
        </p:nvSpPr>
        <p:spPr>
          <a:xfrm>
            <a:off x="3511296" y="4590288"/>
            <a:ext cx="3968496"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Rotulados: cada entrada tem saída conhecida.</a:t>
            </a:r>
            <a:endParaRPr lang="en-US" sz="1200" dirty="0"/>
          </a:p>
        </p:txBody>
      </p:sp>
      <p:sp>
        <p:nvSpPr>
          <p:cNvPr id="21" name="Text 19"/>
          <p:cNvSpPr/>
          <p:nvPr/>
        </p:nvSpPr>
        <p:spPr>
          <a:xfrm>
            <a:off x="7626096" y="4590288"/>
            <a:ext cx="4050792"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Não rotulados: não há saída conhecida a estimar.</a:t>
            </a:r>
            <a:endParaRPr lang="en-US" sz="1200" dirty="0"/>
          </a:p>
        </p:txBody>
      </p:sp>
      <p:sp>
        <p:nvSpPr>
          <p:cNvPr id="22" name="Shape 20"/>
          <p:cNvSpPr/>
          <p:nvPr/>
        </p:nvSpPr>
        <p:spPr>
          <a:xfrm>
            <a:off x="566928" y="5175504"/>
            <a:ext cx="11055096" cy="512064"/>
          </a:xfrm>
          <a:prstGeom prst="roundRect">
            <a:avLst>
              <a:gd name="adj" fmla="val 10714"/>
            </a:avLst>
          </a:prstGeom>
          <a:solidFill>
            <a:srgbClr val="F7F8F8"/>
          </a:solidFill>
          <a:ln/>
        </p:spPr>
        <p:txBody>
          <a:bodyPr/>
          <a:lstStyle/>
          <a:p>
            <a:endParaRPr lang="pt-BR"/>
          </a:p>
        </p:txBody>
      </p:sp>
      <p:sp>
        <p:nvSpPr>
          <p:cNvPr id="23" name="Text 21"/>
          <p:cNvSpPr/>
          <p:nvPr/>
        </p:nvSpPr>
        <p:spPr>
          <a:xfrm>
            <a:off x="768096" y="5175504"/>
            <a:ext cx="2596896" cy="512064"/>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Objetivo</a:t>
            </a:r>
            <a:endParaRPr lang="en-US" sz="1250" dirty="0"/>
          </a:p>
        </p:txBody>
      </p:sp>
      <p:sp>
        <p:nvSpPr>
          <p:cNvPr id="24" name="Text 22"/>
          <p:cNvSpPr/>
          <p:nvPr/>
        </p:nvSpPr>
        <p:spPr>
          <a:xfrm>
            <a:off x="3511296" y="5175504"/>
            <a:ext cx="3968496"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Aprender uma regra geral que mapeie corretamente entradas em saídas.</a:t>
            </a:r>
            <a:endParaRPr lang="en-US" sz="1200" dirty="0"/>
          </a:p>
        </p:txBody>
      </p:sp>
      <p:sp>
        <p:nvSpPr>
          <p:cNvPr id="25" name="Text 23"/>
          <p:cNvSpPr/>
          <p:nvPr/>
        </p:nvSpPr>
        <p:spPr>
          <a:xfrm>
            <a:off x="7626096" y="5175504"/>
            <a:ext cx="4050792"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Identificar regularidades para agrupar ou organizar os dados por similaridade.</a:t>
            </a:r>
            <a:endParaRPr lang="en-US" sz="1200" dirty="0"/>
          </a:p>
        </p:txBody>
      </p:sp>
      <p:sp>
        <p:nvSpPr>
          <p:cNvPr id="26" name="Shape 24"/>
          <p:cNvSpPr/>
          <p:nvPr/>
        </p:nvSpPr>
        <p:spPr>
          <a:xfrm>
            <a:off x="566928" y="5760720"/>
            <a:ext cx="11055096" cy="512064"/>
          </a:xfrm>
          <a:prstGeom prst="roundRect">
            <a:avLst>
              <a:gd name="adj" fmla="val 10714"/>
            </a:avLst>
          </a:prstGeom>
          <a:solidFill>
            <a:srgbClr val="F0F1F2"/>
          </a:solidFill>
          <a:ln/>
        </p:spPr>
        <p:txBody>
          <a:bodyPr/>
          <a:lstStyle/>
          <a:p>
            <a:endParaRPr lang="pt-BR"/>
          </a:p>
        </p:txBody>
      </p:sp>
      <p:sp>
        <p:nvSpPr>
          <p:cNvPr id="27" name="Text 25"/>
          <p:cNvSpPr/>
          <p:nvPr/>
        </p:nvSpPr>
        <p:spPr>
          <a:xfrm>
            <a:off x="768096" y="5760720"/>
            <a:ext cx="2596896" cy="512064"/>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Partição treino/teste</a:t>
            </a:r>
            <a:endParaRPr lang="en-US" sz="1250" dirty="0"/>
          </a:p>
        </p:txBody>
      </p:sp>
      <p:sp>
        <p:nvSpPr>
          <p:cNvPr id="28" name="Text 26"/>
          <p:cNvSpPr/>
          <p:nvPr/>
        </p:nvSpPr>
        <p:spPr>
          <a:xfrm>
            <a:off x="3511296" y="5760720"/>
            <a:ext cx="3968496"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Necessária, para verificar o desempenho em dados não vistos.</a:t>
            </a:r>
            <a:endParaRPr lang="en-US" sz="1200" dirty="0"/>
          </a:p>
        </p:txBody>
      </p:sp>
      <p:sp>
        <p:nvSpPr>
          <p:cNvPr id="29" name="Text 27"/>
          <p:cNvSpPr/>
          <p:nvPr/>
        </p:nvSpPr>
        <p:spPr>
          <a:xfrm>
            <a:off x="7626096" y="5760720"/>
            <a:ext cx="4050792"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Não se aplica, por não haver rótulo contra o qual comparar.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4 · 4.3</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Aprendizado supervisionado em detalhe</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O aprendizado consiste em apresentar ao algoritmo um número suficiente de exemplos de entradas e saídas desejadas, já rotuladas previamente. O objetivo é aprender uma regra geral que mapeie as entradas nas saídas corretamente — regra que constitui o modelo final.</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24</a:t>
            </a:r>
            <a:endParaRPr lang="en-US" sz="900" dirty="0"/>
          </a:p>
        </p:txBody>
      </p:sp>
      <p:sp>
        <p:nvSpPr>
          <p:cNvPr id="7" name="Shape 5"/>
          <p:cNvSpPr/>
          <p:nvPr/>
        </p:nvSpPr>
        <p:spPr>
          <a:xfrm>
            <a:off x="566928" y="2048256"/>
            <a:ext cx="5394960" cy="1133856"/>
          </a:xfrm>
          <a:prstGeom prst="roundRect">
            <a:avLst>
              <a:gd name="adj" fmla="val 4839"/>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194560"/>
            <a:ext cx="4992624" cy="292608"/>
          </a:xfrm>
          <a:prstGeom prst="rect">
            <a:avLst/>
          </a:prstGeom>
          <a:noFill/>
          <a:ln/>
        </p:spPr>
        <p:txBody>
          <a:bodyPr wrap="square" lIns="0" tIns="0" rIns="0" bIns="0" rtlCol="0" anchor="ctr"/>
          <a:lstStyle/>
          <a:p>
            <a:pPr marL="0" indent="0">
              <a:buNone/>
            </a:pPr>
            <a:r>
              <a:rPr lang="en-US" sz="1350" b="1" dirty="0">
                <a:solidFill>
                  <a:srgbClr val="8A7B66"/>
                </a:solidFill>
                <a:latin typeface="Calibri" pitchFamily="34" charset="0"/>
                <a:ea typeface="Calibri" pitchFamily="34" charset="-122"/>
                <a:cs typeface="Calibri" pitchFamily="34" charset="-120"/>
              </a:rPr>
              <a:t>X — atributos previsores</a:t>
            </a:r>
            <a:endParaRPr lang="en-US" sz="1350" dirty="0"/>
          </a:p>
        </p:txBody>
      </p:sp>
      <p:sp>
        <p:nvSpPr>
          <p:cNvPr id="9" name="Text 7"/>
          <p:cNvSpPr/>
          <p:nvPr/>
        </p:nvSpPr>
        <p:spPr>
          <a:xfrm>
            <a:off x="768096" y="2542032"/>
            <a:ext cx="4992624" cy="493776"/>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Conjunto de atributos, também chamados de características ou atributos de predição, utilizados na determinação da saída.</a:t>
            </a:r>
            <a:endParaRPr lang="en-US" sz="1250" dirty="0"/>
          </a:p>
        </p:txBody>
      </p:sp>
      <p:sp>
        <p:nvSpPr>
          <p:cNvPr id="10" name="Shape 8"/>
          <p:cNvSpPr/>
          <p:nvPr/>
        </p:nvSpPr>
        <p:spPr>
          <a:xfrm>
            <a:off x="6227064" y="2048256"/>
            <a:ext cx="5394960" cy="1133856"/>
          </a:xfrm>
          <a:prstGeom prst="roundRect">
            <a:avLst>
              <a:gd name="adj" fmla="val 4839"/>
            </a:avLst>
          </a:prstGeom>
          <a:solidFill>
            <a:srgbClr val="F0F1F2"/>
          </a:solidFill>
          <a:ln w="12700">
            <a:solidFill>
              <a:srgbClr val="F0F1F2"/>
            </a:solidFill>
            <a:prstDash val="solid"/>
          </a:ln>
        </p:spPr>
        <p:txBody>
          <a:bodyPr/>
          <a:lstStyle/>
          <a:p>
            <a:endParaRPr lang="pt-BR"/>
          </a:p>
        </p:txBody>
      </p:sp>
      <p:sp>
        <p:nvSpPr>
          <p:cNvPr id="11" name="Text 9"/>
          <p:cNvSpPr/>
          <p:nvPr/>
        </p:nvSpPr>
        <p:spPr>
          <a:xfrm>
            <a:off x="6428232" y="2194560"/>
            <a:ext cx="499262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Y — atributo-alvo (target)</a:t>
            </a:r>
            <a:endParaRPr lang="en-US" sz="1350" dirty="0"/>
          </a:p>
        </p:txBody>
      </p:sp>
      <p:sp>
        <p:nvSpPr>
          <p:cNvPr id="12" name="Text 10"/>
          <p:cNvSpPr/>
          <p:nvPr/>
        </p:nvSpPr>
        <p:spPr>
          <a:xfrm>
            <a:off x="6428232" y="2542032"/>
            <a:ext cx="4992624" cy="493776"/>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Atributo para o qual se deseja fazer a predição do valor de saída, que pode ser categórico ou numérico.</a:t>
            </a:r>
            <a:endParaRPr lang="en-US" sz="1250" dirty="0"/>
          </a:p>
        </p:txBody>
      </p:sp>
      <p:sp>
        <p:nvSpPr>
          <p:cNvPr id="13" name="Text 11"/>
          <p:cNvSpPr/>
          <p:nvPr/>
        </p:nvSpPr>
        <p:spPr>
          <a:xfrm>
            <a:off x="566928" y="334670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Partição dos dados rotulados</a:t>
            </a:r>
            <a:endParaRPr lang="en-US" sz="1300" dirty="0"/>
          </a:p>
        </p:txBody>
      </p:sp>
      <p:sp>
        <p:nvSpPr>
          <p:cNvPr id="14" name="Shape 12"/>
          <p:cNvSpPr/>
          <p:nvPr/>
        </p:nvSpPr>
        <p:spPr>
          <a:xfrm>
            <a:off x="566928" y="3712464"/>
            <a:ext cx="11055096" cy="585216"/>
          </a:xfrm>
          <a:prstGeom prst="roundRect">
            <a:avLst>
              <a:gd name="adj" fmla="val 9375"/>
            </a:avLst>
          </a:prstGeom>
          <a:solidFill>
            <a:srgbClr val="F0F1F2"/>
          </a:solidFill>
          <a:ln/>
        </p:spPr>
        <p:txBody>
          <a:bodyPr/>
          <a:lstStyle/>
          <a:p>
            <a:endParaRPr lang="pt-BR"/>
          </a:p>
        </p:txBody>
      </p:sp>
      <p:sp>
        <p:nvSpPr>
          <p:cNvPr id="15" name="Text 13"/>
          <p:cNvSpPr/>
          <p:nvPr/>
        </p:nvSpPr>
        <p:spPr>
          <a:xfrm>
            <a:off x="768096" y="3712464"/>
            <a:ext cx="3291840" cy="585216"/>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Conjunto de treinamento</a:t>
            </a:r>
            <a:endParaRPr lang="en-US" sz="1300" dirty="0"/>
          </a:p>
        </p:txBody>
      </p:sp>
      <p:sp>
        <p:nvSpPr>
          <p:cNvPr id="16" name="Text 14"/>
          <p:cNvSpPr/>
          <p:nvPr/>
        </p:nvSpPr>
        <p:spPr>
          <a:xfrm>
            <a:off x="4206240" y="3712464"/>
            <a:ext cx="7214616" cy="585216"/>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Serve para construir o modelo: é sobre ele que o algoritmo procura a regra que relaciona X e Y.</a:t>
            </a:r>
            <a:endParaRPr lang="en-US" sz="1200" dirty="0"/>
          </a:p>
        </p:txBody>
      </p:sp>
      <p:sp>
        <p:nvSpPr>
          <p:cNvPr id="17" name="Shape 15"/>
          <p:cNvSpPr/>
          <p:nvPr/>
        </p:nvSpPr>
        <p:spPr>
          <a:xfrm>
            <a:off x="566928" y="4370832"/>
            <a:ext cx="11055096" cy="585216"/>
          </a:xfrm>
          <a:prstGeom prst="roundRect">
            <a:avLst>
              <a:gd name="adj" fmla="val 9375"/>
            </a:avLst>
          </a:prstGeom>
          <a:solidFill>
            <a:srgbClr val="F7F8F8"/>
          </a:solidFill>
          <a:ln/>
        </p:spPr>
        <p:txBody>
          <a:bodyPr/>
          <a:lstStyle/>
          <a:p>
            <a:endParaRPr lang="pt-BR"/>
          </a:p>
        </p:txBody>
      </p:sp>
      <p:sp>
        <p:nvSpPr>
          <p:cNvPr id="18" name="Text 16"/>
          <p:cNvSpPr/>
          <p:nvPr/>
        </p:nvSpPr>
        <p:spPr>
          <a:xfrm>
            <a:off x="768096" y="4370832"/>
            <a:ext cx="3291840" cy="585216"/>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Conjunto de teste</a:t>
            </a:r>
            <a:endParaRPr lang="en-US" sz="1300" dirty="0"/>
          </a:p>
        </p:txBody>
      </p:sp>
      <p:sp>
        <p:nvSpPr>
          <p:cNvPr id="19" name="Text 17"/>
          <p:cNvSpPr/>
          <p:nvPr/>
        </p:nvSpPr>
        <p:spPr>
          <a:xfrm>
            <a:off x="4206240" y="4370832"/>
            <a:ext cx="7214616" cy="585216"/>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Também chamado de conjunto de validação, serve para verificar como o modelo se comportaria em dados não vistos, permitindo ajustá-lo se necessário.</a:t>
            </a:r>
            <a:endParaRPr lang="en-US" sz="1200" dirty="0"/>
          </a:p>
        </p:txBody>
      </p:sp>
      <p:sp>
        <p:nvSpPr>
          <p:cNvPr id="20" name="Shape 18"/>
          <p:cNvSpPr/>
          <p:nvPr/>
        </p:nvSpPr>
        <p:spPr>
          <a:xfrm>
            <a:off x="566928" y="5029200"/>
            <a:ext cx="11055096" cy="585216"/>
          </a:xfrm>
          <a:prstGeom prst="roundRect">
            <a:avLst>
              <a:gd name="adj" fmla="val 9375"/>
            </a:avLst>
          </a:prstGeom>
          <a:solidFill>
            <a:srgbClr val="F0F1F2"/>
          </a:solidFill>
          <a:ln/>
        </p:spPr>
        <p:txBody>
          <a:bodyPr/>
          <a:lstStyle/>
          <a:p>
            <a:endParaRPr lang="pt-BR"/>
          </a:p>
        </p:txBody>
      </p:sp>
      <p:sp>
        <p:nvSpPr>
          <p:cNvPr id="21" name="Text 19"/>
          <p:cNvSpPr/>
          <p:nvPr/>
        </p:nvSpPr>
        <p:spPr>
          <a:xfrm>
            <a:off x="768096" y="5029200"/>
            <a:ext cx="3291840" cy="585216"/>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Aplicação final</a:t>
            </a:r>
            <a:endParaRPr lang="en-US" sz="1300" dirty="0"/>
          </a:p>
        </p:txBody>
      </p:sp>
      <p:sp>
        <p:nvSpPr>
          <p:cNvPr id="22" name="Text 20"/>
          <p:cNvSpPr/>
          <p:nvPr/>
        </p:nvSpPr>
        <p:spPr>
          <a:xfrm>
            <a:off x="4206240" y="5029200"/>
            <a:ext cx="7214616" cy="585216"/>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O modelo ajustado é aplicado em novos dados, dos quais ainda não se conhece a saída esperada.</a:t>
            </a:r>
            <a:endParaRPr lang="en-US" sz="1200" dirty="0"/>
          </a:p>
        </p:txBody>
      </p:sp>
      <p:sp>
        <p:nvSpPr>
          <p:cNvPr id="23" name="Shape 21"/>
          <p:cNvSpPr/>
          <p:nvPr/>
        </p:nvSpPr>
        <p:spPr>
          <a:xfrm>
            <a:off x="566928" y="5742432"/>
            <a:ext cx="11055096" cy="457200"/>
          </a:xfrm>
          <a:prstGeom prst="roundRect">
            <a:avLst>
              <a:gd name="adj" fmla="val 12000"/>
            </a:avLst>
          </a:prstGeom>
          <a:solidFill>
            <a:srgbClr val="F7F8F8"/>
          </a:solidFill>
          <a:ln w="12700">
            <a:solidFill>
              <a:srgbClr val="F7F8F8"/>
            </a:solidFill>
            <a:prstDash val="solid"/>
          </a:ln>
        </p:spPr>
        <p:txBody>
          <a:bodyPr/>
          <a:lstStyle/>
          <a:p>
            <a:endParaRPr lang="pt-BR"/>
          </a:p>
        </p:txBody>
      </p:sp>
      <p:sp>
        <p:nvSpPr>
          <p:cNvPr id="24" name="Text 22"/>
          <p:cNvSpPr/>
          <p:nvPr/>
        </p:nvSpPr>
        <p:spPr>
          <a:xfrm>
            <a:off x="768096" y="5888736"/>
            <a:ext cx="10652760" cy="164592"/>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Por que a partição é indispensável: avaliar o modelo nos mesmos dados em que ele foi construído mede memorização, não capacidade de generalizar.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4 · 4.4</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Classificação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As principais categorias de problemas de aprendizado supervisionado são classificação e regressão. Na classificação, deseja-se determinar a qual das possíveis classes do problema cada registro </a:t>
            </a:r>
            <a:r>
              <a:rPr lang="en-US" sz="1350" dirty="0" err="1">
                <a:solidFill>
                  <a:srgbClr val="6F7880"/>
                </a:solidFill>
                <a:latin typeface="Calibri" pitchFamily="34" charset="0"/>
                <a:ea typeface="Calibri" pitchFamily="34" charset="-122"/>
                <a:cs typeface="Calibri" pitchFamily="34" charset="-120"/>
              </a:rPr>
              <a:t>pertence</a:t>
            </a:r>
            <a:r>
              <a:rPr lang="en-US" sz="1350" dirty="0">
                <a:solidFill>
                  <a:srgbClr val="6F7880"/>
                </a:solidFill>
                <a:latin typeface="Calibri" pitchFamily="34" charset="0"/>
                <a:ea typeface="Calibri" pitchFamily="34" charset="-122"/>
                <a:cs typeface="Calibri" pitchFamily="34" charset="-120"/>
              </a:rPr>
              <a:t>. São </a:t>
            </a:r>
            <a:r>
              <a:rPr lang="en-US" sz="1350" dirty="0" err="1">
                <a:solidFill>
                  <a:srgbClr val="6F7880"/>
                </a:solidFill>
                <a:latin typeface="Calibri" pitchFamily="34" charset="0"/>
                <a:ea typeface="Calibri" pitchFamily="34" charset="-122"/>
                <a:cs typeface="Calibri" pitchFamily="34" charset="-120"/>
              </a:rPr>
              <a:t>metricas</a:t>
            </a:r>
            <a:r>
              <a:rPr lang="en-US" sz="1350" dirty="0">
                <a:solidFill>
                  <a:srgbClr val="6F7880"/>
                </a:solidFill>
                <a:latin typeface="Calibri" pitchFamily="34" charset="0"/>
                <a:ea typeface="Calibri" pitchFamily="34" charset="-122"/>
                <a:cs typeface="Calibri" pitchFamily="34" charset="-120"/>
              </a:rPr>
              <a:t> de </a:t>
            </a:r>
            <a:r>
              <a:rPr lang="en-US" sz="1350" dirty="0" err="1">
                <a:solidFill>
                  <a:srgbClr val="6F7880"/>
                </a:solidFill>
                <a:latin typeface="Calibri" pitchFamily="34" charset="0"/>
                <a:ea typeface="Calibri" pitchFamily="34" charset="-122"/>
                <a:cs typeface="Calibri" pitchFamily="34" charset="-120"/>
              </a:rPr>
              <a:t>avaliação</a:t>
            </a:r>
            <a:r>
              <a:rPr lang="en-US" sz="1350" dirty="0">
                <a:solidFill>
                  <a:srgbClr val="6F7880"/>
                </a:solidFill>
                <a:latin typeface="Calibri" pitchFamily="34" charset="0"/>
                <a:ea typeface="Calibri" pitchFamily="34" charset="-122"/>
                <a:cs typeface="Calibri" pitchFamily="34" charset="-120"/>
              </a:rPr>
              <a:t> </a:t>
            </a:r>
            <a:r>
              <a:rPr lang="en-US" sz="1350" dirty="0" err="1">
                <a:solidFill>
                  <a:srgbClr val="6F7880"/>
                </a:solidFill>
                <a:latin typeface="Calibri" pitchFamily="34" charset="0"/>
                <a:ea typeface="Calibri" pitchFamily="34" charset="-122"/>
                <a:cs typeface="Calibri" pitchFamily="34" charset="-120"/>
              </a:rPr>
              <a:t>em</a:t>
            </a:r>
            <a:r>
              <a:rPr lang="en-US" sz="1350" dirty="0">
                <a:solidFill>
                  <a:srgbClr val="6F7880"/>
                </a:solidFill>
                <a:latin typeface="Calibri" pitchFamily="34" charset="0"/>
                <a:ea typeface="Calibri" pitchFamily="34" charset="-122"/>
                <a:cs typeface="Calibri" pitchFamily="34" charset="-120"/>
              </a:rPr>
              <a:t> </a:t>
            </a:r>
            <a:r>
              <a:rPr lang="en-US" sz="1350" dirty="0" err="1">
                <a:solidFill>
                  <a:srgbClr val="6F7880"/>
                </a:solidFill>
                <a:latin typeface="Calibri" pitchFamily="34" charset="0"/>
                <a:ea typeface="Calibri" pitchFamily="34" charset="-122"/>
                <a:cs typeface="Calibri" pitchFamily="34" charset="-120"/>
              </a:rPr>
              <a:t>que</a:t>
            </a:r>
            <a:r>
              <a:rPr lang="en-US" sz="1350" dirty="0">
                <a:solidFill>
                  <a:srgbClr val="6F7880"/>
                </a:solidFill>
                <a:latin typeface="Calibri" pitchFamily="34" charset="0"/>
                <a:ea typeface="Calibri" pitchFamily="34" charset="-122"/>
                <a:cs typeface="Calibri" pitchFamily="34" charset="-120"/>
              </a:rPr>
              <a:t> </a:t>
            </a:r>
            <a:r>
              <a:rPr lang="en-US" sz="1350" dirty="0" err="1">
                <a:solidFill>
                  <a:srgbClr val="6F7880"/>
                </a:solidFill>
                <a:latin typeface="Calibri" pitchFamily="34" charset="0"/>
                <a:ea typeface="Calibri" pitchFamily="34" charset="-122"/>
                <a:cs typeface="Calibri" pitchFamily="34" charset="-120"/>
              </a:rPr>
              <a:t>medem</a:t>
            </a:r>
            <a:r>
              <a:rPr lang="en-US" sz="1350" dirty="0">
                <a:solidFill>
                  <a:srgbClr val="6F7880"/>
                </a:solidFill>
                <a:latin typeface="Calibri" pitchFamily="34" charset="0"/>
                <a:ea typeface="Calibri" pitchFamily="34" charset="-122"/>
                <a:cs typeface="Calibri" pitchFamily="34" charset="-120"/>
              </a:rPr>
              <a:t> o </a:t>
            </a:r>
            <a:r>
              <a:rPr lang="en-US" sz="1350" dirty="0" err="1">
                <a:solidFill>
                  <a:srgbClr val="6F7880"/>
                </a:solidFill>
                <a:latin typeface="Calibri" pitchFamily="34" charset="0"/>
                <a:ea typeface="Calibri" pitchFamily="34" charset="-122"/>
                <a:cs typeface="Calibri" pitchFamily="34" charset="-120"/>
              </a:rPr>
              <a:t>desempenho</a:t>
            </a:r>
            <a:r>
              <a:rPr lang="en-US" sz="1350" dirty="0">
                <a:solidFill>
                  <a:srgbClr val="6F7880"/>
                </a:solidFill>
                <a:latin typeface="Calibri" pitchFamily="34" charset="0"/>
                <a:ea typeface="Calibri" pitchFamily="34" charset="-122"/>
                <a:cs typeface="Calibri" pitchFamily="34" charset="-120"/>
              </a:rPr>
              <a:t> de um </a:t>
            </a:r>
            <a:r>
              <a:rPr lang="en-US" sz="1350" dirty="0" err="1">
                <a:solidFill>
                  <a:srgbClr val="6F7880"/>
                </a:solidFill>
                <a:latin typeface="Calibri" pitchFamily="34" charset="0"/>
                <a:ea typeface="Calibri" pitchFamily="34" charset="-122"/>
                <a:cs typeface="Calibri" pitchFamily="34" charset="-120"/>
              </a:rPr>
              <a:t>modelo</a:t>
            </a:r>
            <a:r>
              <a:rPr lang="en-US" sz="1350" dirty="0">
                <a:solidFill>
                  <a:srgbClr val="6F7880"/>
                </a:solidFill>
                <a:latin typeface="Calibri" pitchFamily="34" charset="0"/>
                <a:ea typeface="Calibri" pitchFamily="34" charset="-122"/>
                <a:cs typeface="Calibri" pitchFamily="34" charset="-120"/>
              </a:rPr>
              <a:t> de Machine Learning </a:t>
            </a:r>
            <a:r>
              <a:rPr lang="en-US" sz="1350" dirty="0" err="1">
                <a:solidFill>
                  <a:srgbClr val="6F7880"/>
                </a:solidFill>
                <a:latin typeface="Calibri" pitchFamily="34" charset="0"/>
                <a:ea typeface="Calibri" pitchFamily="34" charset="-122"/>
                <a:cs typeface="Calibri" pitchFamily="34" charset="-120"/>
              </a:rPr>
              <a:t>ao</a:t>
            </a:r>
            <a:r>
              <a:rPr lang="en-US" sz="1350" dirty="0">
                <a:solidFill>
                  <a:srgbClr val="6F7880"/>
                </a:solidFill>
                <a:latin typeface="Calibri" pitchFamily="34" charset="0"/>
                <a:ea typeface="Calibri" pitchFamily="34" charset="-122"/>
                <a:cs typeface="Calibri" pitchFamily="34" charset="-120"/>
              </a:rPr>
              <a:t> </a:t>
            </a:r>
            <a:r>
              <a:rPr lang="en-US" sz="1350" dirty="0" err="1">
                <a:solidFill>
                  <a:srgbClr val="6F7880"/>
                </a:solidFill>
                <a:latin typeface="Calibri" pitchFamily="34" charset="0"/>
                <a:ea typeface="Calibri" pitchFamily="34" charset="-122"/>
                <a:cs typeface="Calibri" pitchFamily="34" charset="-120"/>
              </a:rPr>
              <a:t>prever</a:t>
            </a:r>
            <a:r>
              <a:rPr lang="en-US" sz="1350" dirty="0">
                <a:solidFill>
                  <a:srgbClr val="6F7880"/>
                </a:solidFill>
                <a:latin typeface="Calibri" pitchFamily="34" charset="0"/>
                <a:ea typeface="Calibri" pitchFamily="34" charset="-122"/>
                <a:cs typeface="Calibri" pitchFamily="34" charset="-120"/>
              </a:rPr>
              <a:t> </a:t>
            </a:r>
            <a:r>
              <a:rPr lang="en-US" sz="1350" dirty="0" err="1">
                <a:solidFill>
                  <a:srgbClr val="6F7880"/>
                </a:solidFill>
                <a:latin typeface="Calibri" pitchFamily="34" charset="0"/>
                <a:ea typeface="Calibri" pitchFamily="34" charset="-122"/>
                <a:cs typeface="Calibri" pitchFamily="34" charset="-120"/>
              </a:rPr>
              <a:t>categorias</a:t>
            </a:r>
            <a:r>
              <a:rPr lang="en-US" sz="1350" dirty="0">
                <a:solidFill>
                  <a:srgbClr val="6F7880"/>
                </a:solidFill>
                <a:latin typeface="Calibri" pitchFamily="34" charset="0"/>
                <a:ea typeface="Calibri" pitchFamily="34" charset="-122"/>
                <a:cs typeface="Calibri" pitchFamily="34" charset="-120"/>
              </a:rPr>
              <a:t> (classes). A base para </a:t>
            </a:r>
            <a:r>
              <a:rPr lang="en-US" sz="1350" dirty="0" err="1">
                <a:solidFill>
                  <a:srgbClr val="6F7880"/>
                </a:solidFill>
                <a:latin typeface="Calibri" pitchFamily="34" charset="0"/>
                <a:ea typeface="Calibri" pitchFamily="34" charset="-122"/>
                <a:cs typeface="Calibri" pitchFamily="34" charset="-120"/>
              </a:rPr>
              <a:t>essas</a:t>
            </a:r>
            <a:r>
              <a:rPr lang="en-US" sz="1350" dirty="0">
                <a:solidFill>
                  <a:srgbClr val="6F7880"/>
                </a:solidFill>
                <a:latin typeface="Calibri" pitchFamily="34" charset="0"/>
                <a:ea typeface="Calibri" pitchFamily="34" charset="-122"/>
                <a:cs typeface="Calibri" pitchFamily="34" charset="-120"/>
              </a:rPr>
              <a:t> </a:t>
            </a:r>
            <a:r>
              <a:rPr lang="en-US" sz="1350" dirty="0" err="1">
                <a:solidFill>
                  <a:srgbClr val="6F7880"/>
                </a:solidFill>
                <a:latin typeface="Calibri" pitchFamily="34" charset="0"/>
                <a:ea typeface="Calibri" pitchFamily="34" charset="-122"/>
                <a:cs typeface="Calibri" pitchFamily="34" charset="-120"/>
              </a:rPr>
              <a:t>metricas</a:t>
            </a:r>
            <a:r>
              <a:rPr lang="en-US" sz="1350" dirty="0">
                <a:solidFill>
                  <a:srgbClr val="6F7880"/>
                </a:solidFill>
                <a:latin typeface="Calibri" pitchFamily="34" charset="0"/>
                <a:ea typeface="Calibri" pitchFamily="34" charset="-122"/>
                <a:cs typeface="Calibri" pitchFamily="34" charset="-120"/>
              </a:rPr>
              <a:t> e a </a:t>
            </a:r>
            <a:r>
              <a:rPr lang="en-US" sz="1350" dirty="0" err="1">
                <a:solidFill>
                  <a:srgbClr val="6F7880"/>
                </a:solidFill>
                <a:latin typeface="Calibri" pitchFamily="34" charset="0"/>
                <a:ea typeface="Calibri" pitchFamily="34" charset="-122"/>
                <a:cs typeface="Calibri" pitchFamily="34" charset="-120"/>
              </a:rPr>
              <a:t>matriz</a:t>
            </a:r>
            <a:r>
              <a:rPr lang="en-US" sz="1350" dirty="0">
                <a:solidFill>
                  <a:srgbClr val="6F7880"/>
                </a:solidFill>
                <a:latin typeface="Calibri" pitchFamily="34" charset="0"/>
                <a:ea typeface="Calibri" pitchFamily="34" charset="-122"/>
                <a:cs typeface="Calibri" pitchFamily="34" charset="-120"/>
              </a:rPr>
              <a:t> de </a:t>
            </a:r>
            <a:r>
              <a:rPr lang="en-US" sz="1350" dirty="0" err="1">
                <a:solidFill>
                  <a:srgbClr val="6F7880"/>
                </a:solidFill>
                <a:latin typeface="Calibri" pitchFamily="34" charset="0"/>
                <a:ea typeface="Calibri" pitchFamily="34" charset="-122"/>
                <a:cs typeface="Calibri" pitchFamily="34" charset="-120"/>
              </a:rPr>
              <a:t>confu</a:t>
            </a:r>
            <a:endParaRPr lang="en-US" sz="1350" dirty="0">
              <a:solidFill>
                <a:srgbClr val="6F7880"/>
              </a:solidFill>
              <a:latin typeface="Calibri" pitchFamily="34" charset="0"/>
              <a:ea typeface="Calibri" pitchFamily="34" charset="-122"/>
              <a:cs typeface="Calibri" pitchFamily="34" charset="-120"/>
            </a:endParaRPr>
          </a:p>
          <a:p>
            <a:pPr marL="0" indent="0">
              <a:lnSpc>
                <a:spcPct val="110000"/>
              </a:lnSpc>
              <a:buNone/>
            </a:pPr>
            <a:endParaRPr lang="en-US" sz="1350" dirty="0">
              <a:solidFill>
                <a:srgbClr val="6F7880"/>
              </a:solidFill>
              <a:latin typeface="Calibri" pitchFamily="34" charset="0"/>
              <a:ea typeface="Calibri" pitchFamily="34" charset="-122"/>
              <a:cs typeface="Calibri" pitchFamily="34" charset="-120"/>
            </a:endParaRPr>
          </a:p>
          <a:p>
            <a:pPr marL="0" indent="0">
              <a:lnSpc>
                <a:spcPct val="110000"/>
              </a:lnSpc>
              <a:buNone/>
            </a:pPr>
            <a:endParaRPr lang="en-US" sz="1350" dirty="0">
              <a:solidFill>
                <a:srgbClr val="6F7880"/>
              </a:solidFill>
              <a:latin typeface="Calibri" pitchFamily="34" charset="0"/>
              <a:ea typeface="Calibri" pitchFamily="34" charset="-122"/>
              <a:cs typeface="Calibri" pitchFamily="34" charset="-120"/>
            </a:endParaRPr>
          </a:p>
          <a:p>
            <a:pPr marL="0" indent="0">
              <a:lnSpc>
                <a:spcPct val="110000"/>
              </a:lnSpc>
              <a:buNone/>
            </a:pP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25</a:t>
            </a:r>
            <a:endParaRPr lang="en-US" sz="900" dirty="0"/>
          </a:p>
        </p:txBody>
      </p:sp>
      <p:sp>
        <p:nvSpPr>
          <p:cNvPr id="7" name="Shape 5"/>
          <p:cNvSpPr/>
          <p:nvPr/>
        </p:nvSpPr>
        <p:spPr>
          <a:xfrm>
            <a:off x="566928" y="2103120"/>
            <a:ext cx="5394960" cy="1417320"/>
          </a:xfrm>
          <a:prstGeom prst="roundRect">
            <a:avLst>
              <a:gd name="adj" fmla="val 3871"/>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249424"/>
            <a:ext cx="4992624"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Exemplo do material — concessão de crédito</a:t>
            </a:r>
            <a:endParaRPr lang="en-US" sz="1400" dirty="0"/>
          </a:p>
        </p:txBody>
      </p:sp>
      <p:sp>
        <p:nvSpPr>
          <p:cNvPr id="9" name="Text 7"/>
          <p:cNvSpPr/>
          <p:nvPr/>
        </p:nvSpPr>
        <p:spPr>
          <a:xfrm>
            <a:off x="768096" y="2596896"/>
            <a:ext cx="4992624" cy="77724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Um cliente deseja obter um empréstimo de R$ 1.000,00. O gestor do sistema pode se perguntar: esse cliente vai pagar o empréstimo? Qual é o melhor modelo de financiamento para ele, quanto a juros e prazo?</a:t>
            </a:r>
            <a:endParaRPr lang="en-US" sz="1250" dirty="0"/>
          </a:p>
        </p:txBody>
      </p:sp>
      <p:sp>
        <p:nvSpPr>
          <p:cNvPr id="10" name="Shape 8"/>
          <p:cNvSpPr/>
          <p:nvPr/>
        </p:nvSpPr>
        <p:spPr>
          <a:xfrm>
            <a:off x="6227064" y="2103120"/>
            <a:ext cx="5394960" cy="1417320"/>
          </a:xfrm>
          <a:prstGeom prst="roundRect">
            <a:avLst>
              <a:gd name="adj" fmla="val 3871"/>
            </a:avLst>
          </a:prstGeom>
          <a:solidFill>
            <a:srgbClr val="F0F1F2"/>
          </a:solidFill>
          <a:ln w="12700">
            <a:solidFill>
              <a:srgbClr val="F0F1F2"/>
            </a:solidFill>
            <a:prstDash val="solid"/>
          </a:ln>
        </p:spPr>
        <p:txBody>
          <a:bodyPr/>
          <a:lstStyle/>
          <a:p>
            <a:endParaRPr lang="pt-BR"/>
          </a:p>
        </p:txBody>
      </p:sp>
      <p:sp>
        <p:nvSpPr>
          <p:cNvPr id="11" name="Text 9"/>
          <p:cNvSpPr/>
          <p:nvPr/>
        </p:nvSpPr>
        <p:spPr>
          <a:xfrm>
            <a:off x="6428232" y="2249424"/>
            <a:ext cx="4992624" cy="292608"/>
          </a:xfrm>
          <a:prstGeom prst="rect">
            <a:avLst/>
          </a:prstGeom>
          <a:noFill/>
          <a:ln/>
        </p:spPr>
        <p:txBody>
          <a:bodyPr wrap="square" lIns="0" tIns="0" rIns="0" bIns="0" rtlCol="0" anchor="ctr"/>
          <a:lstStyle/>
          <a:p>
            <a:pPr marL="0" indent="0">
              <a:buNone/>
            </a:pPr>
            <a:r>
              <a:rPr lang="en-US" sz="1400" b="1" dirty="0">
                <a:solidFill>
                  <a:srgbClr val="23272A"/>
                </a:solidFill>
                <a:latin typeface="Calibri" pitchFamily="34" charset="0"/>
                <a:ea typeface="Calibri" pitchFamily="34" charset="-122"/>
                <a:cs typeface="Calibri" pitchFamily="34" charset="-120"/>
              </a:rPr>
              <a:t>Por que é um problema de classificação</a:t>
            </a:r>
            <a:endParaRPr lang="en-US" sz="1400" dirty="0"/>
          </a:p>
        </p:txBody>
      </p:sp>
      <p:sp>
        <p:nvSpPr>
          <p:cNvPr id="12" name="Text 10"/>
          <p:cNvSpPr/>
          <p:nvPr/>
        </p:nvSpPr>
        <p:spPr>
          <a:xfrm>
            <a:off x="6428232" y="2596896"/>
            <a:ext cx="4992624" cy="77724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Porque se deseja classificar o cliente em uma das classes possíveis do problema — por exemplo, bom pagador ou mau pagador, ou ainda uma entre várias faixas de juros e prazo.</a:t>
            </a:r>
            <a:endParaRPr lang="en-US" sz="1250" dirty="0"/>
          </a:p>
        </p:txBody>
      </p:sp>
      <p:sp>
        <p:nvSpPr>
          <p:cNvPr id="13" name="Text 11"/>
          <p:cNvSpPr/>
          <p:nvPr/>
        </p:nvSpPr>
        <p:spPr>
          <a:xfrm>
            <a:off x="566928" y="3721608"/>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Estrutura do problema</a:t>
            </a:r>
            <a:endParaRPr lang="en-US" sz="1300" dirty="0"/>
          </a:p>
        </p:txBody>
      </p:sp>
      <p:sp>
        <p:nvSpPr>
          <p:cNvPr id="14" name="Shape 12"/>
          <p:cNvSpPr/>
          <p:nvPr/>
        </p:nvSpPr>
        <p:spPr>
          <a:xfrm>
            <a:off x="566928" y="4087368"/>
            <a:ext cx="3538728" cy="1097280"/>
          </a:xfrm>
          <a:prstGeom prst="roundRect">
            <a:avLst>
              <a:gd name="adj" fmla="val 5000"/>
            </a:avLst>
          </a:prstGeom>
          <a:solidFill>
            <a:srgbClr val="F0F1F2"/>
          </a:solidFill>
          <a:ln w="12700">
            <a:solidFill>
              <a:srgbClr val="F0F1F2"/>
            </a:solidFill>
            <a:prstDash val="solid"/>
          </a:ln>
        </p:spPr>
        <p:txBody>
          <a:bodyPr/>
          <a:lstStyle/>
          <a:p>
            <a:endParaRPr lang="pt-BR"/>
          </a:p>
        </p:txBody>
      </p:sp>
      <p:sp>
        <p:nvSpPr>
          <p:cNvPr id="15" name="Text 13"/>
          <p:cNvSpPr/>
          <p:nvPr/>
        </p:nvSpPr>
        <p:spPr>
          <a:xfrm>
            <a:off x="768096" y="4215384"/>
            <a:ext cx="3136392" cy="274320"/>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Entrada</a:t>
            </a:r>
            <a:endParaRPr lang="en-US" sz="1300" dirty="0"/>
          </a:p>
        </p:txBody>
      </p:sp>
      <p:sp>
        <p:nvSpPr>
          <p:cNvPr id="16" name="Text 14"/>
          <p:cNvSpPr/>
          <p:nvPr/>
        </p:nvSpPr>
        <p:spPr>
          <a:xfrm>
            <a:off x="768096" y="4507992"/>
            <a:ext cx="3136392" cy="566928"/>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Conjunto de solicitantes de empréstimo, descritos por seus atributos.</a:t>
            </a:r>
            <a:endParaRPr lang="en-US" sz="1200" dirty="0"/>
          </a:p>
        </p:txBody>
      </p:sp>
      <p:sp>
        <p:nvSpPr>
          <p:cNvPr id="17" name="Shape 15"/>
          <p:cNvSpPr/>
          <p:nvPr/>
        </p:nvSpPr>
        <p:spPr>
          <a:xfrm>
            <a:off x="4325112" y="4087368"/>
            <a:ext cx="3538728" cy="1097280"/>
          </a:xfrm>
          <a:prstGeom prst="roundRect">
            <a:avLst>
              <a:gd name="adj" fmla="val 5000"/>
            </a:avLst>
          </a:prstGeom>
          <a:solidFill>
            <a:srgbClr val="F7F8F8"/>
          </a:solidFill>
          <a:ln w="12700">
            <a:solidFill>
              <a:srgbClr val="F7F8F8"/>
            </a:solidFill>
            <a:prstDash val="solid"/>
          </a:ln>
        </p:spPr>
        <p:txBody>
          <a:bodyPr/>
          <a:lstStyle/>
          <a:p>
            <a:endParaRPr lang="pt-BR"/>
          </a:p>
        </p:txBody>
      </p:sp>
      <p:sp>
        <p:nvSpPr>
          <p:cNvPr id="18" name="Text 16"/>
          <p:cNvSpPr/>
          <p:nvPr/>
        </p:nvSpPr>
        <p:spPr>
          <a:xfrm>
            <a:off x="4526280" y="4215384"/>
            <a:ext cx="3136392" cy="274320"/>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Modelo</a:t>
            </a:r>
            <a:endParaRPr lang="en-US" sz="1300" dirty="0"/>
          </a:p>
        </p:txBody>
      </p:sp>
      <p:sp>
        <p:nvSpPr>
          <p:cNvPr id="19" name="Text 17"/>
          <p:cNvSpPr/>
          <p:nvPr/>
        </p:nvSpPr>
        <p:spPr>
          <a:xfrm>
            <a:off x="4526280" y="4507992"/>
            <a:ext cx="3136392" cy="566928"/>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Classificador binário construído sobre a base histórica rotulada.</a:t>
            </a:r>
            <a:endParaRPr lang="en-US" sz="1200" dirty="0"/>
          </a:p>
        </p:txBody>
      </p:sp>
      <p:sp>
        <p:nvSpPr>
          <p:cNvPr id="20" name="Shape 18"/>
          <p:cNvSpPr/>
          <p:nvPr/>
        </p:nvSpPr>
        <p:spPr>
          <a:xfrm>
            <a:off x="8083296" y="4087368"/>
            <a:ext cx="3538728" cy="1097280"/>
          </a:xfrm>
          <a:prstGeom prst="roundRect">
            <a:avLst>
              <a:gd name="adj" fmla="val 5000"/>
            </a:avLst>
          </a:prstGeom>
          <a:solidFill>
            <a:srgbClr val="F0F1F2"/>
          </a:solidFill>
          <a:ln w="12700">
            <a:solidFill>
              <a:srgbClr val="F0F1F2"/>
            </a:solidFill>
            <a:prstDash val="solid"/>
          </a:ln>
        </p:spPr>
        <p:txBody>
          <a:bodyPr/>
          <a:lstStyle/>
          <a:p>
            <a:endParaRPr lang="pt-BR"/>
          </a:p>
        </p:txBody>
      </p:sp>
      <p:sp>
        <p:nvSpPr>
          <p:cNvPr id="21" name="Text 19"/>
          <p:cNvSpPr/>
          <p:nvPr/>
        </p:nvSpPr>
        <p:spPr>
          <a:xfrm>
            <a:off x="8284464" y="4215384"/>
            <a:ext cx="3136392" cy="274320"/>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Saída</a:t>
            </a:r>
            <a:endParaRPr lang="en-US" sz="1300" dirty="0"/>
          </a:p>
        </p:txBody>
      </p:sp>
      <p:sp>
        <p:nvSpPr>
          <p:cNvPr id="22" name="Text 20"/>
          <p:cNvSpPr/>
          <p:nvPr/>
        </p:nvSpPr>
        <p:spPr>
          <a:xfrm>
            <a:off x="8284464" y="4507992"/>
            <a:ext cx="3136392" cy="566928"/>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Classe 1 — bons pagadores; Classe 2 — maus pagadores.</a:t>
            </a:r>
            <a:endParaRPr lang="en-US" sz="1200" dirty="0"/>
          </a:p>
        </p:txBody>
      </p:sp>
      <p:sp>
        <p:nvSpPr>
          <p:cNvPr id="23" name="Shape 21"/>
          <p:cNvSpPr/>
          <p:nvPr/>
        </p:nvSpPr>
        <p:spPr>
          <a:xfrm>
            <a:off x="566928" y="5330952"/>
            <a:ext cx="11055096" cy="877824"/>
          </a:xfrm>
          <a:prstGeom prst="roundRect">
            <a:avLst>
              <a:gd name="adj" fmla="val 6250"/>
            </a:avLst>
          </a:prstGeom>
          <a:solidFill>
            <a:srgbClr val="23272A"/>
          </a:solidFill>
          <a:ln w="12700">
            <a:solidFill>
              <a:srgbClr val="23272A"/>
            </a:solidFill>
            <a:prstDash val="solid"/>
          </a:ln>
        </p:spPr>
        <p:txBody>
          <a:bodyPr/>
          <a:lstStyle/>
          <a:p>
            <a:endParaRPr lang="pt-BR"/>
          </a:p>
        </p:txBody>
      </p:sp>
      <p:sp>
        <p:nvSpPr>
          <p:cNvPr id="24" name="Text 22"/>
          <p:cNvSpPr/>
          <p:nvPr/>
        </p:nvSpPr>
        <p:spPr>
          <a:xfrm>
            <a:off x="768096" y="5458968"/>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Outra aplicação citada</a:t>
            </a:r>
            <a:endParaRPr lang="en-US" sz="1300" dirty="0"/>
          </a:p>
        </p:txBody>
      </p:sp>
      <p:sp>
        <p:nvSpPr>
          <p:cNvPr id="25" name="Text 23"/>
          <p:cNvSpPr/>
          <p:nvPr/>
        </p:nvSpPr>
        <p:spPr>
          <a:xfrm>
            <a:off x="768096" y="5751576"/>
            <a:ext cx="10652760" cy="402336"/>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A detecção de clientes com perfis fraudulentos é também um problema típico de classificação — com a particularidade de que as classes costumam ser fortemente desbalanceadas, o que exige métricas de avaliação além da acurácia.</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4 · 4.5</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Regressão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O problema de regressão é parecido com o de classificação, com a diferença de que, em vez de determinar uma classe, tenta-se prever um valor </a:t>
            </a:r>
            <a:r>
              <a:rPr lang="en-US" sz="1350" dirty="0" err="1">
                <a:solidFill>
                  <a:srgbClr val="6F7880"/>
                </a:solidFill>
                <a:latin typeface="Calibri" pitchFamily="34" charset="0"/>
                <a:ea typeface="Calibri" pitchFamily="34" charset="-122"/>
                <a:cs typeface="Calibri" pitchFamily="34" charset="-120"/>
              </a:rPr>
              <a:t>estimado</a:t>
            </a:r>
            <a:r>
              <a:rPr lang="en-US" sz="1350" dirty="0">
                <a:solidFill>
                  <a:srgbClr val="6F7880"/>
                </a:solidFill>
                <a:latin typeface="Calibri" pitchFamily="34" charset="0"/>
                <a:ea typeface="Calibri" pitchFamily="34" charset="-122"/>
                <a:cs typeface="Calibri" pitchFamily="34" charset="-120"/>
              </a:rPr>
              <a:t>. Logo, as </a:t>
            </a:r>
            <a:r>
              <a:rPr lang="en-US" sz="1350" dirty="0" err="1">
                <a:solidFill>
                  <a:srgbClr val="6F7880"/>
                </a:solidFill>
                <a:latin typeface="Calibri" pitchFamily="34" charset="0"/>
                <a:ea typeface="Calibri" pitchFamily="34" charset="-122"/>
                <a:cs typeface="Calibri" pitchFamily="34" charset="-120"/>
              </a:rPr>
              <a:t>metricas</a:t>
            </a:r>
            <a:r>
              <a:rPr lang="en-US" sz="1350" dirty="0">
                <a:solidFill>
                  <a:srgbClr val="6F7880"/>
                </a:solidFill>
                <a:latin typeface="Calibri" pitchFamily="34" charset="0"/>
                <a:ea typeface="Calibri" pitchFamily="34" charset="-122"/>
                <a:cs typeface="Calibri" pitchFamily="34" charset="-120"/>
              </a:rPr>
              <a:t> de </a:t>
            </a:r>
            <a:r>
              <a:rPr lang="en-US" sz="1350" dirty="0" err="1">
                <a:solidFill>
                  <a:srgbClr val="6F7880"/>
                </a:solidFill>
                <a:latin typeface="Calibri" pitchFamily="34" charset="0"/>
                <a:ea typeface="Calibri" pitchFamily="34" charset="-122"/>
                <a:cs typeface="Calibri" pitchFamily="34" charset="-120"/>
              </a:rPr>
              <a:t>avaliação</a:t>
            </a:r>
            <a:r>
              <a:rPr lang="en-US" sz="1350" dirty="0">
                <a:solidFill>
                  <a:srgbClr val="6F7880"/>
                </a:solidFill>
                <a:latin typeface="Calibri" pitchFamily="34" charset="0"/>
                <a:ea typeface="Calibri" pitchFamily="34" charset="-122"/>
                <a:cs typeface="Calibri" pitchFamily="34" charset="-120"/>
              </a:rPr>
              <a:t> </a:t>
            </a:r>
            <a:r>
              <a:rPr lang="en-US" sz="1350" dirty="0" err="1">
                <a:solidFill>
                  <a:srgbClr val="6F7880"/>
                </a:solidFill>
                <a:latin typeface="Calibri" pitchFamily="34" charset="0"/>
                <a:ea typeface="Calibri" pitchFamily="34" charset="-122"/>
                <a:cs typeface="Calibri" pitchFamily="34" charset="-120"/>
              </a:rPr>
              <a:t>medem</a:t>
            </a:r>
            <a:r>
              <a:rPr lang="en-US" sz="1350" dirty="0">
                <a:solidFill>
                  <a:srgbClr val="6F7880"/>
                </a:solidFill>
                <a:latin typeface="Calibri" pitchFamily="34" charset="0"/>
                <a:ea typeface="Calibri" pitchFamily="34" charset="-122"/>
                <a:cs typeface="Calibri" pitchFamily="34" charset="-120"/>
              </a:rPr>
              <a:t> o </a:t>
            </a:r>
            <a:r>
              <a:rPr lang="en-US" sz="1350" dirty="0" err="1">
                <a:solidFill>
                  <a:srgbClr val="6F7880"/>
                </a:solidFill>
                <a:latin typeface="Calibri" pitchFamily="34" charset="0"/>
                <a:ea typeface="Calibri" pitchFamily="34" charset="-122"/>
                <a:cs typeface="Calibri" pitchFamily="34" charset="-120"/>
              </a:rPr>
              <a:t>quão</a:t>
            </a:r>
            <a:r>
              <a:rPr lang="en-US" sz="1350" dirty="0">
                <a:solidFill>
                  <a:srgbClr val="6F7880"/>
                </a:solidFill>
                <a:latin typeface="Calibri" pitchFamily="34" charset="0"/>
                <a:ea typeface="Calibri" pitchFamily="34" charset="-122"/>
                <a:cs typeface="Calibri" pitchFamily="34" charset="-120"/>
              </a:rPr>
              <a:t> </a:t>
            </a:r>
            <a:r>
              <a:rPr lang="en-US" sz="1350" dirty="0" err="1">
                <a:solidFill>
                  <a:srgbClr val="6F7880"/>
                </a:solidFill>
                <a:latin typeface="Calibri" pitchFamily="34" charset="0"/>
                <a:ea typeface="Calibri" pitchFamily="34" charset="-122"/>
                <a:cs typeface="Calibri" pitchFamily="34" charset="-120"/>
              </a:rPr>
              <a:t>distantes</a:t>
            </a:r>
            <a:r>
              <a:rPr lang="en-US" sz="1350" dirty="0">
                <a:solidFill>
                  <a:srgbClr val="6F7880"/>
                </a:solidFill>
                <a:latin typeface="Calibri" pitchFamily="34" charset="0"/>
                <a:ea typeface="Calibri" pitchFamily="34" charset="-122"/>
                <a:cs typeface="Calibri" pitchFamily="34" charset="-120"/>
              </a:rPr>
              <a:t> as </a:t>
            </a:r>
            <a:r>
              <a:rPr lang="en-US" sz="1350" dirty="0" err="1">
                <a:solidFill>
                  <a:srgbClr val="6F7880"/>
                </a:solidFill>
                <a:latin typeface="Calibri" pitchFamily="34" charset="0"/>
                <a:ea typeface="Calibri" pitchFamily="34" charset="-122"/>
                <a:cs typeface="Calibri" pitchFamily="34" charset="-120"/>
              </a:rPr>
              <a:t>previsoes</a:t>
            </a:r>
            <a:r>
              <a:rPr lang="en-US" sz="1350" dirty="0">
                <a:solidFill>
                  <a:srgbClr val="6F7880"/>
                </a:solidFill>
                <a:latin typeface="Calibri" pitchFamily="34" charset="0"/>
                <a:ea typeface="Calibri" pitchFamily="34" charset="-122"/>
                <a:cs typeface="Calibri" pitchFamily="34" charset="-120"/>
              </a:rPr>
              <a:t> do </a:t>
            </a:r>
            <a:r>
              <a:rPr lang="en-US" sz="1350" dirty="0" err="1">
                <a:solidFill>
                  <a:srgbClr val="6F7880"/>
                </a:solidFill>
                <a:latin typeface="Calibri" pitchFamily="34" charset="0"/>
                <a:ea typeface="Calibri" pitchFamily="34" charset="-122"/>
                <a:cs typeface="Calibri" pitchFamily="34" charset="-120"/>
              </a:rPr>
              <a:t>modelo</a:t>
            </a:r>
            <a:r>
              <a:rPr lang="en-US" sz="1350" dirty="0">
                <a:solidFill>
                  <a:srgbClr val="6F7880"/>
                </a:solidFill>
                <a:latin typeface="Calibri" pitchFamily="34" charset="0"/>
                <a:ea typeface="Calibri" pitchFamily="34" charset="-122"/>
                <a:cs typeface="Calibri" pitchFamily="34" charset="-120"/>
              </a:rPr>
              <a:t> </a:t>
            </a:r>
            <a:r>
              <a:rPr lang="en-US" sz="1350" dirty="0" err="1">
                <a:solidFill>
                  <a:srgbClr val="6F7880"/>
                </a:solidFill>
                <a:latin typeface="Calibri" pitchFamily="34" charset="0"/>
                <a:ea typeface="Calibri" pitchFamily="34" charset="-122"/>
                <a:cs typeface="Calibri" pitchFamily="34" charset="-120"/>
              </a:rPr>
              <a:t>estão</a:t>
            </a:r>
            <a:r>
              <a:rPr lang="en-US" sz="1350" dirty="0">
                <a:solidFill>
                  <a:srgbClr val="6F7880"/>
                </a:solidFill>
                <a:latin typeface="Calibri" pitchFamily="34" charset="0"/>
                <a:ea typeface="Calibri" pitchFamily="34" charset="-122"/>
                <a:cs typeface="Calibri" pitchFamily="34" charset="-120"/>
              </a:rPr>
              <a:t> dos </a:t>
            </a:r>
            <a:r>
              <a:rPr lang="en-US" sz="1350" dirty="0" err="1">
                <a:solidFill>
                  <a:srgbClr val="6F7880"/>
                </a:solidFill>
                <a:latin typeface="Calibri" pitchFamily="34" charset="0"/>
                <a:ea typeface="Calibri" pitchFamily="34" charset="-122"/>
                <a:cs typeface="Calibri" pitchFamily="34" charset="-120"/>
              </a:rPr>
              <a:t>valores</a:t>
            </a:r>
            <a:r>
              <a:rPr lang="en-US" sz="1350" dirty="0">
                <a:solidFill>
                  <a:srgbClr val="6F7880"/>
                </a:solidFill>
                <a:latin typeface="Calibri" pitchFamily="34" charset="0"/>
                <a:ea typeface="Calibri" pitchFamily="34" charset="-122"/>
                <a:cs typeface="Calibri" pitchFamily="34" charset="-120"/>
              </a:rPr>
              <a:t> reais (</a:t>
            </a:r>
            <a:r>
              <a:rPr lang="en-US" sz="1350" dirty="0" err="1">
                <a:solidFill>
                  <a:srgbClr val="6F7880"/>
                </a:solidFill>
                <a:latin typeface="Calibri" pitchFamily="34" charset="0"/>
                <a:ea typeface="Calibri" pitchFamily="34" charset="-122"/>
                <a:cs typeface="Calibri" pitchFamily="34" charset="-120"/>
              </a:rPr>
              <a:t>erros</a:t>
            </a:r>
            <a:r>
              <a:rPr lang="en-US" sz="1350" dirty="0">
                <a:solidFill>
                  <a:srgbClr val="6F7880"/>
                </a:solidFill>
                <a:latin typeface="Calibri" pitchFamily="34" charset="0"/>
                <a:ea typeface="Calibri" pitchFamily="34" charset="-122"/>
                <a:cs typeface="Calibri" pitchFamily="34" charset="-120"/>
              </a:rPr>
              <a:t>)</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26</a:t>
            </a:r>
            <a:endParaRPr lang="en-US" sz="900" dirty="0"/>
          </a:p>
        </p:txBody>
      </p:sp>
      <p:sp>
        <p:nvSpPr>
          <p:cNvPr id="7" name="Shape 5"/>
          <p:cNvSpPr/>
          <p:nvPr/>
        </p:nvSpPr>
        <p:spPr>
          <a:xfrm>
            <a:off x="566928" y="2103120"/>
            <a:ext cx="5394960" cy="1371600"/>
          </a:xfrm>
          <a:prstGeom prst="roundRect">
            <a:avLst>
              <a:gd name="adj" fmla="val 4000"/>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249424"/>
            <a:ext cx="4992624"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Exemplo do material — vendas de uma nova filial</a:t>
            </a:r>
            <a:endParaRPr lang="en-US" sz="1400" dirty="0"/>
          </a:p>
        </p:txBody>
      </p:sp>
      <p:sp>
        <p:nvSpPr>
          <p:cNvPr id="9" name="Text 7"/>
          <p:cNvSpPr/>
          <p:nvPr/>
        </p:nvSpPr>
        <p:spPr>
          <a:xfrm>
            <a:off x="768096" y="2596896"/>
            <a:ext cx="4992624" cy="731520"/>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Deseja-se prever o valor estimado das vendas de uma nova filial de determinada cadeia de lojas, a partir do histórico das filiais existentes e de seus atributos.</a:t>
            </a:r>
            <a:endParaRPr lang="en-US" sz="1250" dirty="0"/>
          </a:p>
        </p:txBody>
      </p:sp>
      <p:sp>
        <p:nvSpPr>
          <p:cNvPr id="10" name="Shape 8"/>
          <p:cNvSpPr/>
          <p:nvPr/>
        </p:nvSpPr>
        <p:spPr>
          <a:xfrm>
            <a:off x="6227064" y="2103120"/>
            <a:ext cx="5394960" cy="1371600"/>
          </a:xfrm>
          <a:prstGeom prst="roundRect">
            <a:avLst>
              <a:gd name="adj" fmla="val 4000"/>
            </a:avLst>
          </a:prstGeom>
          <a:solidFill>
            <a:srgbClr val="F0F1F2"/>
          </a:solidFill>
          <a:ln w="12700">
            <a:solidFill>
              <a:srgbClr val="F0F1F2"/>
            </a:solidFill>
            <a:prstDash val="solid"/>
          </a:ln>
        </p:spPr>
        <p:txBody>
          <a:bodyPr/>
          <a:lstStyle/>
          <a:p>
            <a:endParaRPr lang="pt-BR"/>
          </a:p>
        </p:txBody>
      </p:sp>
      <p:sp>
        <p:nvSpPr>
          <p:cNvPr id="11" name="Text 9"/>
          <p:cNvSpPr/>
          <p:nvPr/>
        </p:nvSpPr>
        <p:spPr>
          <a:xfrm>
            <a:off x="6428232" y="2249424"/>
            <a:ext cx="4992624" cy="292608"/>
          </a:xfrm>
          <a:prstGeom prst="rect">
            <a:avLst/>
          </a:prstGeom>
          <a:noFill/>
          <a:ln/>
        </p:spPr>
        <p:txBody>
          <a:bodyPr wrap="square" lIns="0" tIns="0" rIns="0" bIns="0" rtlCol="0" anchor="ctr"/>
          <a:lstStyle/>
          <a:p>
            <a:pPr marL="0" indent="0">
              <a:buNone/>
            </a:pPr>
            <a:r>
              <a:rPr lang="en-US" sz="1400" b="1" dirty="0">
                <a:solidFill>
                  <a:srgbClr val="23272A"/>
                </a:solidFill>
                <a:latin typeface="Calibri" pitchFamily="34" charset="0"/>
                <a:ea typeface="Calibri" pitchFamily="34" charset="-122"/>
                <a:cs typeface="Calibri" pitchFamily="34" charset="-120"/>
              </a:rPr>
              <a:t>A mesma pergunta, dois enquadramentos</a:t>
            </a:r>
            <a:endParaRPr lang="en-US" sz="1400" dirty="0"/>
          </a:p>
        </p:txBody>
      </p:sp>
      <p:sp>
        <p:nvSpPr>
          <p:cNvPr id="12" name="Text 10"/>
          <p:cNvSpPr/>
          <p:nvPr/>
        </p:nvSpPr>
        <p:spPr>
          <a:xfrm>
            <a:off x="6428232" y="2596896"/>
            <a:ext cx="4992624" cy="731520"/>
          </a:xfrm>
          <a:prstGeom prst="rect">
            <a:avLst/>
          </a:prstGeom>
          <a:noFill/>
          <a:ln/>
        </p:spPr>
        <p:txBody>
          <a:bodyPr wrap="square" lIns="0" tIns="0" rIns="0" bIns="0" rtlCol="0" anchor="t"/>
          <a:lstStyle/>
          <a:p>
            <a:pPr marL="0" indent="0">
              <a:lnSpc>
                <a:spcPct val="108000"/>
              </a:lnSpc>
              <a:buNone/>
            </a:pPr>
            <a:r>
              <a:rPr lang="en-US" sz="1250" dirty="0">
                <a:solidFill>
                  <a:srgbClr val="4C555C"/>
                </a:solidFill>
                <a:latin typeface="Calibri" pitchFamily="34" charset="0"/>
                <a:ea typeface="Calibri" pitchFamily="34" charset="-122"/>
                <a:cs typeface="Calibri" pitchFamily="34" charset="-120"/>
              </a:rPr>
              <a:t>Se a pergunta for mapeada como classificação, as respostas possíveis poderiam ser alto, médio ou baixo. Se for mapeada como regressão, as respostas poderiam ser valores monetários.</a:t>
            </a:r>
            <a:endParaRPr lang="en-US" sz="1250" dirty="0"/>
          </a:p>
        </p:txBody>
      </p:sp>
      <p:sp>
        <p:nvSpPr>
          <p:cNvPr id="13" name="Text 11"/>
          <p:cNvSpPr/>
          <p:nvPr/>
        </p:nvSpPr>
        <p:spPr>
          <a:xfrm>
            <a:off x="566928" y="3602736"/>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Como escolher o enquadramento</a:t>
            </a:r>
            <a:endParaRPr lang="en-US" sz="1300" dirty="0"/>
          </a:p>
        </p:txBody>
      </p:sp>
      <p:sp>
        <p:nvSpPr>
          <p:cNvPr id="14" name="Shape 12"/>
          <p:cNvSpPr/>
          <p:nvPr/>
        </p:nvSpPr>
        <p:spPr>
          <a:xfrm>
            <a:off x="566928" y="3968496"/>
            <a:ext cx="11055096" cy="530352"/>
          </a:xfrm>
          <a:prstGeom prst="roundRect">
            <a:avLst>
              <a:gd name="adj" fmla="val 10345"/>
            </a:avLst>
          </a:prstGeom>
          <a:solidFill>
            <a:srgbClr val="F0F1F2"/>
          </a:solidFill>
          <a:ln/>
        </p:spPr>
        <p:txBody>
          <a:bodyPr/>
          <a:lstStyle/>
          <a:p>
            <a:endParaRPr lang="pt-BR"/>
          </a:p>
        </p:txBody>
      </p:sp>
      <p:sp>
        <p:nvSpPr>
          <p:cNvPr id="15" name="Text 13"/>
          <p:cNvSpPr/>
          <p:nvPr/>
        </p:nvSpPr>
        <p:spPr>
          <a:xfrm>
            <a:off x="768096" y="3968496"/>
            <a:ext cx="3474720" cy="530352"/>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Escolha regressão quando</a:t>
            </a:r>
            <a:endParaRPr lang="en-US" sz="1300" dirty="0"/>
          </a:p>
        </p:txBody>
      </p:sp>
      <p:sp>
        <p:nvSpPr>
          <p:cNvPr id="16" name="Text 14"/>
          <p:cNvSpPr/>
          <p:nvPr/>
        </p:nvSpPr>
        <p:spPr>
          <a:xfrm>
            <a:off x="4389120" y="3968496"/>
            <a:ext cx="7031736" cy="530352"/>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O valor exato tem consequência prática — orçamento, dimensionamento de estoque, definição de meta.</a:t>
            </a:r>
            <a:endParaRPr lang="en-US" sz="1200" dirty="0"/>
          </a:p>
        </p:txBody>
      </p:sp>
      <p:sp>
        <p:nvSpPr>
          <p:cNvPr id="17" name="Shape 15"/>
          <p:cNvSpPr/>
          <p:nvPr/>
        </p:nvSpPr>
        <p:spPr>
          <a:xfrm>
            <a:off x="566928" y="4572000"/>
            <a:ext cx="11055096" cy="530352"/>
          </a:xfrm>
          <a:prstGeom prst="roundRect">
            <a:avLst>
              <a:gd name="adj" fmla="val 10345"/>
            </a:avLst>
          </a:prstGeom>
          <a:solidFill>
            <a:srgbClr val="F7F8F8"/>
          </a:solidFill>
          <a:ln/>
        </p:spPr>
        <p:txBody>
          <a:bodyPr/>
          <a:lstStyle/>
          <a:p>
            <a:endParaRPr lang="pt-BR"/>
          </a:p>
        </p:txBody>
      </p:sp>
      <p:sp>
        <p:nvSpPr>
          <p:cNvPr id="18" name="Text 16"/>
          <p:cNvSpPr/>
          <p:nvPr/>
        </p:nvSpPr>
        <p:spPr>
          <a:xfrm>
            <a:off x="768096" y="4572000"/>
            <a:ext cx="3474720" cy="530352"/>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Escolha classificação quando</a:t>
            </a:r>
            <a:endParaRPr lang="en-US" sz="1300" dirty="0"/>
          </a:p>
        </p:txBody>
      </p:sp>
      <p:sp>
        <p:nvSpPr>
          <p:cNvPr id="19" name="Text 17"/>
          <p:cNvSpPr/>
          <p:nvPr/>
        </p:nvSpPr>
        <p:spPr>
          <a:xfrm>
            <a:off x="4389120" y="4572000"/>
            <a:ext cx="7031736" cy="530352"/>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A decisão é discreta e a precisão numérica não muda a ação — aprovar ou recusar, priorizar ou não.</a:t>
            </a:r>
            <a:endParaRPr lang="en-US" sz="1200" dirty="0"/>
          </a:p>
        </p:txBody>
      </p:sp>
      <p:sp>
        <p:nvSpPr>
          <p:cNvPr id="20" name="Shape 18"/>
          <p:cNvSpPr/>
          <p:nvPr/>
        </p:nvSpPr>
        <p:spPr>
          <a:xfrm>
            <a:off x="566928" y="5175504"/>
            <a:ext cx="11055096" cy="530352"/>
          </a:xfrm>
          <a:prstGeom prst="roundRect">
            <a:avLst>
              <a:gd name="adj" fmla="val 10345"/>
            </a:avLst>
          </a:prstGeom>
          <a:solidFill>
            <a:srgbClr val="F0F1F2"/>
          </a:solidFill>
          <a:ln/>
        </p:spPr>
        <p:txBody>
          <a:bodyPr/>
          <a:lstStyle/>
          <a:p>
            <a:endParaRPr lang="pt-BR"/>
          </a:p>
        </p:txBody>
      </p:sp>
      <p:sp>
        <p:nvSpPr>
          <p:cNvPr id="21" name="Text 19"/>
          <p:cNvSpPr/>
          <p:nvPr/>
        </p:nvSpPr>
        <p:spPr>
          <a:xfrm>
            <a:off x="768096" y="5175504"/>
            <a:ext cx="3474720" cy="530352"/>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Cuidado a observar</a:t>
            </a:r>
            <a:endParaRPr lang="en-US" sz="1300" dirty="0"/>
          </a:p>
        </p:txBody>
      </p:sp>
      <p:sp>
        <p:nvSpPr>
          <p:cNvPr id="22" name="Text 20"/>
          <p:cNvSpPr/>
          <p:nvPr/>
        </p:nvSpPr>
        <p:spPr>
          <a:xfrm>
            <a:off x="4389120" y="5175504"/>
            <a:ext cx="7031736" cy="530352"/>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Converter um valor contínuo em faixas descarta informação e cria fronteiras arbitrárias entre categorias vizinhas.</a:t>
            </a:r>
            <a:endParaRPr lang="en-US" sz="1200" dirty="0"/>
          </a:p>
        </p:txBody>
      </p:sp>
      <p:sp>
        <p:nvSpPr>
          <p:cNvPr id="23" name="Shape 21"/>
          <p:cNvSpPr/>
          <p:nvPr/>
        </p:nvSpPr>
        <p:spPr>
          <a:xfrm>
            <a:off x="566928" y="5833872"/>
            <a:ext cx="11055096" cy="402336"/>
          </a:xfrm>
          <a:prstGeom prst="roundRect">
            <a:avLst>
              <a:gd name="adj" fmla="val 13636"/>
            </a:avLst>
          </a:prstGeom>
          <a:solidFill>
            <a:srgbClr val="F7F8F8"/>
          </a:solidFill>
          <a:ln w="12700">
            <a:solidFill>
              <a:srgbClr val="F7F8F8"/>
            </a:solidFill>
            <a:prstDash val="solid"/>
          </a:ln>
        </p:spPr>
        <p:txBody>
          <a:bodyPr/>
          <a:lstStyle/>
          <a:p>
            <a:endParaRPr lang="pt-BR"/>
          </a:p>
        </p:txBody>
      </p:sp>
      <p:sp>
        <p:nvSpPr>
          <p:cNvPr id="24" name="Text 22"/>
          <p:cNvSpPr/>
          <p:nvPr/>
        </p:nvSpPr>
        <p:spPr>
          <a:xfrm>
            <a:off x="768096" y="5980176"/>
            <a:ext cx="10652760" cy="109728"/>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A decisão entre classificar e estimar é do analista, não do dado: o mesmo fenômeno admite os dois enquadramentos.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4 · 4.6</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Clusterização e associação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São exemplos de problemas de aprendizado não supervisionado. Em ambos, não há rótulo histórico e o algoritmo explora os dados em busca de estrutura.</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27</a:t>
            </a:r>
            <a:endParaRPr lang="en-US" sz="900" dirty="0"/>
          </a:p>
        </p:txBody>
      </p:sp>
      <p:sp>
        <p:nvSpPr>
          <p:cNvPr id="7" name="Shape 5"/>
          <p:cNvSpPr/>
          <p:nvPr/>
        </p:nvSpPr>
        <p:spPr>
          <a:xfrm>
            <a:off x="566928" y="2048256"/>
            <a:ext cx="5394960" cy="1874520"/>
          </a:xfrm>
          <a:prstGeom prst="roundRect">
            <a:avLst>
              <a:gd name="adj" fmla="val 2927"/>
            </a:avLst>
          </a:prstGeom>
          <a:solidFill>
            <a:srgbClr val="23272A"/>
          </a:solidFill>
          <a:ln w="12700">
            <a:solidFill>
              <a:srgbClr val="23272A"/>
            </a:solidFill>
            <a:prstDash val="solid"/>
          </a:ln>
        </p:spPr>
        <p:txBody>
          <a:bodyPr/>
          <a:lstStyle/>
          <a:p>
            <a:endParaRPr lang="pt-BR"/>
          </a:p>
        </p:txBody>
      </p:sp>
      <p:sp>
        <p:nvSpPr>
          <p:cNvPr id="8" name="Text 6"/>
          <p:cNvSpPr/>
          <p:nvPr/>
        </p:nvSpPr>
        <p:spPr>
          <a:xfrm>
            <a:off x="768096" y="2194560"/>
            <a:ext cx="4992624" cy="292608"/>
          </a:xfrm>
          <a:prstGeom prst="rect">
            <a:avLst/>
          </a:prstGeom>
          <a:noFill/>
          <a:ln/>
        </p:spPr>
        <p:txBody>
          <a:bodyPr wrap="square" lIns="0" tIns="0" rIns="0" bIns="0" rtlCol="0" anchor="ctr"/>
          <a:lstStyle/>
          <a:p>
            <a:pPr marL="0" indent="0">
              <a:buNone/>
            </a:pPr>
            <a:r>
              <a:rPr lang="en-US" sz="1400" b="1" dirty="0">
                <a:solidFill>
                  <a:srgbClr val="8A7B66"/>
                </a:solidFill>
                <a:latin typeface="Calibri" pitchFamily="34" charset="0"/>
                <a:ea typeface="Calibri" pitchFamily="34" charset="-122"/>
                <a:cs typeface="Calibri" pitchFamily="34" charset="-120"/>
              </a:rPr>
              <a:t>Clusterização (agrupamento)</a:t>
            </a:r>
            <a:endParaRPr lang="en-US" sz="1400" dirty="0"/>
          </a:p>
        </p:txBody>
      </p:sp>
      <p:sp>
        <p:nvSpPr>
          <p:cNvPr id="9" name="Text 7"/>
          <p:cNvSpPr/>
          <p:nvPr/>
        </p:nvSpPr>
        <p:spPr>
          <a:xfrm>
            <a:off x="768096" y="2542032"/>
            <a:ext cx="4992624" cy="1234440"/>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Tem o objetivo de agrupar os dados de interesse por similaridade. Exemplo do material: para determinar localidades promissoras para a abertura de filiais de uma loja, os bairros de uma cidade poderiam ser agrupados em localidades mais ou menos promissoras. Como não há rótulos, é importante que os grupos formados sejam avaliados por um especialista de negócio.</a:t>
            </a:r>
            <a:endParaRPr lang="en-US" sz="1200" dirty="0"/>
          </a:p>
        </p:txBody>
      </p:sp>
      <p:sp>
        <p:nvSpPr>
          <p:cNvPr id="10" name="Shape 8"/>
          <p:cNvSpPr/>
          <p:nvPr/>
        </p:nvSpPr>
        <p:spPr>
          <a:xfrm>
            <a:off x="6227064" y="2048256"/>
            <a:ext cx="5394960" cy="1874520"/>
          </a:xfrm>
          <a:prstGeom prst="roundRect">
            <a:avLst>
              <a:gd name="adj" fmla="val 2927"/>
            </a:avLst>
          </a:prstGeom>
          <a:solidFill>
            <a:srgbClr val="F0F1F2"/>
          </a:solidFill>
          <a:ln w="12700">
            <a:solidFill>
              <a:srgbClr val="F0F1F2"/>
            </a:solidFill>
            <a:prstDash val="solid"/>
          </a:ln>
        </p:spPr>
        <p:txBody>
          <a:bodyPr/>
          <a:lstStyle/>
          <a:p>
            <a:endParaRPr lang="pt-BR"/>
          </a:p>
        </p:txBody>
      </p:sp>
      <p:sp>
        <p:nvSpPr>
          <p:cNvPr id="11" name="Text 9"/>
          <p:cNvSpPr/>
          <p:nvPr/>
        </p:nvSpPr>
        <p:spPr>
          <a:xfrm>
            <a:off x="6428232" y="2194560"/>
            <a:ext cx="4992624" cy="292608"/>
          </a:xfrm>
          <a:prstGeom prst="rect">
            <a:avLst/>
          </a:prstGeom>
          <a:noFill/>
          <a:ln/>
        </p:spPr>
        <p:txBody>
          <a:bodyPr wrap="square" lIns="0" tIns="0" rIns="0" bIns="0" rtlCol="0" anchor="ctr"/>
          <a:lstStyle/>
          <a:p>
            <a:pPr marL="0" indent="0">
              <a:buNone/>
            </a:pPr>
            <a:r>
              <a:rPr lang="en-US" sz="1400" b="1" dirty="0">
                <a:solidFill>
                  <a:srgbClr val="23272A"/>
                </a:solidFill>
                <a:latin typeface="Calibri" pitchFamily="34" charset="0"/>
                <a:ea typeface="Calibri" pitchFamily="34" charset="-122"/>
                <a:cs typeface="Calibri" pitchFamily="34" charset="-120"/>
              </a:rPr>
              <a:t>Associação</a:t>
            </a:r>
            <a:endParaRPr lang="en-US" sz="1400" dirty="0"/>
          </a:p>
        </p:txBody>
      </p:sp>
      <p:sp>
        <p:nvSpPr>
          <p:cNvPr id="12" name="Text 10"/>
          <p:cNvSpPr/>
          <p:nvPr/>
        </p:nvSpPr>
        <p:spPr>
          <a:xfrm>
            <a:off x="6428232" y="2542032"/>
            <a:ext cx="4992624" cy="123444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Busca relações de coocorrência entre itens, e pode ser exemplificada pela oferta de novos serviços e produtos a clientes. Em um sistema de e-commerce, a pergunta típica é: quem observa este produto tem interesse em ver qual outro? Quem observa pão e leite na prateleira provavelmente também se interessa por queijo.</a:t>
            </a:r>
            <a:endParaRPr lang="en-US" sz="1200" dirty="0"/>
          </a:p>
        </p:txBody>
      </p:sp>
      <p:sp>
        <p:nvSpPr>
          <p:cNvPr id="13" name="Text 11"/>
          <p:cNvSpPr/>
          <p:nvPr/>
        </p:nvSpPr>
        <p:spPr>
          <a:xfrm>
            <a:off x="566928" y="412394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O que distingue os dois problemas</a:t>
            </a:r>
            <a:endParaRPr lang="en-US" sz="1300" dirty="0"/>
          </a:p>
        </p:txBody>
      </p:sp>
      <p:sp>
        <p:nvSpPr>
          <p:cNvPr id="14" name="Shape 12"/>
          <p:cNvSpPr/>
          <p:nvPr/>
        </p:nvSpPr>
        <p:spPr>
          <a:xfrm>
            <a:off x="566928" y="4489704"/>
            <a:ext cx="11055096" cy="384048"/>
          </a:xfrm>
          <a:prstGeom prst="roundRect">
            <a:avLst>
              <a:gd name="adj" fmla="val 14286"/>
            </a:avLst>
          </a:prstGeom>
          <a:solidFill>
            <a:srgbClr val="23272A"/>
          </a:solidFill>
          <a:ln/>
        </p:spPr>
        <p:txBody>
          <a:bodyPr/>
          <a:lstStyle/>
          <a:p>
            <a:endParaRPr lang="pt-BR"/>
          </a:p>
        </p:txBody>
      </p:sp>
      <p:sp>
        <p:nvSpPr>
          <p:cNvPr id="15" name="Text 13"/>
          <p:cNvSpPr/>
          <p:nvPr/>
        </p:nvSpPr>
        <p:spPr>
          <a:xfrm>
            <a:off x="768096" y="4489704"/>
            <a:ext cx="2414016" cy="384048"/>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Critério</a:t>
            </a:r>
            <a:endParaRPr lang="en-US" sz="1200" dirty="0"/>
          </a:p>
        </p:txBody>
      </p:sp>
      <p:sp>
        <p:nvSpPr>
          <p:cNvPr id="16" name="Text 14"/>
          <p:cNvSpPr/>
          <p:nvPr/>
        </p:nvSpPr>
        <p:spPr>
          <a:xfrm>
            <a:off x="3328416" y="4489704"/>
            <a:ext cx="4059936" cy="384048"/>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Clusterização</a:t>
            </a:r>
            <a:endParaRPr lang="en-US" sz="1200" dirty="0"/>
          </a:p>
        </p:txBody>
      </p:sp>
      <p:sp>
        <p:nvSpPr>
          <p:cNvPr id="17" name="Text 15"/>
          <p:cNvSpPr/>
          <p:nvPr/>
        </p:nvSpPr>
        <p:spPr>
          <a:xfrm>
            <a:off x="7534656" y="4489704"/>
            <a:ext cx="4142232" cy="384048"/>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Associação</a:t>
            </a:r>
            <a:endParaRPr lang="en-US" sz="1200" dirty="0"/>
          </a:p>
        </p:txBody>
      </p:sp>
      <p:sp>
        <p:nvSpPr>
          <p:cNvPr id="18" name="Shape 16"/>
          <p:cNvSpPr/>
          <p:nvPr/>
        </p:nvSpPr>
        <p:spPr>
          <a:xfrm>
            <a:off x="566928" y="4928616"/>
            <a:ext cx="11055096" cy="512064"/>
          </a:xfrm>
          <a:prstGeom prst="roundRect">
            <a:avLst>
              <a:gd name="adj" fmla="val 10714"/>
            </a:avLst>
          </a:prstGeom>
          <a:solidFill>
            <a:srgbClr val="F0F1F2"/>
          </a:solidFill>
          <a:ln/>
        </p:spPr>
        <p:txBody>
          <a:bodyPr/>
          <a:lstStyle/>
          <a:p>
            <a:endParaRPr lang="pt-BR"/>
          </a:p>
        </p:txBody>
      </p:sp>
      <p:sp>
        <p:nvSpPr>
          <p:cNvPr id="19" name="Text 17"/>
          <p:cNvSpPr/>
          <p:nvPr/>
        </p:nvSpPr>
        <p:spPr>
          <a:xfrm>
            <a:off x="768096" y="4928616"/>
            <a:ext cx="2414016" cy="512064"/>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Objeto do agrupamento</a:t>
            </a:r>
            <a:endParaRPr lang="en-US" sz="1250" dirty="0"/>
          </a:p>
        </p:txBody>
      </p:sp>
      <p:sp>
        <p:nvSpPr>
          <p:cNvPr id="20" name="Text 18"/>
          <p:cNvSpPr/>
          <p:nvPr/>
        </p:nvSpPr>
        <p:spPr>
          <a:xfrm>
            <a:off x="3328416" y="4928616"/>
            <a:ext cx="4059936"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Registros semelhantes entre si.</a:t>
            </a:r>
            <a:endParaRPr lang="en-US" sz="1200" dirty="0"/>
          </a:p>
        </p:txBody>
      </p:sp>
      <p:sp>
        <p:nvSpPr>
          <p:cNvPr id="21" name="Text 19"/>
          <p:cNvSpPr/>
          <p:nvPr/>
        </p:nvSpPr>
        <p:spPr>
          <a:xfrm>
            <a:off x="7534656" y="4928616"/>
            <a:ext cx="4142232"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Itens que costumam aparecer juntos em uma mesma transação.</a:t>
            </a:r>
            <a:endParaRPr lang="en-US" sz="1200" dirty="0"/>
          </a:p>
        </p:txBody>
      </p:sp>
      <p:sp>
        <p:nvSpPr>
          <p:cNvPr id="22" name="Shape 20"/>
          <p:cNvSpPr/>
          <p:nvPr/>
        </p:nvSpPr>
        <p:spPr>
          <a:xfrm>
            <a:off x="566928" y="5513832"/>
            <a:ext cx="11055096" cy="512064"/>
          </a:xfrm>
          <a:prstGeom prst="roundRect">
            <a:avLst>
              <a:gd name="adj" fmla="val 10714"/>
            </a:avLst>
          </a:prstGeom>
          <a:solidFill>
            <a:srgbClr val="F7F8F8"/>
          </a:solidFill>
          <a:ln/>
        </p:spPr>
        <p:txBody>
          <a:bodyPr/>
          <a:lstStyle/>
          <a:p>
            <a:endParaRPr lang="pt-BR"/>
          </a:p>
        </p:txBody>
      </p:sp>
      <p:sp>
        <p:nvSpPr>
          <p:cNvPr id="23" name="Text 21"/>
          <p:cNvSpPr/>
          <p:nvPr/>
        </p:nvSpPr>
        <p:spPr>
          <a:xfrm>
            <a:off x="768096" y="5513832"/>
            <a:ext cx="2414016" cy="512064"/>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Resultado típico</a:t>
            </a:r>
            <a:endParaRPr lang="en-US" sz="1250" dirty="0"/>
          </a:p>
        </p:txBody>
      </p:sp>
      <p:sp>
        <p:nvSpPr>
          <p:cNvPr id="24" name="Text 22"/>
          <p:cNvSpPr/>
          <p:nvPr/>
        </p:nvSpPr>
        <p:spPr>
          <a:xfrm>
            <a:off x="3328416" y="5513832"/>
            <a:ext cx="4059936"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Segmentos de clientes, regiões ou produtos.</a:t>
            </a:r>
            <a:endParaRPr lang="en-US" sz="1200" dirty="0"/>
          </a:p>
        </p:txBody>
      </p:sp>
      <p:sp>
        <p:nvSpPr>
          <p:cNvPr id="25" name="Text 23"/>
          <p:cNvSpPr/>
          <p:nvPr/>
        </p:nvSpPr>
        <p:spPr>
          <a:xfrm>
            <a:off x="7534656" y="5513832"/>
            <a:ext cx="4142232" cy="512064"/>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Regras do tipo “quem leva A tende a levar B”.</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4 · 4.7</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Quadro-síntese: as quatro famílias de problema</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Diagnosticar corretamente a família do problema é o passo que determina técnica, forma de avaliação e dados necessários.</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28</a:t>
            </a:r>
            <a:endParaRPr lang="en-US" sz="900" dirty="0"/>
          </a:p>
        </p:txBody>
      </p:sp>
      <p:sp>
        <p:nvSpPr>
          <p:cNvPr id="7" name="Shape 5"/>
          <p:cNvSpPr/>
          <p:nvPr/>
        </p:nvSpPr>
        <p:spPr>
          <a:xfrm>
            <a:off x="566928" y="1975104"/>
            <a:ext cx="11055096" cy="402336"/>
          </a:xfrm>
          <a:prstGeom prst="roundRect">
            <a:avLst>
              <a:gd name="adj" fmla="val 13636"/>
            </a:avLst>
          </a:prstGeom>
          <a:solidFill>
            <a:srgbClr val="23272A"/>
          </a:solidFill>
          <a:ln/>
        </p:spPr>
        <p:txBody>
          <a:bodyPr/>
          <a:lstStyle/>
          <a:p>
            <a:endParaRPr lang="pt-BR"/>
          </a:p>
        </p:txBody>
      </p:sp>
      <p:sp>
        <p:nvSpPr>
          <p:cNvPr id="8" name="Text 6"/>
          <p:cNvSpPr/>
          <p:nvPr/>
        </p:nvSpPr>
        <p:spPr>
          <a:xfrm>
            <a:off x="768096" y="1975104"/>
            <a:ext cx="2139696"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Problema</a:t>
            </a:r>
            <a:endParaRPr lang="en-US" sz="1200" dirty="0"/>
          </a:p>
        </p:txBody>
      </p:sp>
      <p:sp>
        <p:nvSpPr>
          <p:cNvPr id="9" name="Text 7"/>
          <p:cNvSpPr/>
          <p:nvPr/>
        </p:nvSpPr>
        <p:spPr>
          <a:xfrm>
            <a:off x="3054096" y="1975104"/>
            <a:ext cx="2231136"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Aprendizado</a:t>
            </a:r>
            <a:endParaRPr lang="en-US" sz="1200" dirty="0"/>
          </a:p>
        </p:txBody>
      </p:sp>
      <p:sp>
        <p:nvSpPr>
          <p:cNvPr id="10" name="Text 8"/>
          <p:cNvSpPr/>
          <p:nvPr/>
        </p:nvSpPr>
        <p:spPr>
          <a:xfrm>
            <a:off x="5431536" y="1975104"/>
            <a:ext cx="2962656"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O que se busca</a:t>
            </a:r>
            <a:endParaRPr lang="en-US" sz="1200" dirty="0"/>
          </a:p>
        </p:txBody>
      </p:sp>
      <p:sp>
        <p:nvSpPr>
          <p:cNvPr id="11" name="Text 9"/>
          <p:cNvSpPr/>
          <p:nvPr/>
        </p:nvSpPr>
        <p:spPr>
          <a:xfrm>
            <a:off x="8540496" y="1975104"/>
            <a:ext cx="3136392" cy="402336"/>
          </a:xfrm>
          <a:prstGeom prst="rect">
            <a:avLst/>
          </a:prstGeom>
          <a:noFill/>
          <a:ln/>
        </p:spPr>
        <p:txBody>
          <a:bodyPr wrap="square" lIns="0" tIns="0" rIns="0" bIns="0" rtlCol="0" anchor="ctr"/>
          <a:lstStyle/>
          <a:p>
            <a:pPr marL="0" indent="0">
              <a:lnSpc>
                <a:spcPct val="104000"/>
              </a:lnSpc>
              <a:buNone/>
            </a:pPr>
            <a:r>
              <a:rPr lang="en-US" sz="1200" b="1" dirty="0">
                <a:solidFill>
                  <a:srgbClr val="FFFFFF"/>
                </a:solidFill>
                <a:latin typeface="Calibri" pitchFamily="34" charset="0"/>
                <a:ea typeface="Calibri" pitchFamily="34" charset="-122"/>
                <a:cs typeface="Calibri" pitchFamily="34" charset="-120"/>
              </a:rPr>
              <a:t>Exemplo desta aula</a:t>
            </a:r>
            <a:endParaRPr lang="en-US" sz="1200" dirty="0"/>
          </a:p>
        </p:txBody>
      </p:sp>
      <p:sp>
        <p:nvSpPr>
          <p:cNvPr id="12" name="Shape 10"/>
          <p:cNvSpPr/>
          <p:nvPr/>
        </p:nvSpPr>
        <p:spPr>
          <a:xfrm>
            <a:off x="566928" y="2432304"/>
            <a:ext cx="11055096" cy="621792"/>
          </a:xfrm>
          <a:prstGeom prst="roundRect">
            <a:avLst>
              <a:gd name="adj" fmla="val 8824"/>
            </a:avLst>
          </a:prstGeom>
          <a:solidFill>
            <a:srgbClr val="F0F1F2"/>
          </a:solidFill>
          <a:ln/>
        </p:spPr>
        <p:txBody>
          <a:bodyPr/>
          <a:lstStyle/>
          <a:p>
            <a:endParaRPr lang="pt-BR"/>
          </a:p>
        </p:txBody>
      </p:sp>
      <p:sp>
        <p:nvSpPr>
          <p:cNvPr id="13" name="Text 11"/>
          <p:cNvSpPr/>
          <p:nvPr/>
        </p:nvSpPr>
        <p:spPr>
          <a:xfrm>
            <a:off x="768096" y="2432304"/>
            <a:ext cx="2139696" cy="621792"/>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Classificação</a:t>
            </a:r>
            <a:endParaRPr lang="en-US" sz="1250" dirty="0"/>
          </a:p>
        </p:txBody>
      </p:sp>
      <p:sp>
        <p:nvSpPr>
          <p:cNvPr id="14" name="Text 12"/>
          <p:cNvSpPr/>
          <p:nvPr/>
        </p:nvSpPr>
        <p:spPr>
          <a:xfrm>
            <a:off x="3054096" y="2432304"/>
            <a:ext cx="2231136"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Supervisionado</a:t>
            </a:r>
            <a:endParaRPr lang="en-US" sz="1200" dirty="0"/>
          </a:p>
        </p:txBody>
      </p:sp>
      <p:sp>
        <p:nvSpPr>
          <p:cNvPr id="15" name="Text 13"/>
          <p:cNvSpPr/>
          <p:nvPr/>
        </p:nvSpPr>
        <p:spPr>
          <a:xfrm>
            <a:off x="5431536" y="2432304"/>
            <a:ext cx="2962656"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Atribuir cada registro a uma classe entre as possíveis.</a:t>
            </a:r>
            <a:endParaRPr lang="en-US" sz="1200" dirty="0"/>
          </a:p>
        </p:txBody>
      </p:sp>
      <p:sp>
        <p:nvSpPr>
          <p:cNvPr id="16" name="Text 14"/>
          <p:cNvSpPr/>
          <p:nvPr/>
        </p:nvSpPr>
        <p:spPr>
          <a:xfrm>
            <a:off x="8540496" y="2432304"/>
            <a:ext cx="3136392"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Prever se um cliente será bom ou mau pagador.</a:t>
            </a:r>
            <a:endParaRPr lang="en-US" sz="1200" dirty="0"/>
          </a:p>
        </p:txBody>
      </p:sp>
      <p:sp>
        <p:nvSpPr>
          <p:cNvPr id="17" name="Shape 15"/>
          <p:cNvSpPr/>
          <p:nvPr/>
        </p:nvSpPr>
        <p:spPr>
          <a:xfrm>
            <a:off x="566928" y="3127248"/>
            <a:ext cx="11055096" cy="621792"/>
          </a:xfrm>
          <a:prstGeom prst="roundRect">
            <a:avLst>
              <a:gd name="adj" fmla="val 8824"/>
            </a:avLst>
          </a:prstGeom>
          <a:solidFill>
            <a:srgbClr val="F7F8F8"/>
          </a:solidFill>
          <a:ln/>
        </p:spPr>
        <p:txBody>
          <a:bodyPr/>
          <a:lstStyle/>
          <a:p>
            <a:endParaRPr lang="pt-BR"/>
          </a:p>
        </p:txBody>
      </p:sp>
      <p:sp>
        <p:nvSpPr>
          <p:cNvPr id="18" name="Text 16"/>
          <p:cNvSpPr/>
          <p:nvPr/>
        </p:nvSpPr>
        <p:spPr>
          <a:xfrm>
            <a:off x="768096" y="3127248"/>
            <a:ext cx="2139696" cy="621792"/>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Regressão</a:t>
            </a:r>
            <a:endParaRPr lang="en-US" sz="1250" dirty="0"/>
          </a:p>
        </p:txBody>
      </p:sp>
      <p:sp>
        <p:nvSpPr>
          <p:cNvPr id="19" name="Text 17"/>
          <p:cNvSpPr/>
          <p:nvPr/>
        </p:nvSpPr>
        <p:spPr>
          <a:xfrm>
            <a:off x="3054096" y="3127248"/>
            <a:ext cx="2231136"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Supervisionado</a:t>
            </a:r>
            <a:endParaRPr lang="en-US" sz="1200" dirty="0"/>
          </a:p>
        </p:txBody>
      </p:sp>
      <p:sp>
        <p:nvSpPr>
          <p:cNvPr id="20" name="Text 18"/>
          <p:cNvSpPr/>
          <p:nvPr/>
        </p:nvSpPr>
        <p:spPr>
          <a:xfrm>
            <a:off x="5431536" y="3127248"/>
            <a:ext cx="2962656"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Estimar um valor numérico de saída.</a:t>
            </a:r>
            <a:endParaRPr lang="en-US" sz="1200" dirty="0"/>
          </a:p>
        </p:txBody>
      </p:sp>
      <p:sp>
        <p:nvSpPr>
          <p:cNvPr id="21" name="Text 19"/>
          <p:cNvSpPr/>
          <p:nvPr/>
        </p:nvSpPr>
        <p:spPr>
          <a:xfrm>
            <a:off x="8540496" y="3127248"/>
            <a:ext cx="3136392"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Prever o valor das vendas de uma nova filial.</a:t>
            </a:r>
            <a:endParaRPr lang="en-US" sz="1200" dirty="0"/>
          </a:p>
        </p:txBody>
      </p:sp>
      <p:sp>
        <p:nvSpPr>
          <p:cNvPr id="22" name="Shape 20"/>
          <p:cNvSpPr/>
          <p:nvPr/>
        </p:nvSpPr>
        <p:spPr>
          <a:xfrm>
            <a:off x="566928" y="3822192"/>
            <a:ext cx="11055096" cy="621792"/>
          </a:xfrm>
          <a:prstGeom prst="roundRect">
            <a:avLst>
              <a:gd name="adj" fmla="val 8824"/>
            </a:avLst>
          </a:prstGeom>
          <a:solidFill>
            <a:srgbClr val="F0F1F2"/>
          </a:solidFill>
          <a:ln/>
        </p:spPr>
        <p:txBody>
          <a:bodyPr/>
          <a:lstStyle/>
          <a:p>
            <a:endParaRPr lang="pt-BR"/>
          </a:p>
        </p:txBody>
      </p:sp>
      <p:sp>
        <p:nvSpPr>
          <p:cNvPr id="23" name="Text 21"/>
          <p:cNvSpPr/>
          <p:nvPr/>
        </p:nvSpPr>
        <p:spPr>
          <a:xfrm>
            <a:off x="768096" y="3822192"/>
            <a:ext cx="2139696" cy="621792"/>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Clusterização</a:t>
            </a:r>
            <a:endParaRPr lang="en-US" sz="1250" dirty="0"/>
          </a:p>
        </p:txBody>
      </p:sp>
      <p:sp>
        <p:nvSpPr>
          <p:cNvPr id="24" name="Text 22"/>
          <p:cNvSpPr/>
          <p:nvPr/>
        </p:nvSpPr>
        <p:spPr>
          <a:xfrm>
            <a:off x="3054096" y="3822192"/>
            <a:ext cx="2231136"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Não supervisionado</a:t>
            </a:r>
            <a:endParaRPr lang="en-US" sz="1200" dirty="0"/>
          </a:p>
        </p:txBody>
      </p:sp>
      <p:sp>
        <p:nvSpPr>
          <p:cNvPr id="25" name="Text 23"/>
          <p:cNvSpPr/>
          <p:nvPr/>
        </p:nvSpPr>
        <p:spPr>
          <a:xfrm>
            <a:off x="5431536" y="3822192"/>
            <a:ext cx="2962656"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Agrupar registros semelhantes sem rótulo prévio.</a:t>
            </a:r>
            <a:endParaRPr lang="en-US" sz="1200" dirty="0"/>
          </a:p>
        </p:txBody>
      </p:sp>
      <p:sp>
        <p:nvSpPr>
          <p:cNvPr id="26" name="Text 24"/>
          <p:cNvSpPr/>
          <p:nvPr/>
        </p:nvSpPr>
        <p:spPr>
          <a:xfrm>
            <a:off x="8540496" y="3822192"/>
            <a:ext cx="3136392"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Agrupar bairros por potencial para abertura de filiais.</a:t>
            </a:r>
            <a:endParaRPr lang="en-US" sz="1200" dirty="0"/>
          </a:p>
        </p:txBody>
      </p:sp>
      <p:sp>
        <p:nvSpPr>
          <p:cNvPr id="27" name="Shape 25"/>
          <p:cNvSpPr/>
          <p:nvPr/>
        </p:nvSpPr>
        <p:spPr>
          <a:xfrm>
            <a:off x="566928" y="4517136"/>
            <a:ext cx="11055096" cy="621792"/>
          </a:xfrm>
          <a:prstGeom prst="roundRect">
            <a:avLst>
              <a:gd name="adj" fmla="val 8824"/>
            </a:avLst>
          </a:prstGeom>
          <a:solidFill>
            <a:srgbClr val="F7F8F8"/>
          </a:solidFill>
          <a:ln/>
        </p:spPr>
        <p:txBody>
          <a:bodyPr/>
          <a:lstStyle/>
          <a:p>
            <a:endParaRPr lang="pt-BR"/>
          </a:p>
        </p:txBody>
      </p:sp>
      <p:sp>
        <p:nvSpPr>
          <p:cNvPr id="28" name="Text 26"/>
          <p:cNvSpPr/>
          <p:nvPr/>
        </p:nvSpPr>
        <p:spPr>
          <a:xfrm>
            <a:off x="768096" y="4517136"/>
            <a:ext cx="2139696" cy="621792"/>
          </a:xfrm>
          <a:prstGeom prst="rect">
            <a:avLst/>
          </a:prstGeom>
          <a:noFill/>
          <a:ln/>
        </p:spPr>
        <p:txBody>
          <a:bodyPr wrap="square" lIns="0" tIns="0" rIns="0" bIns="0" rtlCol="0" anchor="ctr"/>
          <a:lstStyle/>
          <a:p>
            <a:pPr marL="0" indent="0">
              <a:lnSpc>
                <a:spcPct val="104000"/>
              </a:lnSpc>
              <a:buNone/>
            </a:pPr>
            <a:r>
              <a:rPr lang="en-US" sz="1250" b="1" dirty="0">
                <a:solidFill>
                  <a:srgbClr val="23272A"/>
                </a:solidFill>
                <a:latin typeface="Calibri" pitchFamily="34" charset="0"/>
                <a:ea typeface="Calibri" pitchFamily="34" charset="-122"/>
                <a:cs typeface="Calibri" pitchFamily="34" charset="-120"/>
              </a:rPr>
              <a:t>Associação</a:t>
            </a:r>
            <a:endParaRPr lang="en-US" sz="1250" dirty="0"/>
          </a:p>
        </p:txBody>
      </p:sp>
      <p:sp>
        <p:nvSpPr>
          <p:cNvPr id="29" name="Text 27"/>
          <p:cNvSpPr/>
          <p:nvPr/>
        </p:nvSpPr>
        <p:spPr>
          <a:xfrm>
            <a:off x="3054096" y="4517136"/>
            <a:ext cx="2231136"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Não supervisionado</a:t>
            </a:r>
            <a:endParaRPr lang="en-US" sz="1200" dirty="0"/>
          </a:p>
        </p:txBody>
      </p:sp>
      <p:sp>
        <p:nvSpPr>
          <p:cNvPr id="30" name="Text 28"/>
          <p:cNvSpPr/>
          <p:nvPr/>
        </p:nvSpPr>
        <p:spPr>
          <a:xfrm>
            <a:off x="5431536" y="4517136"/>
            <a:ext cx="2962656"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Encontrar itens que ocorrem juntos com frequência.</a:t>
            </a:r>
            <a:endParaRPr lang="en-US" sz="1200" dirty="0"/>
          </a:p>
        </p:txBody>
      </p:sp>
      <p:sp>
        <p:nvSpPr>
          <p:cNvPr id="31" name="Text 29"/>
          <p:cNvSpPr/>
          <p:nvPr/>
        </p:nvSpPr>
        <p:spPr>
          <a:xfrm>
            <a:off x="8540496" y="4517136"/>
            <a:ext cx="3136392" cy="621792"/>
          </a:xfrm>
          <a:prstGeom prst="rect">
            <a:avLst/>
          </a:prstGeom>
          <a:noFill/>
          <a:ln/>
        </p:spPr>
        <p:txBody>
          <a:bodyPr wrap="square" lIns="0" tIns="0" rIns="0" bIns="0" rtlCol="0" anchor="ctr"/>
          <a:lstStyle/>
          <a:p>
            <a:pPr marL="0" indent="0">
              <a:lnSpc>
                <a:spcPct val="104000"/>
              </a:lnSpc>
              <a:buNone/>
            </a:pPr>
            <a:r>
              <a:rPr lang="en-US" sz="1200" dirty="0">
                <a:solidFill>
                  <a:srgbClr val="4C555C"/>
                </a:solidFill>
                <a:latin typeface="Calibri" pitchFamily="34" charset="0"/>
                <a:ea typeface="Calibri" pitchFamily="34" charset="-122"/>
                <a:cs typeface="Calibri" pitchFamily="34" charset="-120"/>
              </a:rPr>
              <a:t>Recomendar produtos relacionados em e-commerce.</a:t>
            </a:r>
            <a:endParaRPr lang="en-US" sz="1200" dirty="0"/>
          </a:p>
        </p:txBody>
      </p:sp>
      <p:sp>
        <p:nvSpPr>
          <p:cNvPr id="32" name="Shape 30"/>
          <p:cNvSpPr/>
          <p:nvPr/>
        </p:nvSpPr>
        <p:spPr>
          <a:xfrm>
            <a:off x="566928" y="5285232"/>
            <a:ext cx="11055096" cy="877824"/>
          </a:xfrm>
          <a:prstGeom prst="roundRect">
            <a:avLst>
              <a:gd name="adj" fmla="val 6250"/>
            </a:avLst>
          </a:prstGeom>
          <a:solidFill>
            <a:srgbClr val="23272A"/>
          </a:solidFill>
          <a:ln w="12700">
            <a:solidFill>
              <a:srgbClr val="23272A"/>
            </a:solidFill>
            <a:prstDash val="solid"/>
          </a:ln>
        </p:spPr>
        <p:txBody>
          <a:bodyPr/>
          <a:lstStyle/>
          <a:p>
            <a:endParaRPr lang="pt-BR"/>
          </a:p>
        </p:txBody>
      </p:sp>
      <p:sp>
        <p:nvSpPr>
          <p:cNvPr id="33" name="Text 31"/>
          <p:cNvSpPr/>
          <p:nvPr/>
        </p:nvSpPr>
        <p:spPr>
          <a:xfrm>
            <a:off x="768096" y="5413248"/>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Pergunta de diagnóstico</a:t>
            </a:r>
            <a:endParaRPr lang="en-US" sz="1300" dirty="0"/>
          </a:p>
        </p:txBody>
      </p:sp>
      <p:sp>
        <p:nvSpPr>
          <p:cNvPr id="34" name="Text 32"/>
          <p:cNvSpPr/>
          <p:nvPr/>
        </p:nvSpPr>
        <p:spPr>
          <a:xfrm>
            <a:off x="768096" y="5705856"/>
            <a:ext cx="10652760" cy="402336"/>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Existe, no histórico, uma coluna com a resposta que se quer prever? Se sim, o problema é supervisionado, e a natureza dessa coluna — categórica ou numérica — decide entre classificação e regressão. Se não, resta explorar estrutura.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3272A"/>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5</a:t>
            </a:r>
            <a:endParaRPr lang="en-US" sz="1050" dirty="0"/>
          </a:p>
        </p:txBody>
      </p:sp>
      <p:sp>
        <p:nvSpPr>
          <p:cNvPr id="3" name="Shape 1"/>
          <p:cNvSpPr/>
          <p:nvPr/>
        </p:nvSpPr>
        <p:spPr>
          <a:xfrm>
            <a:off x="566928" y="2706624"/>
            <a:ext cx="2011680" cy="27432"/>
          </a:xfrm>
          <a:prstGeom prst="rect">
            <a:avLst/>
          </a:prstGeom>
          <a:solidFill>
            <a:srgbClr val="8A7B66"/>
          </a:solidFill>
          <a:ln w="12700">
            <a:solidFill>
              <a:srgbClr val="8A7B66"/>
            </a:solidFill>
            <a:prstDash val="solid"/>
          </a:ln>
        </p:spPr>
        <p:txBody>
          <a:bodyPr/>
          <a:lstStyle/>
          <a:p>
            <a:endParaRPr lang="pt-BR"/>
          </a:p>
        </p:txBody>
      </p:sp>
      <p:sp>
        <p:nvSpPr>
          <p:cNvPr id="4" name="Text 2"/>
          <p:cNvSpPr/>
          <p:nvPr/>
        </p:nvSpPr>
        <p:spPr>
          <a:xfrm>
            <a:off x="566928" y="2926080"/>
            <a:ext cx="100584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As sete etapas de um projeto</a:t>
            </a:r>
            <a:endParaRPr lang="en-US" sz="4000" dirty="0"/>
          </a:p>
        </p:txBody>
      </p:sp>
      <p:sp>
        <p:nvSpPr>
          <p:cNvPr id="5" name="Text 3"/>
          <p:cNvSpPr/>
          <p:nvPr/>
        </p:nvSpPr>
        <p:spPr>
          <a:xfrm>
            <a:off x="566928" y="3749040"/>
            <a:ext cx="7863840" cy="822960"/>
          </a:xfrm>
          <a:prstGeom prst="rect">
            <a:avLst/>
          </a:prstGeom>
          <a:noFill/>
          <a:ln/>
        </p:spPr>
        <p:txBody>
          <a:bodyPr wrap="square" lIns="0" tIns="0" rIns="0" bIns="0" rtlCol="0" anchor="t"/>
          <a:lstStyle/>
          <a:p>
            <a:pPr marL="0" indent="0">
              <a:lnSpc>
                <a:spcPct val="110000"/>
              </a:lnSpc>
              <a:buNone/>
            </a:pPr>
            <a:r>
              <a:rPr lang="en-US" sz="1350" dirty="0">
                <a:solidFill>
                  <a:srgbClr val="C6CACD"/>
                </a:solidFill>
                <a:latin typeface="Calibri" pitchFamily="34" charset="0"/>
                <a:ea typeface="Calibri" pitchFamily="34" charset="-122"/>
                <a:cs typeface="Calibri" pitchFamily="34" charset="-120"/>
              </a:rPr>
              <a:t>Construir algoritmos de aprendizado não é a única etapa em que devemos nos concentrar. Esta unidade organiza o ciclo completo, do entendimento do problema à implantação e ao monitoramento do modelo.</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5 · 5.1</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O esquema básico de um projeto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O ciclo pode ser resumido em sete etapas encadeadas, com retornos possíveis entre elas.</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30</a:t>
            </a:r>
            <a:endParaRPr lang="en-US" sz="900" dirty="0"/>
          </a:p>
        </p:txBody>
      </p:sp>
      <p:sp>
        <p:nvSpPr>
          <p:cNvPr id="7" name="Shape 5"/>
          <p:cNvSpPr/>
          <p:nvPr/>
        </p:nvSpPr>
        <p:spPr>
          <a:xfrm>
            <a:off x="566928" y="2048256"/>
            <a:ext cx="1490472" cy="1481328"/>
          </a:xfrm>
          <a:prstGeom prst="roundRect">
            <a:avLst>
              <a:gd name="adj" fmla="val 3704"/>
            </a:avLst>
          </a:prstGeom>
          <a:solidFill>
            <a:srgbClr val="F0F1F2"/>
          </a:solidFill>
          <a:ln w="12700">
            <a:solidFill>
              <a:srgbClr val="F0F1F2"/>
            </a:solidFill>
            <a:prstDash val="solid"/>
          </a:ln>
        </p:spPr>
        <p:txBody>
          <a:bodyPr/>
          <a:lstStyle/>
          <a:p>
            <a:endParaRPr lang="pt-BR"/>
          </a:p>
        </p:txBody>
      </p:sp>
      <p:sp>
        <p:nvSpPr>
          <p:cNvPr id="8" name="Shape 6"/>
          <p:cNvSpPr/>
          <p:nvPr/>
        </p:nvSpPr>
        <p:spPr>
          <a:xfrm>
            <a:off x="694944" y="2176272"/>
            <a:ext cx="329184" cy="329184"/>
          </a:xfrm>
          <a:prstGeom prst="roundRect">
            <a:avLst>
              <a:gd name="adj" fmla="val 16667"/>
            </a:avLst>
          </a:prstGeom>
          <a:solidFill>
            <a:srgbClr val="23272A"/>
          </a:solidFill>
          <a:ln w="12700">
            <a:solidFill>
              <a:srgbClr val="23272A"/>
            </a:solidFill>
            <a:prstDash val="solid"/>
          </a:ln>
        </p:spPr>
        <p:txBody>
          <a:bodyPr/>
          <a:lstStyle/>
          <a:p>
            <a:endParaRPr lang="pt-BR"/>
          </a:p>
        </p:txBody>
      </p:sp>
      <p:sp>
        <p:nvSpPr>
          <p:cNvPr id="9" name="Text 7"/>
          <p:cNvSpPr/>
          <p:nvPr/>
        </p:nvSpPr>
        <p:spPr>
          <a:xfrm>
            <a:off x="694944" y="217627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694944" y="2560320"/>
            <a:ext cx="1234440" cy="914400"/>
          </a:xfrm>
          <a:prstGeom prst="rect">
            <a:avLst/>
          </a:prstGeom>
          <a:noFill/>
          <a:ln/>
        </p:spPr>
        <p:txBody>
          <a:bodyPr wrap="square" lIns="0" tIns="0" rIns="0" bIns="0" rtlCol="0" anchor="t"/>
          <a:lstStyle/>
          <a:p>
            <a:pPr marL="0" indent="0">
              <a:lnSpc>
                <a:spcPct val="106000"/>
              </a:lnSpc>
              <a:buNone/>
            </a:pPr>
            <a:r>
              <a:rPr lang="en-US" sz="1150" b="1" dirty="0">
                <a:solidFill>
                  <a:srgbClr val="23272A"/>
                </a:solidFill>
                <a:latin typeface="Calibri" pitchFamily="34" charset="0"/>
                <a:ea typeface="Calibri" pitchFamily="34" charset="-122"/>
                <a:cs typeface="Calibri" pitchFamily="34" charset="-120"/>
              </a:rPr>
              <a:t>Definição do problema</a:t>
            </a:r>
            <a:endParaRPr lang="en-US" sz="1150" dirty="0"/>
          </a:p>
        </p:txBody>
      </p:sp>
      <p:sp>
        <p:nvSpPr>
          <p:cNvPr id="11" name="Shape 9"/>
          <p:cNvSpPr/>
          <p:nvPr/>
        </p:nvSpPr>
        <p:spPr>
          <a:xfrm>
            <a:off x="2176272" y="2048256"/>
            <a:ext cx="1490472" cy="1481328"/>
          </a:xfrm>
          <a:prstGeom prst="roundRect">
            <a:avLst>
              <a:gd name="adj" fmla="val 3704"/>
            </a:avLst>
          </a:prstGeom>
          <a:solidFill>
            <a:srgbClr val="F7F8F8"/>
          </a:solidFill>
          <a:ln w="12700">
            <a:solidFill>
              <a:srgbClr val="F7F8F8"/>
            </a:solidFill>
            <a:prstDash val="solid"/>
          </a:ln>
        </p:spPr>
        <p:txBody>
          <a:bodyPr/>
          <a:lstStyle/>
          <a:p>
            <a:endParaRPr lang="pt-BR"/>
          </a:p>
        </p:txBody>
      </p:sp>
      <p:sp>
        <p:nvSpPr>
          <p:cNvPr id="12" name="Shape 10"/>
          <p:cNvSpPr/>
          <p:nvPr/>
        </p:nvSpPr>
        <p:spPr>
          <a:xfrm>
            <a:off x="2304288" y="2176272"/>
            <a:ext cx="329184" cy="329184"/>
          </a:xfrm>
          <a:prstGeom prst="roundRect">
            <a:avLst>
              <a:gd name="adj" fmla="val 16667"/>
            </a:avLst>
          </a:prstGeom>
          <a:solidFill>
            <a:srgbClr val="23272A"/>
          </a:solidFill>
          <a:ln w="12700">
            <a:solidFill>
              <a:srgbClr val="23272A"/>
            </a:solidFill>
            <a:prstDash val="solid"/>
          </a:ln>
        </p:spPr>
        <p:txBody>
          <a:bodyPr/>
          <a:lstStyle/>
          <a:p>
            <a:endParaRPr lang="pt-BR"/>
          </a:p>
        </p:txBody>
      </p:sp>
      <p:sp>
        <p:nvSpPr>
          <p:cNvPr id="13" name="Text 11"/>
          <p:cNvSpPr/>
          <p:nvPr/>
        </p:nvSpPr>
        <p:spPr>
          <a:xfrm>
            <a:off x="2304288" y="217627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2304288" y="2560320"/>
            <a:ext cx="1234440" cy="914400"/>
          </a:xfrm>
          <a:prstGeom prst="rect">
            <a:avLst/>
          </a:prstGeom>
          <a:noFill/>
          <a:ln/>
        </p:spPr>
        <p:txBody>
          <a:bodyPr wrap="square" lIns="0" tIns="0" rIns="0" bIns="0" rtlCol="0" anchor="t"/>
          <a:lstStyle/>
          <a:p>
            <a:pPr marL="0" indent="0">
              <a:lnSpc>
                <a:spcPct val="106000"/>
              </a:lnSpc>
              <a:buNone/>
            </a:pPr>
            <a:r>
              <a:rPr lang="en-US" sz="1150" b="1" dirty="0">
                <a:solidFill>
                  <a:srgbClr val="23272A"/>
                </a:solidFill>
                <a:latin typeface="Calibri" pitchFamily="34" charset="0"/>
                <a:ea typeface="Calibri" pitchFamily="34" charset="-122"/>
                <a:cs typeface="Calibri" pitchFamily="34" charset="-120"/>
              </a:rPr>
              <a:t>Coleta e análise de dados</a:t>
            </a:r>
            <a:endParaRPr lang="en-US" sz="1150" dirty="0"/>
          </a:p>
        </p:txBody>
      </p:sp>
      <p:sp>
        <p:nvSpPr>
          <p:cNvPr id="15" name="Shape 13"/>
          <p:cNvSpPr/>
          <p:nvPr/>
        </p:nvSpPr>
        <p:spPr>
          <a:xfrm>
            <a:off x="3785616" y="2048256"/>
            <a:ext cx="1490472" cy="1481328"/>
          </a:xfrm>
          <a:prstGeom prst="roundRect">
            <a:avLst>
              <a:gd name="adj" fmla="val 3704"/>
            </a:avLst>
          </a:prstGeom>
          <a:solidFill>
            <a:srgbClr val="F0F1F2"/>
          </a:solidFill>
          <a:ln w="12700">
            <a:solidFill>
              <a:srgbClr val="F0F1F2"/>
            </a:solidFill>
            <a:prstDash val="solid"/>
          </a:ln>
        </p:spPr>
        <p:txBody>
          <a:bodyPr/>
          <a:lstStyle/>
          <a:p>
            <a:endParaRPr lang="pt-BR"/>
          </a:p>
        </p:txBody>
      </p:sp>
      <p:sp>
        <p:nvSpPr>
          <p:cNvPr id="16" name="Shape 14"/>
          <p:cNvSpPr/>
          <p:nvPr/>
        </p:nvSpPr>
        <p:spPr>
          <a:xfrm>
            <a:off x="3913632" y="2176272"/>
            <a:ext cx="329184" cy="329184"/>
          </a:xfrm>
          <a:prstGeom prst="roundRect">
            <a:avLst>
              <a:gd name="adj" fmla="val 16667"/>
            </a:avLst>
          </a:prstGeom>
          <a:solidFill>
            <a:srgbClr val="23272A"/>
          </a:solidFill>
          <a:ln w="12700">
            <a:solidFill>
              <a:srgbClr val="23272A"/>
            </a:solidFill>
            <a:prstDash val="solid"/>
          </a:ln>
        </p:spPr>
        <p:txBody>
          <a:bodyPr/>
          <a:lstStyle/>
          <a:p>
            <a:endParaRPr lang="pt-BR"/>
          </a:p>
        </p:txBody>
      </p:sp>
      <p:sp>
        <p:nvSpPr>
          <p:cNvPr id="17" name="Text 15"/>
          <p:cNvSpPr/>
          <p:nvPr/>
        </p:nvSpPr>
        <p:spPr>
          <a:xfrm>
            <a:off x="3913632" y="217627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3913632" y="2560320"/>
            <a:ext cx="1234440" cy="914400"/>
          </a:xfrm>
          <a:prstGeom prst="rect">
            <a:avLst/>
          </a:prstGeom>
          <a:noFill/>
          <a:ln/>
        </p:spPr>
        <p:txBody>
          <a:bodyPr wrap="square" lIns="0" tIns="0" rIns="0" bIns="0" rtlCol="0" anchor="t"/>
          <a:lstStyle/>
          <a:p>
            <a:pPr marL="0" indent="0">
              <a:lnSpc>
                <a:spcPct val="106000"/>
              </a:lnSpc>
              <a:buNone/>
            </a:pPr>
            <a:r>
              <a:rPr lang="en-US" sz="1150" b="1" dirty="0">
                <a:solidFill>
                  <a:srgbClr val="23272A"/>
                </a:solidFill>
                <a:latin typeface="Calibri" pitchFamily="34" charset="0"/>
                <a:ea typeface="Calibri" pitchFamily="34" charset="-122"/>
                <a:cs typeface="Calibri" pitchFamily="34" charset="-120"/>
              </a:rPr>
              <a:t>Pré-processamento</a:t>
            </a:r>
            <a:endParaRPr lang="en-US" sz="1150" dirty="0"/>
          </a:p>
        </p:txBody>
      </p:sp>
      <p:sp>
        <p:nvSpPr>
          <p:cNvPr id="19" name="Shape 17"/>
          <p:cNvSpPr/>
          <p:nvPr/>
        </p:nvSpPr>
        <p:spPr>
          <a:xfrm>
            <a:off x="5394960" y="2048256"/>
            <a:ext cx="1490472" cy="1481328"/>
          </a:xfrm>
          <a:prstGeom prst="roundRect">
            <a:avLst>
              <a:gd name="adj" fmla="val 3704"/>
            </a:avLst>
          </a:prstGeom>
          <a:solidFill>
            <a:srgbClr val="F7F8F8"/>
          </a:solidFill>
          <a:ln w="12700">
            <a:solidFill>
              <a:srgbClr val="F7F8F8"/>
            </a:solidFill>
            <a:prstDash val="solid"/>
          </a:ln>
        </p:spPr>
        <p:txBody>
          <a:bodyPr/>
          <a:lstStyle/>
          <a:p>
            <a:endParaRPr lang="pt-BR"/>
          </a:p>
        </p:txBody>
      </p:sp>
      <p:sp>
        <p:nvSpPr>
          <p:cNvPr id="20" name="Shape 18"/>
          <p:cNvSpPr/>
          <p:nvPr/>
        </p:nvSpPr>
        <p:spPr>
          <a:xfrm>
            <a:off x="5522976" y="2176272"/>
            <a:ext cx="329184" cy="329184"/>
          </a:xfrm>
          <a:prstGeom prst="roundRect">
            <a:avLst>
              <a:gd name="adj" fmla="val 16667"/>
            </a:avLst>
          </a:prstGeom>
          <a:solidFill>
            <a:srgbClr val="23272A"/>
          </a:solidFill>
          <a:ln w="12700">
            <a:solidFill>
              <a:srgbClr val="23272A"/>
            </a:solidFill>
            <a:prstDash val="solid"/>
          </a:ln>
        </p:spPr>
        <p:txBody>
          <a:bodyPr/>
          <a:lstStyle/>
          <a:p>
            <a:endParaRPr lang="pt-BR"/>
          </a:p>
        </p:txBody>
      </p:sp>
      <p:sp>
        <p:nvSpPr>
          <p:cNvPr id="21" name="Text 19"/>
          <p:cNvSpPr/>
          <p:nvPr/>
        </p:nvSpPr>
        <p:spPr>
          <a:xfrm>
            <a:off x="5522976" y="217627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5522976" y="2560320"/>
            <a:ext cx="1234440" cy="914400"/>
          </a:xfrm>
          <a:prstGeom prst="rect">
            <a:avLst/>
          </a:prstGeom>
          <a:noFill/>
          <a:ln/>
        </p:spPr>
        <p:txBody>
          <a:bodyPr wrap="square" lIns="0" tIns="0" rIns="0" bIns="0" rtlCol="0" anchor="t"/>
          <a:lstStyle/>
          <a:p>
            <a:pPr marL="0" indent="0">
              <a:lnSpc>
                <a:spcPct val="106000"/>
              </a:lnSpc>
              <a:buNone/>
            </a:pPr>
            <a:r>
              <a:rPr lang="en-US" sz="1150" b="1" dirty="0">
                <a:solidFill>
                  <a:srgbClr val="23272A"/>
                </a:solidFill>
                <a:latin typeface="Calibri" pitchFamily="34" charset="0"/>
                <a:ea typeface="Calibri" pitchFamily="34" charset="-122"/>
                <a:cs typeface="Calibri" pitchFamily="34" charset="-120"/>
              </a:rPr>
              <a:t>Modelagem e inferência</a:t>
            </a:r>
            <a:endParaRPr lang="en-US" sz="1150" dirty="0"/>
          </a:p>
        </p:txBody>
      </p:sp>
      <p:sp>
        <p:nvSpPr>
          <p:cNvPr id="23" name="Shape 21"/>
          <p:cNvSpPr/>
          <p:nvPr/>
        </p:nvSpPr>
        <p:spPr>
          <a:xfrm>
            <a:off x="7004304" y="2048256"/>
            <a:ext cx="1490472" cy="1481328"/>
          </a:xfrm>
          <a:prstGeom prst="roundRect">
            <a:avLst>
              <a:gd name="adj" fmla="val 3704"/>
            </a:avLst>
          </a:prstGeom>
          <a:solidFill>
            <a:srgbClr val="F0F1F2"/>
          </a:solidFill>
          <a:ln w="12700">
            <a:solidFill>
              <a:srgbClr val="F0F1F2"/>
            </a:solidFill>
            <a:prstDash val="solid"/>
          </a:ln>
        </p:spPr>
        <p:txBody>
          <a:bodyPr/>
          <a:lstStyle/>
          <a:p>
            <a:endParaRPr lang="pt-BR"/>
          </a:p>
        </p:txBody>
      </p:sp>
      <p:sp>
        <p:nvSpPr>
          <p:cNvPr id="24" name="Shape 22"/>
          <p:cNvSpPr/>
          <p:nvPr/>
        </p:nvSpPr>
        <p:spPr>
          <a:xfrm>
            <a:off x="7132320" y="2176272"/>
            <a:ext cx="329184" cy="329184"/>
          </a:xfrm>
          <a:prstGeom prst="roundRect">
            <a:avLst>
              <a:gd name="adj" fmla="val 16667"/>
            </a:avLst>
          </a:prstGeom>
          <a:solidFill>
            <a:srgbClr val="23272A"/>
          </a:solidFill>
          <a:ln w="12700">
            <a:solidFill>
              <a:srgbClr val="23272A"/>
            </a:solidFill>
            <a:prstDash val="solid"/>
          </a:ln>
        </p:spPr>
        <p:txBody>
          <a:bodyPr/>
          <a:lstStyle/>
          <a:p>
            <a:endParaRPr lang="pt-BR"/>
          </a:p>
        </p:txBody>
      </p:sp>
      <p:sp>
        <p:nvSpPr>
          <p:cNvPr id="25" name="Text 23"/>
          <p:cNvSpPr/>
          <p:nvPr/>
        </p:nvSpPr>
        <p:spPr>
          <a:xfrm>
            <a:off x="7132320" y="217627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p:nvPr/>
        </p:nvSpPr>
        <p:spPr>
          <a:xfrm>
            <a:off x="7132320" y="2560320"/>
            <a:ext cx="1234440" cy="914400"/>
          </a:xfrm>
          <a:prstGeom prst="rect">
            <a:avLst/>
          </a:prstGeom>
          <a:noFill/>
          <a:ln/>
        </p:spPr>
        <p:txBody>
          <a:bodyPr wrap="square" lIns="0" tIns="0" rIns="0" bIns="0" rtlCol="0" anchor="t"/>
          <a:lstStyle/>
          <a:p>
            <a:pPr marL="0" indent="0">
              <a:lnSpc>
                <a:spcPct val="106000"/>
              </a:lnSpc>
              <a:buNone/>
            </a:pPr>
            <a:r>
              <a:rPr lang="en-US" sz="1150" b="1" dirty="0">
                <a:solidFill>
                  <a:srgbClr val="23272A"/>
                </a:solidFill>
                <a:latin typeface="Calibri" pitchFamily="34" charset="0"/>
                <a:ea typeface="Calibri" pitchFamily="34" charset="-122"/>
                <a:cs typeface="Calibri" pitchFamily="34" charset="-120"/>
              </a:rPr>
              <a:t>Pós-processamento</a:t>
            </a:r>
            <a:endParaRPr lang="en-US" sz="1150" dirty="0"/>
          </a:p>
        </p:txBody>
      </p:sp>
      <p:sp>
        <p:nvSpPr>
          <p:cNvPr id="27" name="Shape 25"/>
          <p:cNvSpPr/>
          <p:nvPr/>
        </p:nvSpPr>
        <p:spPr>
          <a:xfrm>
            <a:off x="8613648" y="2048256"/>
            <a:ext cx="1490472" cy="1481328"/>
          </a:xfrm>
          <a:prstGeom prst="roundRect">
            <a:avLst>
              <a:gd name="adj" fmla="val 3704"/>
            </a:avLst>
          </a:prstGeom>
          <a:solidFill>
            <a:srgbClr val="F7F8F8"/>
          </a:solidFill>
          <a:ln w="12700">
            <a:solidFill>
              <a:srgbClr val="F7F8F8"/>
            </a:solidFill>
            <a:prstDash val="solid"/>
          </a:ln>
        </p:spPr>
        <p:txBody>
          <a:bodyPr/>
          <a:lstStyle/>
          <a:p>
            <a:endParaRPr lang="pt-BR"/>
          </a:p>
        </p:txBody>
      </p:sp>
      <p:sp>
        <p:nvSpPr>
          <p:cNvPr id="28" name="Shape 26"/>
          <p:cNvSpPr/>
          <p:nvPr/>
        </p:nvSpPr>
        <p:spPr>
          <a:xfrm>
            <a:off x="8741664" y="2176272"/>
            <a:ext cx="329184" cy="329184"/>
          </a:xfrm>
          <a:prstGeom prst="roundRect">
            <a:avLst>
              <a:gd name="adj" fmla="val 16667"/>
            </a:avLst>
          </a:prstGeom>
          <a:solidFill>
            <a:srgbClr val="23272A"/>
          </a:solidFill>
          <a:ln w="12700">
            <a:solidFill>
              <a:srgbClr val="23272A"/>
            </a:solidFill>
            <a:prstDash val="solid"/>
          </a:ln>
        </p:spPr>
        <p:txBody>
          <a:bodyPr/>
          <a:lstStyle/>
          <a:p>
            <a:endParaRPr lang="pt-BR"/>
          </a:p>
        </p:txBody>
      </p:sp>
      <p:sp>
        <p:nvSpPr>
          <p:cNvPr id="29" name="Text 27"/>
          <p:cNvSpPr/>
          <p:nvPr/>
        </p:nvSpPr>
        <p:spPr>
          <a:xfrm>
            <a:off x="8741664" y="217627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8741664" y="2560320"/>
            <a:ext cx="1234440" cy="914400"/>
          </a:xfrm>
          <a:prstGeom prst="rect">
            <a:avLst/>
          </a:prstGeom>
          <a:noFill/>
          <a:ln/>
        </p:spPr>
        <p:txBody>
          <a:bodyPr wrap="square" lIns="0" tIns="0" rIns="0" bIns="0" rtlCol="0" anchor="t"/>
          <a:lstStyle/>
          <a:p>
            <a:pPr marL="0" indent="0">
              <a:lnSpc>
                <a:spcPct val="106000"/>
              </a:lnSpc>
              <a:buNone/>
            </a:pPr>
            <a:r>
              <a:rPr lang="en-US" sz="1150" b="1" dirty="0">
                <a:solidFill>
                  <a:srgbClr val="23272A"/>
                </a:solidFill>
                <a:latin typeface="Calibri" pitchFamily="34" charset="0"/>
                <a:ea typeface="Calibri" pitchFamily="34" charset="-122"/>
                <a:cs typeface="Calibri" pitchFamily="34" charset="-120"/>
              </a:rPr>
              <a:t>Apresentação dos resultados</a:t>
            </a:r>
            <a:endParaRPr lang="en-US" sz="1150" dirty="0"/>
          </a:p>
        </p:txBody>
      </p:sp>
      <p:sp>
        <p:nvSpPr>
          <p:cNvPr id="31" name="Shape 29"/>
          <p:cNvSpPr/>
          <p:nvPr/>
        </p:nvSpPr>
        <p:spPr>
          <a:xfrm>
            <a:off x="10222992" y="2048256"/>
            <a:ext cx="1490472" cy="1481328"/>
          </a:xfrm>
          <a:prstGeom prst="roundRect">
            <a:avLst>
              <a:gd name="adj" fmla="val 3704"/>
            </a:avLst>
          </a:prstGeom>
          <a:solidFill>
            <a:srgbClr val="23272A"/>
          </a:solidFill>
          <a:ln w="12700">
            <a:solidFill>
              <a:srgbClr val="23272A"/>
            </a:solidFill>
            <a:prstDash val="solid"/>
          </a:ln>
        </p:spPr>
        <p:txBody>
          <a:bodyPr/>
          <a:lstStyle/>
          <a:p>
            <a:endParaRPr lang="pt-BR"/>
          </a:p>
        </p:txBody>
      </p:sp>
      <p:sp>
        <p:nvSpPr>
          <p:cNvPr id="32" name="Shape 30"/>
          <p:cNvSpPr/>
          <p:nvPr/>
        </p:nvSpPr>
        <p:spPr>
          <a:xfrm>
            <a:off x="10351008" y="2176272"/>
            <a:ext cx="329184" cy="329184"/>
          </a:xfrm>
          <a:prstGeom prst="roundRect">
            <a:avLst>
              <a:gd name="adj" fmla="val 16667"/>
            </a:avLst>
          </a:prstGeom>
          <a:solidFill>
            <a:srgbClr val="8A7B66"/>
          </a:solidFill>
          <a:ln w="12700">
            <a:solidFill>
              <a:srgbClr val="8A7B66"/>
            </a:solidFill>
            <a:prstDash val="solid"/>
          </a:ln>
        </p:spPr>
        <p:txBody>
          <a:bodyPr/>
          <a:lstStyle/>
          <a:p>
            <a:endParaRPr lang="pt-BR"/>
          </a:p>
        </p:txBody>
      </p:sp>
      <p:sp>
        <p:nvSpPr>
          <p:cNvPr id="33" name="Text 31"/>
          <p:cNvSpPr/>
          <p:nvPr/>
        </p:nvSpPr>
        <p:spPr>
          <a:xfrm>
            <a:off x="10351008" y="2176272"/>
            <a:ext cx="329184"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7</a:t>
            </a:r>
            <a:endParaRPr lang="en-US" sz="1100" dirty="0"/>
          </a:p>
        </p:txBody>
      </p:sp>
      <p:sp>
        <p:nvSpPr>
          <p:cNvPr id="34" name="Text 32"/>
          <p:cNvSpPr/>
          <p:nvPr/>
        </p:nvSpPr>
        <p:spPr>
          <a:xfrm>
            <a:off x="10351008" y="2560320"/>
            <a:ext cx="1234440" cy="914400"/>
          </a:xfrm>
          <a:prstGeom prst="rect">
            <a:avLst/>
          </a:prstGeom>
          <a:noFill/>
          <a:ln/>
        </p:spPr>
        <p:txBody>
          <a:bodyPr wrap="square" lIns="0" tIns="0" rIns="0" bIns="0" rtlCol="0" anchor="t"/>
          <a:lstStyle/>
          <a:p>
            <a:pPr marL="0" indent="0">
              <a:lnSpc>
                <a:spcPct val="106000"/>
              </a:lnSpc>
              <a:buNone/>
            </a:pPr>
            <a:r>
              <a:rPr lang="en-US" sz="1150" b="1" dirty="0">
                <a:solidFill>
                  <a:srgbClr val="8A7B66"/>
                </a:solidFill>
                <a:latin typeface="Calibri" pitchFamily="34" charset="0"/>
                <a:ea typeface="Calibri" pitchFamily="34" charset="-122"/>
                <a:cs typeface="Calibri" pitchFamily="34" charset="-120"/>
              </a:rPr>
              <a:t>Implantação do modelo e geração de valor</a:t>
            </a:r>
            <a:endParaRPr lang="en-US" sz="1150" dirty="0"/>
          </a:p>
        </p:txBody>
      </p:sp>
      <p:sp>
        <p:nvSpPr>
          <p:cNvPr id="35" name="Text 33"/>
          <p:cNvSpPr/>
          <p:nvPr/>
        </p:nvSpPr>
        <p:spPr>
          <a:xfrm>
            <a:off x="566928" y="3621024"/>
            <a:ext cx="11055096"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Como o ciclo realmente se comporta</a:t>
            </a:r>
            <a:endParaRPr lang="en-US" sz="1300" dirty="0"/>
          </a:p>
        </p:txBody>
      </p:sp>
      <p:sp>
        <p:nvSpPr>
          <p:cNvPr id="36" name="Shape 34"/>
          <p:cNvSpPr/>
          <p:nvPr/>
        </p:nvSpPr>
        <p:spPr>
          <a:xfrm>
            <a:off x="566928" y="3986784"/>
            <a:ext cx="11055096" cy="658368"/>
          </a:xfrm>
          <a:prstGeom prst="roundRect">
            <a:avLst>
              <a:gd name="adj" fmla="val 8333"/>
            </a:avLst>
          </a:prstGeom>
          <a:solidFill>
            <a:srgbClr val="F0F1F2"/>
          </a:solidFill>
          <a:ln/>
        </p:spPr>
        <p:txBody>
          <a:bodyPr/>
          <a:lstStyle/>
          <a:p>
            <a:endParaRPr lang="pt-BR"/>
          </a:p>
        </p:txBody>
      </p:sp>
      <p:sp>
        <p:nvSpPr>
          <p:cNvPr id="37" name="Text 35"/>
          <p:cNvSpPr/>
          <p:nvPr/>
        </p:nvSpPr>
        <p:spPr>
          <a:xfrm>
            <a:off x="768096" y="3986784"/>
            <a:ext cx="3566160" cy="65836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O fluxo não é linear</a:t>
            </a:r>
            <a:endParaRPr lang="en-US" sz="1300" dirty="0"/>
          </a:p>
        </p:txBody>
      </p:sp>
      <p:sp>
        <p:nvSpPr>
          <p:cNvPr id="38" name="Text 36"/>
          <p:cNvSpPr/>
          <p:nvPr/>
        </p:nvSpPr>
        <p:spPr>
          <a:xfrm>
            <a:off x="4480560" y="3986784"/>
            <a:ext cx="6940296" cy="658368"/>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Após a avaliação, é comum voltar à coleta e à análise de dados para obter mais dados, ou retornar à construção do modelo usando estratégias diferentes.</a:t>
            </a:r>
            <a:endParaRPr lang="en-US" sz="1200" dirty="0"/>
          </a:p>
        </p:txBody>
      </p:sp>
      <p:sp>
        <p:nvSpPr>
          <p:cNvPr id="39" name="Shape 37"/>
          <p:cNvSpPr/>
          <p:nvPr/>
        </p:nvSpPr>
        <p:spPr>
          <a:xfrm>
            <a:off x="566928" y="4718304"/>
            <a:ext cx="11055096" cy="658368"/>
          </a:xfrm>
          <a:prstGeom prst="roundRect">
            <a:avLst>
              <a:gd name="adj" fmla="val 8333"/>
            </a:avLst>
          </a:prstGeom>
          <a:solidFill>
            <a:srgbClr val="F7F8F8"/>
          </a:solidFill>
          <a:ln/>
        </p:spPr>
        <p:txBody>
          <a:bodyPr/>
          <a:lstStyle/>
          <a:p>
            <a:endParaRPr lang="pt-BR"/>
          </a:p>
        </p:txBody>
      </p:sp>
      <p:sp>
        <p:nvSpPr>
          <p:cNvPr id="40" name="Text 38"/>
          <p:cNvSpPr/>
          <p:nvPr/>
        </p:nvSpPr>
        <p:spPr>
          <a:xfrm>
            <a:off x="768096" y="4718304"/>
            <a:ext cx="3566160" cy="65836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Só se avança com resultado satisfatório</a:t>
            </a:r>
            <a:endParaRPr lang="en-US" sz="1300" dirty="0"/>
          </a:p>
        </p:txBody>
      </p:sp>
      <p:sp>
        <p:nvSpPr>
          <p:cNvPr id="41" name="Text 39"/>
          <p:cNvSpPr/>
          <p:nvPr/>
        </p:nvSpPr>
        <p:spPr>
          <a:xfrm>
            <a:off x="4480560" y="4718304"/>
            <a:ext cx="6940296" cy="658368"/>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Quando se chega a um modelo adequado ao problema, apresentam-se os resultados ao demandante e distribui-se o modelo em ambiente produtivo.</a:t>
            </a:r>
            <a:endParaRPr lang="en-US" sz="1200" dirty="0"/>
          </a:p>
        </p:txBody>
      </p:sp>
      <p:sp>
        <p:nvSpPr>
          <p:cNvPr id="42" name="Shape 40"/>
          <p:cNvSpPr/>
          <p:nvPr/>
        </p:nvSpPr>
        <p:spPr>
          <a:xfrm>
            <a:off x="566928" y="5449824"/>
            <a:ext cx="11055096" cy="658368"/>
          </a:xfrm>
          <a:prstGeom prst="roundRect">
            <a:avLst>
              <a:gd name="adj" fmla="val 8333"/>
            </a:avLst>
          </a:prstGeom>
          <a:solidFill>
            <a:srgbClr val="F0F1F2"/>
          </a:solidFill>
          <a:ln/>
        </p:spPr>
        <p:txBody>
          <a:bodyPr/>
          <a:lstStyle/>
          <a:p>
            <a:endParaRPr lang="pt-BR"/>
          </a:p>
        </p:txBody>
      </p:sp>
      <p:sp>
        <p:nvSpPr>
          <p:cNvPr id="43" name="Text 41"/>
          <p:cNvSpPr/>
          <p:nvPr/>
        </p:nvSpPr>
        <p:spPr>
          <a:xfrm>
            <a:off x="768096" y="5449824"/>
            <a:ext cx="3566160" cy="65836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O projeto não termina na entrega</a:t>
            </a:r>
            <a:endParaRPr lang="en-US" sz="1300" dirty="0"/>
          </a:p>
        </p:txBody>
      </p:sp>
      <p:sp>
        <p:nvSpPr>
          <p:cNvPr id="44" name="Text 42"/>
          <p:cNvSpPr/>
          <p:nvPr/>
        </p:nvSpPr>
        <p:spPr>
          <a:xfrm>
            <a:off x="4480560" y="5449824"/>
            <a:ext cx="6940296" cy="658368"/>
          </a:xfrm>
          <a:prstGeom prst="rect">
            <a:avLst/>
          </a:prstGeom>
          <a:noFill/>
          <a:ln/>
        </p:spPr>
        <p:txBody>
          <a:bodyPr wrap="square" lIns="0" tIns="0" rIns="0" bIns="0" rtlCol="0" anchor="ctr"/>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É preciso monitorar o modelo periodicamente para verificar se continua com bom desempenho e gerando bons resultados.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5 · 5.2</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Etapas 1 a 4: do problema ao modelo</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As quatro primeiras etapas concentram as decisões que determinam a qualidade do resultado. O detalhamento a seguir desenvolve, para uso em sala, o encadeamento descrito no material de referência.</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31</a:t>
            </a:r>
            <a:endParaRPr lang="en-US" sz="900" dirty="0"/>
          </a:p>
        </p:txBody>
      </p:sp>
      <p:sp>
        <p:nvSpPr>
          <p:cNvPr id="7" name="Shape 5"/>
          <p:cNvSpPr/>
          <p:nvPr/>
        </p:nvSpPr>
        <p:spPr>
          <a:xfrm>
            <a:off x="566928" y="1975104"/>
            <a:ext cx="11055096" cy="877824"/>
          </a:xfrm>
          <a:prstGeom prst="roundRect">
            <a:avLst>
              <a:gd name="adj" fmla="val 6250"/>
            </a:avLst>
          </a:prstGeom>
          <a:solidFill>
            <a:srgbClr val="F0F1F2"/>
          </a:solidFill>
          <a:ln w="12700">
            <a:solidFill>
              <a:srgbClr val="F0F1F2"/>
            </a:solidFill>
            <a:prstDash val="solid"/>
          </a:ln>
        </p:spPr>
        <p:txBody>
          <a:bodyPr/>
          <a:lstStyle/>
          <a:p>
            <a:endParaRPr lang="pt-BR"/>
          </a:p>
        </p:txBody>
      </p:sp>
      <p:sp>
        <p:nvSpPr>
          <p:cNvPr id="8" name="Text 6"/>
          <p:cNvSpPr/>
          <p:nvPr/>
        </p:nvSpPr>
        <p:spPr>
          <a:xfrm>
            <a:off x="768096" y="2103120"/>
            <a:ext cx="3108960"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Definição do problema</a:t>
            </a:r>
            <a:endParaRPr lang="en-US" sz="1350" dirty="0"/>
          </a:p>
        </p:txBody>
      </p:sp>
      <p:sp>
        <p:nvSpPr>
          <p:cNvPr id="9" name="Text 7"/>
          <p:cNvSpPr/>
          <p:nvPr/>
        </p:nvSpPr>
        <p:spPr>
          <a:xfrm>
            <a:off x="11073384" y="2084832"/>
            <a:ext cx="365760" cy="292608"/>
          </a:xfrm>
          <a:prstGeom prst="rect">
            <a:avLst/>
          </a:prstGeom>
          <a:noFill/>
          <a:ln/>
        </p:spPr>
        <p:txBody>
          <a:bodyPr wrap="square" lIns="0" tIns="0" rIns="0" bIns="0" rtlCol="0" anchor="ctr"/>
          <a:lstStyle/>
          <a:p>
            <a:pPr marL="0" indent="0" algn="r">
              <a:buNone/>
            </a:pPr>
            <a:r>
              <a:rPr lang="en-US" sz="1600" b="1" dirty="0">
                <a:solidFill>
                  <a:srgbClr val="8A7B66"/>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768096" y="2395728"/>
            <a:ext cx="10652760" cy="420624"/>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Entender bem o problema a ser resolvido para traçar os objetivos principais. Inclui definir a tarefa, o critério de sucesso e a expectativa dos conhecedores do domínio — taxa de erro aceitável, necessidade de transparência do modelo, natureza das variáveis.</a:t>
            </a:r>
            <a:endParaRPr lang="en-US" sz="1200" dirty="0"/>
          </a:p>
        </p:txBody>
      </p:sp>
      <p:sp>
        <p:nvSpPr>
          <p:cNvPr id="11" name="Shape 9"/>
          <p:cNvSpPr/>
          <p:nvPr/>
        </p:nvSpPr>
        <p:spPr>
          <a:xfrm>
            <a:off x="566928" y="2926080"/>
            <a:ext cx="11055096" cy="877824"/>
          </a:xfrm>
          <a:prstGeom prst="roundRect">
            <a:avLst>
              <a:gd name="adj" fmla="val 6250"/>
            </a:avLst>
          </a:prstGeom>
          <a:solidFill>
            <a:srgbClr val="F7F8F8"/>
          </a:solidFill>
          <a:ln w="12700">
            <a:solidFill>
              <a:srgbClr val="F7F8F8"/>
            </a:solidFill>
            <a:prstDash val="solid"/>
          </a:ln>
        </p:spPr>
        <p:txBody>
          <a:bodyPr/>
          <a:lstStyle/>
          <a:p>
            <a:endParaRPr lang="pt-BR"/>
          </a:p>
        </p:txBody>
      </p:sp>
      <p:sp>
        <p:nvSpPr>
          <p:cNvPr id="12" name="Text 10"/>
          <p:cNvSpPr/>
          <p:nvPr/>
        </p:nvSpPr>
        <p:spPr>
          <a:xfrm>
            <a:off x="768096" y="3054096"/>
            <a:ext cx="3108960"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Coleta e análise de dados</a:t>
            </a:r>
            <a:endParaRPr lang="en-US" sz="1350" dirty="0"/>
          </a:p>
        </p:txBody>
      </p:sp>
      <p:sp>
        <p:nvSpPr>
          <p:cNvPr id="13" name="Text 11"/>
          <p:cNvSpPr/>
          <p:nvPr/>
        </p:nvSpPr>
        <p:spPr>
          <a:xfrm>
            <a:off x="11073384" y="3035808"/>
            <a:ext cx="365760" cy="292608"/>
          </a:xfrm>
          <a:prstGeom prst="rect">
            <a:avLst/>
          </a:prstGeom>
          <a:noFill/>
          <a:ln/>
        </p:spPr>
        <p:txBody>
          <a:bodyPr wrap="square" lIns="0" tIns="0" rIns="0" bIns="0" rtlCol="0" anchor="ctr"/>
          <a:lstStyle/>
          <a:p>
            <a:pPr marL="0" indent="0" algn="r">
              <a:buNone/>
            </a:pPr>
            <a:r>
              <a:rPr lang="en-US" sz="1600" b="1" dirty="0">
                <a:solidFill>
                  <a:srgbClr val="8A7B66"/>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768096" y="3346704"/>
            <a:ext cx="10652760" cy="420624"/>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Reunir os dados adequados ao problema e explorá-los para conhecer volume, cobertura, qualidade e limitações. É a etapa em que se descobre se o problema formulado é sequer respondível com o que existe.</a:t>
            </a:r>
            <a:endParaRPr lang="en-US" sz="1200" dirty="0"/>
          </a:p>
        </p:txBody>
      </p:sp>
      <p:sp>
        <p:nvSpPr>
          <p:cNvPr id="15" name="Shape 13"/>
          <p:cNvSpPr/>
          <p:nvPr/>
        </p:nvSpPr>
        <p:spPr>
          <a:xfrm>
            <a:off x="566928" y="3877056"/>
            <a:ext cx="11055096" cy="877824"/>
          </a:xfrm>
          <a:prstGeom prst="roundRect">
            <a:avLst>
              <a:gd name="adj" fmla="val 6250"/>
            </a:avLst>
          </a:prstGeom>
          <a:solidFill>
            <a:srgbClr val="F0F1F2"/>
          </a:solidFill>
          <a:ln w="12700">
            <a:solidFill>
              <a:srgbClr val="F0F1F2"/>
            </a:solidFill>
            <a:prstDash val="solid"/>
          </a:ln>
        </p:spPr>
        <p:txBody>
          <a:bodyPr/>
          <a:lstStyle/>
          <a:p>
            <a:endParaRPr lang="pt-BR"/>
          </a:p>
        </p:txBody>
      </p:sp>
      <p:sp>
        <p:nvSpPr>
          <p:cNvPr id="16" name="Text 14"/>
          <p:cNvSpPr/>
          <p:nvPr/>
        </p:nvSpPr>
        <p:spPr>
          <a:xfrm>
            <a:off x="768096" y="4005072"/>
            <a:ext cx="3108960"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Pré-processamento</a:t>
            </a:r>
            <a:endParaRPr lang="en-US" sz="1350" dirty="0"/>
          </a:p>
        </p:txBody>
      </p:sp>
      <p:sp>
        <p:nvSpPr>
          <p:cNvPr id="17" name="Text 15"/>
          <p:cNvSpPr/>
          <p:nvPr/>
        </p:nvSpPr>
        <p:spPr>
          <a:xfrm>
            <a:off x="11073384" y="3986784"/>
            <a:ext cx="365760" cy="292608"/>
          </a:xfrm>
          <a:prstGeom prst="rect">
            <a:avLst/>
          </a:prstGeom>
          <a:noFill/>
          <a:ln/>
        </p:spPr>
        <p:txBody>
          <a:bodyPr wrap="square" lIns="0" tIns="0" rIns="0" bIns="0" rtlCol="0" anchor="ctr"/>
          <a:lstStyle/>
          <a:p>
            <a:pPr marL="0" indent="0" algn="r">
              <a:buNone/>
            </a:pPr>
            <a:r>
              <a:rPr lang="en-US" sz="1600" b="1" dirty="0">
                <a:solidFill>
                  <a:srgbClr val="8A7B66"/>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768096" y="4297680"/>
            <a:ext cx="10652760" cy="420624"/>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Preparar os dados, que na maioria das vezes virão com informações faltantes, incompletas ou inconsistentes. Envolve limpeza, tratamento de ausências, integração de fontes, transformação e enriquecimento.</a:t>
            </a:r>
            <a:endParaRPr lang="en-US" sz="1200" dirty="0"/>
          </a:p>
        </p:txBody>
      </p:sp>
      <p:sp>
        <p:nvSpPr>
          <p:cNvPr id="19" name="Shape 17"/>
          <p:cNvSpPr/>
          <p:nvPr/>
        </p:nvSpPr>
        <p:spPr>
          <a:xfrm>
            <a:off x="566928" y="4828032"/>
            <a:ext cx="11055096" cy="877824"/>
          </a:xfrm>
          <a:prstGeom prst="roundRect">
            <a:avLst>
              <a:gd name="adj" fmla="val 6250"/>
            </a:avLst>
          </a:prstGeom>
          <a:solidFill>
            <a:srgbClr val="F7F8F8"/>
          </a:solidFill>
          <a:ln w="12700">
            <a:solidFill>
              <a:srgbClr val="F7F8F8"/>
            </a:solidFill>
            <a:prstDash val="solid"/>
          </a:ln>
        </p:spPr>
        <p:txBody>
          <a:bodyPr/>
          <a:lstStyle/>
          <a:p>
            <a:endParaRPr lang="pt-BR"/>
          </a:p>
        </p:txBody>
      </p:sp>
      <p:sp>
        <p:nvSpPr>
          <p:cNvPr id="20" name="Text 18"/>
          <p:cNvSpPr/>
          <p:nvPr/>
        </p:nvSpPr>
        <p:spPr>
          <a:xfrm>
            <a:off x="768096" y="4956048"/>
            <a:ext cx="3108960"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Modelagem e inferência</a:t>
            </a:r>
            <a:endParaRPr lang="en-US" sz="1350" dirty="0"/>
          </a:p>
        </p:txBody>
      </p:sp>
      <p:sp>
        <p:nvSpPr>
          <p:cNvPr id="21" name="Text 19"/>
          <p:cNvSpPr/>
          <p:nvPr/>
        </p:nvSpPr>
        <p:spPr>
          <a:xfrm>
            <a:off x="11073384" y="4937760"/>
            <a:ext cx="365760" cy="292608"/>
          </a:xfrm>
          <a:prstGeom prst="rect">
            <a:avLst/>
          </a:prstGeom>
          <a:noFill/>
          <a:ln/>
        </p:spPr>
        <p:txBody>
          <a:bodyPr wrap="square" lIns="0" tIns="0" rIns="0" bIns="0" rtlCol="0" anchor="ctr"/>
          <a:lstStyle/>
          <a:p>
            <a:pPr marL="0" indent="0" algn="r">
              <a:buNone/>
            </a:pPr>
            <a:r>
              <a:rPr lang="en-US" sz="1600" b="1" dirty="0">
                <a:solidFill>
                  <a:srgbClr val="8A7B66"/>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68096" y="5248656"/>
            <a:ext cx="10652760" cy="420624"/>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Construir o modelo de Machine Learning, escolher algoritmos, parametrizá-los e produzir estimativas. É a etapa mais visível do projeto e, geralmente, não a mais demorada.</a:t>
            </a:r>
            <a:endParaRPr lang="en-US" sz="1200" dirty="0"/>
          </a:p>
        </p:txBody>
      </p:sp>
      <p:sp>
        <p:nvSpPr>
          <p:cNvPr id="23" name="Shape 21"/>
          <p:cNvSpPr/>
          <p:nvPr/>
        </p:nvSpPr>
        <p:spPr>
          <a:xfrm>
            <a:off x="566928" y="5833872"/>
            <a:ext cx="11055096" cy="402336"/>
          </a:xfrm>
          <a:prstGeom prst="roundRect">
            <a:avLst>
              <a:gd name="adj" fmla="val 13636"/>
            </a:avLst>
          </a:prstGeom>
          <a:solidFill>
            <a:srgbClr val="F7F8F8"/>
          </a:solidFill>
          <a:ln w="12700">
            <a:solidFill>
              <a:srgbClr val="F7F8F8"/>
            </a:solidFill>
            <a:prstDash val="solid"/>
          </a:ln>
        </p:spPr>
        <p:txBody>
          <a:bodyPr/>
          <a:lstStyle/>
          <a:p>
            <a:endParaRPr lang="pt-BR"/>
          </a:p>
        </p:txBody>
      </p:sp>
      <p:sp>
        <p:nvSpPr>
          <p:cNvPr id="24" name="Text 22"/>
          <p:cNvSpPr/>
          <p:nvPr/>
        </p:nvSpPr>
        <p:spPr>
          <a:xfrm>
            <a:off x="768096" y="5980176"/>
            <a:ext cx="10652760" cy="109728"/>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Etapas 2 e 3 costumam consumir a maior parte do tempo do projeto, ainda que ocupem a menor parte das apresentações de resultado.</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5 · 5.3</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Etapas 5 a 7: do modelo ao valor</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As três últimas etapas decidem se o trabalho técnico se converte em resultado para a organização. São também as mais frequentemente subestimadas em projetos acadêmicos.</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32</a:t>
            </a:r>
            <a:endParaRPr lang="en-US" sz="900" dirty="0"/>
          </a:p>
        </p:txBody>
      </p:sp>
      <p:sp>
        <p:nvSpPr>
          <p:cNvPr id="7" name="Shape 5"/>
          <p:cNvSpPr/>
          <p:nvPr/>
        </p:nvSpPr>
        <p:spPr>
          <a:xfrm>
            <a:off x="566928" y="2048256"/>
            <a:ext cx="11055096" cy="1005840"/>
          </a:xfrm>
          <a:prstGeom prst="roundRect">
            <a:avLst>
              <a:gd name="adj" fmla="val 5455"/>
            </a:avLst>
          </a:prstGeom>
          <a:solidFill>
            <a:srgbClr val="F0F1F2"/>
          </a:solidFill>
          <a:ln w="12700">
            <a:solidFill>
              <a:srgbClr val="F0F1F2"/>
            </a:solidFill>
            <a:prstDash val="solid"/>
          </a:ln>
        </p:spPr>
        <p:txBody>
          <a:bodyPr/>
          <a:lstStyle/>
          <a:p>
            <a:endParaRPr lang="pt-BR"/>
          </a:p>
        </p:txBody>
      </p:sp>
      <p:sp>
        <p:nvSpPr>
          <p:cNvPr id="8" name="Text 6"/>
          <p:cNvSpPr/>
          <p:nvPr/>
        </p:nvSpPr>
        <p:spPr>
          <a:xfrm>
            <a:off x="768096" y="2176272"/>
            <a:ext cx="3840480"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Pós-processamento</a:t>
            </a:r>
            <a:endParaRPr lang="en-US" sz="1350" dirty="0"/>
          </a:p>
        </p:txBody>
      </p:sp>
      <p:sp>
        <p:nvSpPr>
          <p:cNvPr id="9" name="Text 7"/>
          <p:cNvSpPr/>
          <p:nvPr/>
        </p:nvSpPr>
        <p:spPr>
          <a:xfrm>
            <a:off x="11073384" y="2157984"/>
            <a:ext cx="365760" cy="292608"/>
          </a:xfrm>
          <a:prstGeom prst="rect">
            <a:avLst/>
          </a:prstGeom>
          <a:noFill/>
          <a:ln/>
        </p:spPr>
        <p:txBody>
          <a:bodyPr wrap="square" lIns="0" tIns="0" rIns="0" bIns="0" rtlCol="0" anchor="ctr"/>
          <a:lstStyle/>
          <a:p>
            <a:pPr marL="0" indent="0" algn="r">
              <a:buNone/>
            </a:pPr>
            <a:r>
              <a:rPr lang="en-US" sz="1600" b="1" dirty="0">
                <a:solidFill>
                  <a:srgbClr val="8A7B66"/>
                </a:solidFill>
                <a:latin typeface="Cambria" pitchFamily="34" charset="0"/>
                <a:ea typeface="Cambria" pitchFamily="34" charset="-122"/>
                <a:cs typeface="Cambria" pitchFamily="34" charset="-120"/>
              </a:rPr>
              <a:t>5</a:t>
            </a:r>
            <a:endParaRPr lang="en-US" sz="1600" dirty="0"/>
          </a:p>
        </p:txBody>
      </p:sp>
      <p:sp>
        <p:nvSpPr>
          <p:cNvPr id="10" name="Text 8"/>
          <p:cNvSpPr/>
          <p:nvPr/>
        </p:nvSpPr>
        <p:spPr>
          <a:xfrm>
            <a:off x="768096" y="2505456"/>
            <a:ext cx="10652760" cy="475488"/>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Avaliar e criticar o modelo construído: verificar desempenho em dados não vistos, examinar erros, testar robustez e decidir se é necessário voltar à coleta, à preparação ou à modelagem com estratégias diferentes.</a:t>
            </a:r>
            <a:endParaRPr lang="en-US" sz="1200" dirty="0"/>
          </a:p>
        </p:txBody>
      </p:sp>
      <p:sp>
        <p:nvSpPr>
          <p:cNvPr id="11" name="Shape 9"/>
          <p:cNvSpPr/>
          <p:nvPr/>
        </p:nvSpPr>
        <p:spPr>
          <a:xfrm>
            <a:off x="566928" y="3127248"/>
            <a:ext cx="11055096" cy="1005840"/>
          </a:xfrm>
          <a:prstGeom prst="roundRect">
            <a:avLst>
              <a:gd name="adj" fmla="val 5455"/>
            </a:avLst>
          </a:prstGeom>
          <a:solidFill>
            <a:srgbClr val="F7F8F8"/>
          </a:solidFill>
          <a:ln w="12700">
            <a:solidFill>
              <a:srgbClr val="F7F8F8"/>
            </a:solidFill>
            <a:prstDash val="solid"/>
          </a:ln>
        </p:spPr>
        <p:txBody>
          <a:bodyPr/>
          <a:lstStyle/>
          <a:p>
            <a:endParaRPr lang="pt-BR"/>
          </a:p>
        </p:txBody>
      </p:sp>
      <p:sp>
        <p:nvSpPr>
          <p:cNvPr id="12" name="Text 10"/>
          <p:cNvSpPr/>
          <p:nvPr/>
        </p:nvSpPr>
        <p:spPr>
          <a:xfrm>
            <a:off x="768096" y="3255264"/>
            <a:ext cx="3840480"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Apresentação dos resultados</a:t>
            </a:r>
            <a:endParaRPr lang="en-US" sz="1350" dirty="0"/>
          </a:p>
        </p:txBody>
      </p:sp>
      <p:sp>
        <p:nvSpPr>
          <p:cNvPr id="13" name="Text 11"/>
          <p:cNvSpPr/>
          <p:nvPr/>
        </p:nvSpPr>
        <p:spPr>
          <a:xfrm>
            <a:off x="11073384" y="3236976"/>
            <a:ext cx="365760" cy="292608"/>
          </a:xfrm>
          <a:prstGeom prst="rect">
            <a:avLst/>
          </a:prstGeom>
          <a:noFill/>
          <a:ln/>
        </p:spPr>
        <p:txBody>
          <a:bodyPr wrap="square" lIns="0" tIns="0" rIns="0" bIns="0" rtlCol="0" anchor="ctr"/>
          <a:lstStyle/>
          <a:p>
            <a:pPr marL="0" indent="0" algn="r">
              <a:buNone/>
            </a:pPr>
            <a:r>
              <a:rPr lang="en-US" sz="1600" b="1" dirty="0">
                <a:solidFill>
                  <a:srgbClr val="8A7B66"/>
                </a:solidFill>
                <a:latin typeface="Cambria" pitchFamily="34" charset="0"/>
                <a:ea typeface="Cambria" pitchFamily="34" charset="-122"/>
                <a:cs typeface="Cambria" pitchFamily="34" charset="-120"/>
              </a:rPr>
              <a:t>6</a:t>
            </a:r>
            <a:endParaRPr lang="en-US" sz="1600" dirty="0"/>
          </a:p>
        </p:txBody>
      </p:sp>
      <p:sp>
        <p:nvSpPr>
          <p:cNvPr id="14" name="Text 12"/>
          <p:cNvSpPr/>
          <p:nvPr/>
        </p:nvSpPr>
        <p:spPr>
          <a:xfrm>
            <a:off x="768096" y="3584448"/>
            <a:ext cx="10652760" cy="475488"/>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Comunicar as conclusões ao demandante, em linguagem e formato adequados a quem decide. Um resultado correto e incompreendido não gera decisão — e, portanto, não gera valor.</a:t>
            </a:r>
            <a:endParaRPr lang="en-US" sz="1200" dirty="0"/>
          </a:p>
        </p:txBody>
      </p:sp>
      <p:sp>
        <p:nvSpPr>
          <p:cNvPr id="15" name="Shape 13"/>
          <p:cNvSpPr/>
          <p:nvPr/>
        </p:nvSpPr>
        <p:spPr>
          <a:xfrm>
            <a:off x="566928" y="4206240"/>
            <a:ext cx="11055096" cy="1005840"/>
          </a:xfrm>
          <a:prstGeom prst="roundRect">
            <a:avLst>
              <a:gd name="adj" fmla="val 5455"/>
            </a:avLst>
          </a:prstGeom>
          <a:solidFill>
            <a:srgbClr val="F0F1F2"/>
          </a:solidFill>
          <a:ln w="12700">
            <a:solidFill>
              <a:srgbClr val="F0F1F2"/>
            </a:solidFill>
            <a:prstDash val="solid"/>
          </a:ln>
        </p:spPr>
        <p:txBody>
          <a:bodyPr/>
          <a:lstStyle/>
          <a:p>
            <a:endParaRPr lang="pt-BR"/>
          </a:p>
        </p:txBody>
      </p:sp>
      <p:sp>
        <p:nvSpPr>
          <p:cNvPr id="16" name="Text 14"/>
          <p:cNvSpPr/>
          <p:nvPr/>
        </p:nvSpPr>
        <p:spPr>
          <a:xfrm>
            <a:off x="768096" y="4334256"/>
            <a:ext cx="3840480"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Implantação e geração de valor</a:t>
            </a:r>
            <a:endParaRPr lang="en-US" sz="1350" dirty="0"/>
          </a:p>
        </p:txBody>
      </p:sp>
      <p:sp>
        <p:nvSpPr>
          <p:cNvPr id="17" name="Text 15"/>
          <p:cNvSpPr/>
          <p:nvPr/>
        </p:nvSpPr>
        <p:spPr>
          <a:xfrm>
            <a:off x="11073384" y="4315968"/>
            <a:ext cx="365760" cy="292608"/>
          </a:xfrm>
          <a:prstGeom prst="rect">
            <a:avLst/>
          </a:prstGeom>
          <a:noFill/>
          <a:ln/>
        </p:spPr>
        <p:txBody>
          <a:bodyPr wrap="square" lIns="0" tIns="0" rIns="0" bIns="0" rtlCol="0" anchor="ctr"/>
          <a:lstStyle/>
          <a:p>
            <a:pPr marL="0" indent="0" algn="r">
              <a:buNone/>
            </a:pPr>
            <a:r>
              <a:rPr lang="en-US" sz="1600" b="1" dirty="0">
                <a:solidFill>
                  <a:srgbClr val="8A7B66"/>
                </a:solidFill>
                <a:latin typeface="Cambria" pitchFamily="34" charset="0"/>
                <a:ea typeface="Cambria" pitchFamily="34" charset="-122"/>
                <a:cs typeface="Cambria" pitchFamily="34" charset="-120"/>
              </a:rPr>
              <a:t>7</a:t>
            </a:r>
            <a:endParaRPr lang="en-US" sz="1600" dirty="0"/>
          </a:p>
        </p:txBody>
      </p:sp>
      <p:sp>
        <p:nvSpPr>
          <p:cNvPr id="18" name="Text 16"/>
          <p:cNvSpPr/>
          <p:nvPr/>
        </p:nvSpPr>
        <p:spPr>
          <a:xfrm>
            <a:off x="768096" y="4663440"/>
            <a:ext cx="10652760" cy="475488"/>
          </a:xfrm>
          <a:prstGeom prst="rect">
            <a:avLst/>
          </a:prstGeom>
          <a:noFill/>
          <a:ln/>
        </p:spPr>
        <p:txBody>
          <a:bodyPr wrap="square" lIns="0" tIns="0" rIns="0" bIns="0" rtlCol="0" anchor="t"/>
          <a:lstStyle/>
          <a:p>
            <a:pPr marL="0" indent="0">
              <a:lnSpc>
                <a:spcPct val="105000"/>
              </a:lnSpc>
              <a:buNone/>
            </a:pPr>
            <a:r>
              <a:rPr lang="en-US" sz="1200" dirty="0">
                <a:solidFill>
                  <a:srgbClr val="4C555C"/>
                </a:solidFill>
                <a:latin typeface="Calibri" pitchFamily="34" charset="0"/>
                <a:ea typeface="Calibri" pitchFamily="34" charset="-122"/>
                <a:cs typeface="Calibri" pitchFamily="34" charset="-120"/>
              </a:rPr>
              <a:t>Distribuir o modelo em ambiente produtivo e monitorá-lo periodicamente, verificando se continua com bom desempenho e gerando bons resultados ao longo do tempo.</a:t>
            </a:r>
            <a:endParaRPr lang="en-US" sz="1200" dirty="0"/>
          </a:p>
        </p:txBody>
      </p:sp>
      <p:sp>
        <p:nvSpPr>
          <p:cNvPr id="19" name="Shape 17"/>
          <p:cNvSpPr/>
          <p:nvPr/>
        </p:nvSpPr>
        <p:spPr>
          <a:xfrm>
            <a:off x="566928" y="5321808"/>
            <a:ext cx="5394960" cy="914400"/>
          </a:xfrm>
          <a:prstGeom prst="roundRect">
            <a:avLst>
              <a:gd name="adj" fmla="val 6000"/>
            </a:avLst>
          </a:prstGeom>
          <a:solidFill>
            <a:srgbClr val="23272A"/>
          </a:solidFill>
          <a:ln w="12700">
            <a:solidFill>
              <a:srgbClr val="23272A"/>
            </a:solidFill>
            <a:prstDash val="solid"/>
          </a:ln>
        </p:spPr>
        <p:txBody>
          <a:bodyPr/>
          <a:lstStyle/>
          <a:p>
            <a:endParaRPr lang="pt-BR"/>
          </a:p>
        </p:txBody>
      </p:sp>
      <p:sp>
        <p:nvSpPr>
          <p:cNvPr id="20" name="Text 18"/>
          <p:cNvSpPr/>
          <p:nvPr/>
        </p:nvSpPr>
        <p:spPr>
          <a:xfrm>
            <a:off x="768096" y="5468112"/>
            <a:ext cx="4992624" cy="292608"/>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O critério final</a:t>
            </a:r>
            <a:endParaRPr lang="en-US" sz="1300" dirty="0"/>
          </a:p>
        </p:txBody>
      </p:sp>
      <p:sp>
        <p:nvSpPr>
          <p:cNvPr id="21" name="Text 19"/>
          <p:cNvSpPr/>
          <p:nvPr/>
        </p:nvSpPr>
        <p:spPr>
          <a:xfrm>
            <a:off x="768096" y="5815584"/>
            <a:ext cx="4992624" cy="274320"/>
          </a:xfrm>
          <a:prstGeom prst="rect">
            <a:avLst/>
          </a:prstGeom>
          <a:noFill/>
          <a:ln/>
        </p:spPr>
        <p:txBody>
          <a:bodyPr wrap="square" lIns="0" tIns="0" rIns="0" bIns="0" rtlCol="0" anchor="t"/>
          <a:lstStyle/>
          <a:p>
            <a:pPr marL="0" indent="0">
              <a:lnSpc>
                <a:spcPct val="108000"/>
              </a:lnSpc>
              <a:buNone/>
            </a:pPr>
            <a:r>
              <a:rPr lang="en-US" sz="1200" dirty="0">
                <a:solidFill>
                  <a:srgbClr val="D9DCDE"/>
                </a:solidFill>
                <a:latin typeface="Calibri" pitchFamily="34" charset="0"/>
                <a:ea typeface="Calibri" pitchFamily="34" charset="-122"/>
                <a:cs typeface="Calibri" pitchFamily="34" charset="-120"/>
              </a:rPr>
              <a:t>O projeto não se encerra com o modelo pronto, e sim quando a decisão apoiada por ele produz efeito mensurável.</a:t>
            </a:r>
            <a:endParaRPr lang="en-US" sz="1200" dirty="0"/>
          </a:p>
        </p:txBody>
      </p:sp>
      <p:sp>
        <p:nvSpPr>
          <p:cNvPr id="22" name="Shape 20"/>
          <p:cNvSpPr/>
          <p:nvPr/>
        </p:nvSpPr>
        <p:spPr>
          <a:xfrm>
            <a:off x="6227064" y="5321808"/>
            <a:ext cx="5394960" cy="914400"/>
          </a:xfrm>
          <a:prstGeom prst="roundRect">
            <a:avLst>
              <a:gd name="adj" fmla="val 6000"/>
            </a:avLst>
          </a:prstGeom>
          <a:solidFill>
            <a:srgbClr val="F0F1F2"/>
          </a:solidFill>
          <a:ln w="12700">
            <a:solidFill>
              <a:srgbClr val="F0F1F2"/>
            </a:solidFill>
            <a:prstDash val="solid"/>
          </a:ln>
        </p:spPr>
        <p:txBody>
          <a:bodyPr/>
          <a:lstStyle/>
          <a:p>
            <a:endParaRPr lang="pt-BR"/>
          </a:p>
        </p:txBody>
      </p:sp>
      <p:sp>
        <p:nvSpPr>
          <p:cNvPr id="23" name="Text 21"/>
          <p:cNvSpPr/>
          <p:nvPr/>
        </p:nvSpPr>
        <p:spPr>
          <a:xfrm>
            <a:off x="6428232" y="5468112"/>
            <a:ext cx="4992624" cy="292608"/>
          </a:xfrm>
          <a:prstGeom prst="rect">
            <a:avLst/>
          </a:prstGeom>
          <a:noFill/>
          <a:ln/>
        </p:spPr>
        <p:txBody>
          <a:bodyPr wrap="square" lIns="0" tIns="0" rIns="0" bIns="0" rtlCol="0" anchor="ctr"/>
          <a:lstStyle/>
          <a:p>
            <a:pPr marL="0" indent="0">
              <a:buNone/>
            </a:pPr>
            <a:r>
              <a:rPr lang="en-US" sz="1300" b="1" dirty="0">
                <a:solidFill>
                  <a:srgbClr val="23272A"/>
                </a:solidFill>
                <a:latin typeface="Calibri" pitchFamily="34" charset="0"/>
                <a:ea typeface="Calibri" pitchFamily="34" charset="-122"/>
                <a:cs typeface="Calibri" pitchFamily="34" charset="-120"/>
              </a:rPr>
              <a:t>Risco típico</a:t>
            </a:r>
            <a:endParaRPr lang="en-US" sz="1300" dirty="0"/>
          </a:p>
        </p:txBody>
      </p:sp>
      <p:sp>
        <p:nvSpPr>
          <p:cNvPr id="24" name="Text 22"/>
          <p:cNvSpPr/>
          <p:nvPr/>
        </p:nvSpPr>
        <p:spPr>
          <a:xfrm>
            <a:off x="6428232" y="5815584"/>
            <a:ext cx="4992624" cy="27432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Modelos que nunca saem do ambiente de análise: tecnicamente corretos, operacionalmente inexistentes.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UNIDADE 5 · 5.4</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O papel do ser humano na ciência de dados</a:t>
            </a:r>
            <a:endParaRPr lang="en-US" sz="2800" dirty="0"/>
          </a:p>
        </p:txBody>
      </p:sp>
      <p:sp>
        <p:nvSpPr>
          <p:cNvPr id="4" name="Text 2"/>
          <p:cNvSpPr/>
          <p:nvPr/>
        </p:nvSpPr>
        <p:spPr>
          <a:xfrm>
            <a:off x="566928" y="1371600"/>
            <a:ext cx="11055096" cy="384048"/>
          </a:xfrm>
          <a:prstGeom prst="rect">
            <a:avLst/>
          </a:prstGeom>
          <a:noFill/>
          <a:ln/>
        </p:spPr>
        <p:txBody>
          <a:bodyPr wrap="square" lIns="0" tIns="0" rIns="0" bIns="0" rtlCol="0" anchor="t"/>
          <a:lstStyle/>
          <a:p>
            <a:pPr marL="0" indent="0">
              <a:lnSpc>
                <a:spcPct val="110000"/>
              </a:lnSpc>
              <a:buNone/>
            </a:pPr>
            <a:r>
              <a:rPr lang="en-US" sz="1350" dirty="0">
                <a:solidFill>
                  <a:srgbClr val="6F7880"/>
                </a:solidFill>
                <a:latin typeface="Calibri" pitchFamily="34" charset="0"/>
                <a:ea typeface="Calibri" pitchFamily="34" charset="-122"/>
                <a:cs typeface="Calibri" pitchFamily="34" charset="-120"/>
              </a:rPr>
              <a:t>Por mais que se fale em Machine Learning e inteligência artificial, o papel do ser humano é fundamental na formulação dos objetivos, na escolha de técnicas de pré-processamento e de algoritmos e na parametrização desses algoritmos para a construção dos modelos.</a:t>
            </a:r>
            <a:endParaRPr lang="en-US" sz="1350" dirty="0"/>
          </a:p>
        </p:txBody>
      </p:sp>
      <p:sp>
        <p:nvSpPr>
          <p:cNvPr id="5" name="Text 3"/>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6" name="Text 4"/>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33</a:t>
            </a:r>
            <a:endParaRPr lang="en-US" sz="900" dirty="0"/>
          </a:p>
        </p:txBody>
      </p:sp>
      <p:sp>
        <p:nvSpPr>
          <p:cNvPr id="7" name="Shape 5"/>
          <p:cNvSpPr/>
          <p:nvPr/>
        </p:nvSpPr>
        <p:spPr>
          <a:xfrm>
            <a:off x="566928" y="2194560"/>
            <a:ext cx="5394960" cy="1005840"/>
          </a:xfrm>
          <a:prstGeom prst="roundRect">
            <a:avLst>
              <a:gd name="adj" fmla="val 5455"/>
            </a:avLst>
          </a:prstGeom>
          <a:solidFill>
            <a:srgbClr val="F0F1F2"/>
          </a:solidFill>
          <a:ln w="12700">
            <a:solidFill>
              <a:srgbClr val="F0F1F2"/>
            </a:solidFill>
            <a:prstDash val="solid"/>
          </a:ln>
        </p:spPr>
        <p:txBody>
          <a:bodyPr/>
          <a:lstStyle/>
          <a:p>
            <a:endParaRPr lang="pt-BR"/>
          </a:p>
        </p:txBody>
      </p:sp>
      <p:sp>
        <p:nvSpPr>
          <p:cNvPr id="8" name="Text 6"/>
          <p:cNvSpPr/>
          <p:nvPr/>
        </p:nvSpPr>
        <p:spPr>
          <a:xfrm>
            <a:off x="768096" y="2340864"/>
            <a:ext cx="499262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Formular a meta</a:t>
            </a:r>
            <a:endParaRPr lang="en-US" sz="1350" dirty="0"/>
          </a:p>
        </p:txBody>
      </p:sp>
      <p:sp>
        <p:nvSpPr>
          <p:cNvPr id="9" name="Text 7"/>
          <p:cNvSpPr/>
          <p:nvPr/>
        </p:nvSpPr>
        <p:spPr>
          <a:xfrm>
            <a:off x="768096" y="2688336"/>
            <a:ext cx="4992624" cy="36576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Decidir qual pergunta merece ser respondida e o que constituirá uma resposta aceitável.</a:t>
            </a:r>
            <a:endParaRPr lang="en-US" sz="1200" dirty="0"/>
          </a:p>
        </p:txBody>
      </p:sp>
      <p:sp>
        <p:nvSpPr>
          <p:cNvPr id="10" name="Shape 8"/>
          <p:cNvSpPr/>
          <p:nvPr/>
        </p:nvSpPr>
        <p:spPr>
          <a:xfrm>
            <a:off x="6227064" y="2194560"/>
            <a:ext cx="5394960" cy="1005840"/>
          </a:xfrm>
          <a:prstGeom prst="roundRect">
            <a:avLst>
              <a:gd name="adj" fmla="val 5455"/>
            </a:avLst>
          </a:prstGeom>
          <a:solidFill>
            <a:srgbClr val="F7F8F8"/>
          </a:solidFill>
          <a:ln w="12700">
            <a:solidFill>
              <a:srgbClr val="F7F8F8"/>
            </a:solidFill>
            <a:prstDash val="solid"/>
          </a:ln>
        </p:spPr>
        <p:txBody>
          <a:bodyPr/>
          <a:lstStyle/>
          <a:p>
            <a:endParaRPr lang="pt-BR"/>
          </a:p>
        </p:txBody>
      </p:sp>
      <p:sp>
        <p:nvSpPr>
          <p:cNvPr id="11" name="Text 9"/>
          <p:cNvSpPr/>
          <p:nvPr/>
        </p:nvSpPr>
        <p:spPr>
          <a:xfrm>
            <a:off x="6428232" y="2340864"/>
            <a:ext cx="499262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Escolher e preparar</a:t>
            </a:r>
            <a:endParaRPr lang="en-US" sz="1350" dirty="0"/>
          </a:p>
        </p:txBody>
      </p:sp>
      <p:sp>
        <p:nvSpPr>
          <p:cNvPr id="12" name="Text 10"/>
          <p:cNvSpPr/>
          <p:nvPr/>
        </p:nvSpPr>
        <p:spPr>
          <a:xfrm>
            <a:off x="6428232" y="2688336"/>
            <a:ext cx="4992624" cy="36576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Selecionar fontes, definir tratamento dos dados e escolher as técnicas adequadas ao problema.</a:t>
            </a:r>
            <a:endParaRPr lang="en-US" sz="1200" dirty="0"/>
          </a:p>
        </p:txBody>
      </p:sp>
      <p:sp>
        <p:nvSpPr>
          <p:cNvPr id="13" name="Shape 11"/>
          <p:cNvSpPr/>
          <p:nvPr/>
        </p:nvSpPr>
        <p:spPr>
          <a:xfrm>
            <a:off x="566928" y="3383280"/>
            <a:ext cx="5394960" cy="1005840"/>
          </a:xfrm>
          <a:prstGeom prst="roundRect">
            <a:avLst>
              <a:gd name="adj" fmla="val 5455"/>
            </a:avLst>
          </a:prstGeom>
          <a:solidFill>
            <a:srgbClr val="F0F1F2"/>
          </a:solidFill>
          <a:ln w="12700">
            <a:solidFill>
              <a:srgbClr val="F0F1F2"/>
            </a:solidFill>
            <a:prstDash val="solid"/>
          </a:ln>
        </p:spPr>
        <p:txBody>
          <a:bodyPr/>
          <a:lstStyle/>
          <a:p>
            <a:endParaRPr lang="pt-BR"/>
          </a:p>
        </p:txBody>
      </p:sp>
      <p:sp>
        <p:nvSpPr>
          <p:cNvPr id="14" name="Text 12"/>
          <p:cNvSpPr/>
          <p:nvPr/>
        </p:nvSpPr>
        <p:spPr>
          <a:xfrm>
            <a:off x="768096" y="3529584"/>
            <a:ext cx="499262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Parametrizar e ajustar</a:t>
            </a:r>
            <a:endParaRPr lang="en-US" sz="1350" dirty="0"/>
          </a:p>
        </p:txBody>
      </p:sp>
      <p:sp>
        <p:nvSpPr>
          <p:cNvPr id="15" name="Text 13"/>
          <p:cNvSpPr/>
          <p:nvPr/>
        </p:nvSpPr>
        <p:spPr>
          <a:xfrm>
            <a:off x="768096" y="3877056"/>
            <a:ext cx="4992624" cy="36576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Configurar os algoritmos e decidir os compromissos entre precisão, custo e interpretabilidade.</a:t>
            </a:r>
            <a:endParaRPr lang="en-US" sz="1200" dirty="0"/>
          </a:p>
        </p:txBody>
      </p:sp>
      <p:sp>
        <p:nvSpPr>
          <p:cNvPr id="16" name="Shape 14"/>
          <p:cNvSpPr/>
          <p:nvPr/>
        </p:nvSpPr>
        <p:spPr>
          <a:xfrm>
            <a:off x="6227064" y="3383280"/>
            <a:ext cx="5394960" cy="1005840"/>
          </a:xfrm>
          <a:prstGeom prst="roundRect">
            <a:avLst>
              <a:gd name="adj" fmla="val 5455"/>
            </a:avLst>
          </a:prstGeom>
          <a:solidFill>
            <a:srgbClr val="F7F8F8"/>
          </a:solidFill>
          <a:ln w="12700">
            <a:solidFill>
              <a:srgbClr val="F7F8F8"/>
            </a:solidFill>
            <a:prstDash val="solid"/>
          </a:ln>
        </p:spPr>
        <p:txBody>
          <a:bodyPr/>
          <a:lstStyle/>
          <a:p>
            <a:endParaRPr lang="pt-BR"/>
          </a:p>
        </p:txBody>
      </p:sp>
      <p:sp>
        <p:nvSpPr>
          <p:cNvPr id="17" name="Text 15"/>
          <p:cNvSpPr/>
          <p:nvPr/>
        </p:nvSpPr>
        <p:spPr>
          <a:xfrm>
            <a:off x="6428232" y="3529584"/>
            <a:ext cx="499262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Interpretar e apresentar</a:t>
            </a:r>
            <a:endParaRPr lang="en-US" sz="1350" dirty="0"/>
          </a:p>
        </p:txBody>
      </p:sp>
      <p:sp>
        <p:nvSpPr>
          <p:cNvPr id="18" name="Text 16"/>
          <p:cNvSpPr/>
          <p:nvPr/>
        </p:nvSpPr>
        <p:spPr>
          <a:xfrm>
            <a:off x="6428232" y="3877056"/>
            <a:ext cx="4992624" cy="36576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Ler os resultados à luz do domínio, avaliar plausibilidade e comunicar as conclusões a quem decide.</a:t>
            </a:r>
            <a:endParaRPr lang="en-US" sz="1200" dirty="0"/>
          </a:p>
        </p:txBody>
      </p:sp>
      <p:sp>
        <p:nvSpPr>
          <p:cNvPr id="19" name="Shape 17"/>
          <p:cNvSpPr/>
          <p:nvPr/>
        </p:nvSpPr>
        <p:spPr>
          <a:xfrm>
            <a:off x="566928" y="4700016"/>
            <a:ext cx="11055096" cy="1093851"/>
          </a:xfrm>
          <a:prstGeom prst="roundRect">
            <a:avLst>
              <a:gd name="adj" fmla="val 5016"/>
            </a:avLst>
          </a:prstGeom>
          <a:solidFill>
            <a:srgbClr val="23272A"/>
          </a:solidFill>
          <a:ln w="12700">
            <a:solidFill>
              <a:srgbClr val="23272A"/>
            </a:solidFill>
            <a:prstDash val="solid"/>
          </a:ln>
        </p:spPr>
        <p:txBody>
          <a:bodyPr/>
          <a:lstStyle/>
          <a:p>
            <a:endParaRPr lang="pt-BR"/>
          </a:p>
        </p:txBody>
      </p:sp>
      <p:sp>
        <p:nvSpPr>
          <p:cNvPr id="20" name="Text 18"/>
          <p:cNvSpPr/>
          <p:nvPr/>
        </p:nvSpPr>
        <p:spPr>
          <a:xfrm>
            <a:off x="768096" y="4828032"/>
            <a:ext cx="10652760" cy="256032"/>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Orientação do material de referência</a:t>
            </a:r>
            <a:endParaRPr lang="en-US" sz="1300" dirty="0"/>
          </a:p>
        </p:txBody>
      </p:sp>
      <p:sp>
        <p:nvSpPr>
          <p:cNvPr id="21" name="Text 19"/>
          <p:cNvSpPr/>
          <p:nvPr/>
        </p:nvSpPr>
        <p:spPr>
          <a:xfrm>
            <a:off x="768096" y="5120640"/>
            <a:ext cx="10652760" cy="618363"/>
          </a:xfrm>
          <a:prstGeom prst="rect">
            <a:avLst/>
          </a:prstGeom>
          <a:noFill/>
          <a:ln/>
        </p:spPr>
        <p:txBody>
          <a:bodyPr wrap="square" lIns="0" tIns="0" rIns="0" bIns="0" rtlCol="0" anchor="t"/>
          <a:lstStyle/>
          <a:p>
            <a:pPr marL="0" indent="0">
              <a:lnSpc>
                <a:spcPct val="108000"/>
              </a:lnSpc>
              <a:buNone/>
            </a:pPr>
            <a:r>
              <a:rPr lang="en-US" sz="1250" dirty="0">
                <a:solidFill>
                  <a:srgbClr val="D9DCDE"/>
                </a:solidFill>
                <a:latin typeface="Calibri" pitchFamily="34" charset="0"/>
                <a:ea typeface="Calibri" pitchFamily="34" charset="-122"/>
                <a:cs typeface="Calibri" pitchFamily="34" charset="-120"/>
              </a:rPr>
              <a:t>Deve-se sempre usar experiência, conhecimento e intuição para tomar as melhores decisões, bem como o método científico, a fim de garantir a confiabilidade dos resultados obtidos. A automação amplia a capacidade de análise; não substitui o julgamento sobre o que analisar e por quê.</a:t>
            </a:r>
            <a:endParaRPr lang="en-US" sz="1250" dirty="0"/>
          </a:p>
        </p:txBody>
      </p:sp>
      <p:sp>
        <p:nvSpPr>
          <p:cNvPr id="22" name="Shape 20"/>
          <p:cNvSpPr/>
          <p:nvPr/>
        </p:nvSpPr>
        <p:spPr>
          <a:xfrm>
            <a:off x="566928" y="5742432"/>
            <a:ext cx="11055096" cy="457200"/>
          </a:xfrm>
          <a:prstGeom prst="roundRect">
            <a:avLst>
              <a:gd name="adj" fmla="val 12000"/>
            </a:avLst>
          </a:prstGeom>
          <a:solidFill>
            <a:srgbClr val="F7F8F8"/>
          </a:solidFill>
          <a:ln w="12700">
            <a:solidFill>
              <a:srgbClr val="F7F8F8"/>
            </a:solidFill>
            <a:prstDash val="solid"/>
          </a:ln>
        </p:spPr>
        <p:txBody>
          <a:bodyPr/>
          <a:lstStyle/>
          <a:p>
            <a:endParaRPr lang="pt-BR"/>
          </a:p>
        </p:txBody>
      </p:sp>
      <p:sp>
        <p:nvSpPr>
          <p:cNvPr id="23" name="Text 21"/>
          <p:cNvSpPr/>
          <p:nvPr/>
        </p:nvSpPr>
        <p:spPr>
          <a:xfrm>
            <a:off x="768096" y="5888736"/>
            <a:ext cx="10652760" cy="164592"/>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Para reflexão: em sua experiência profissional, as organizações enxergam os próprios dados como ativos e os utilizam adequadamente para a tomada de decisão — isto é, são empresas data driven?</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3272A"/>
        </a:solidFill>
        <a:effectLst/>
      </p:bgPr>
    </p:bg>
    <p:spTree>
      <p:nvGrpSpPr>
        <p:cNvPr id="1" name=""/>
        <p:cNvGrpSpPr/>
        <p:nvPr/>
      </p:nvGrpSpPr>
      <p:grpSpPr>
        <a:xfrm>
          <a:off x="0" y="0"/>
          <a:ext cx="0" cy="0"/>
          <a:chOff x="0" y="0"/>
          <a:chExt cx="0" cy="0"/>
        </a:xfrm>
      </p:grpSpPr>
      <p:sp>
        <p:nvSpPr>
          <p:cNvPr id="2" name="Text 0"/>
          <p:cNvSpPr/>
          <p:nvPr/>
        </p:nvSpPr>
        <p:spPr>
          <a:xfrm>
            <a:off x="566928" y="548640"/>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SÍNTESE DA AULA</a:t>
            </a:r>
            <a:endParaRPr lang="en-US" sz="1050" dirty="0"/>
          </a:p>
        </p:txBody>
      </p:sp>
      <p:sp>
        <p:nvSpPr>
          <p:cNvPr id="3" name="Text 1"/>
          <p:cNvSpPr/>
          <p:nvPr/>
        </p:nvSpPr>
        <p:spPr>
          <a:xfrm>
            <a:off x="566928" y="822960"/>
            <a:ext cx="11055096"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Conclusão</a:t>
            </a:r>
            <a:endParaRPr lang="en-US" sz="3400" dirty="0"/>
          </a:p>
        </p:txBody>
      </p:sp>
      <p:sp>
        <p:nvSpPr>
          <p:cNvPr id="4" name="Text 2"/>
          <p:cNvSpPr/>
          <p:nvPr/>
        </p:nvSpPr>
        <p:spPr>
          <a:xfrm>
            <a:off x="566928" y="1572768"/>
            <a:ext cx="11055096" cy="868680"/>
          </a:xfrm>
          <a:prstGeom prst="rect">
            <a:avLst/>
          </a:prstGeom>
          <a:noFill/>
          <a:ln/>
        </p:spPr>
        <p:txBody>
          <a:bodyPr wrap="square" lIns="0" tIns="0" rIns="0" bIns="0" rtlCol="0" anchor="t"/>
          <a:lstStyle/>
          <a:p>
            <a:pPr marL="0" indent="0">
              <a:lnSpc>
                <a:spcPct val="110000"/>
              </a:lnSpc>
              <a:buNone/>
            </a:pPr>
            <a:r>
              <a:rPr lang="en-US" sz="1300" dirty="0">
                <a:solidFill>
                  <a:srgbClr val="D9DCDE"/>
                </a:solidFill>
                <a:latin typeface="Calibri" pitchFamily="34" charset="0"/>
                <a:ea typeface="Calibri" pitchFamily="34" charset="-122"/>
                <a:cs typeface="Calibri" pitchFamily="34" charset="-120"/>
              </a:rPr>
              <a:t>Nesta primeira aula percorremos o percurso completo do campo: o cenário de crescimento exponencial das bases de dados, o vocabulário que separa Big Data, inteligência artificial, mineração de dados, aprendizado de máquina e ciência de dados, o processo de descoberta de conhecimento, a matéria-prima e seus repositórios, as quatro famílias de problema de aprendizado e o ciclo de sete etapas que organiza um projeto do problema à geração de valor.</a:t>
            </a:r>
            <a:endParaRPr lang="en-US" sz="1300" dirty="0"/>
          </a:p>
        </p:txBody>
      </p:sp>
      <p:sp>
        <p:nvSpPr>
          <p:cNvPr id="5" name="Shape 3"/>
          <p:cNvSpPr/>
          <p:nvPr/>
        </p:nvSpPr>
        <p:spPr>
          <a:xfrm>
            <a:off x="566928" y="2651760"/>
            <a:ext cx="2093976" cy="2011680"/>
          </a:xfrm>
          <a:prstGeom prst="roundRect">
            <a:avLst>
              <a:gd name="adj" fmla="val 2727"/>
            </a:avLst>
          </a:prstGeom>
          <a:solidFill>
            <a:srgbClr val="2F3438"/>
          </a:solidFill>
          <a:ln w="12700">
            <a:solidFill>
              <a:srgbClr val="2F3438"/>
            </a:solidFill>
            <a:prstDash val="solid"/>
          </a:ln>
        </p:spPr>
        <p:txBody>
          <a:bodyPr/>
          <a:lstStyle/>
          <a:p>
            <a:endParaRPr lang="pt-BR"/>
          </a:p>
        </p:txBody>
      </p:sp>
      <p:sp>
        <p:nvSpPr>
          <p:cNvPr id="6" name="Text 4"/>
          <p:cNvSpPr/>
          <p:nvPr/>
        </p:nvSpPr>
        <p:spPr>
          <a:xfrm>
            <a:off x="731520" y="2798064"/>
            <a:ext cx="1764792" cy="457200"/>
          </a:xfrm>
          <a:prstGeom prst="rect">
            <a:avLst/>
          </a:prstGeom>
          <a:noFill/>
          <a:ln/>
        </p:spPr>
        <p:txBody>
          <a:bodyPr wrap="square" lIns="0" tIns="0" rIns="0" bIns="0" rtlCol="0" anchor="ctr"/>
          <a:lstStyle/>
          <a:p>
            <a:pPr marL="0" indent="0">
              <a:buNone/>
            </a:pPr>
            <a:r>
              <a:rPr lang="en-US" sz="1250" b="1" dirty="0">
                <a:solidFill>
                  <a:srgbClr val="8A7B66"/>
                </a:solidFill>
                <a:latin typeface="Calibri" pitchFamily="34" charset="0"/>
                <a:ea typeface="Calibri" pitchFamily="34" charset="-122"/>
                <a:cs typeface="Calibri" pitchFamily="34" charset="-120"/>
              </a:rPr>
              <a:t>Cenário e conceitos</a:t>
            </a:r>
            <a:endParaRPr lang="en-US" sz="1250" dirty="0"/>
          </a:p>
        </p:txBody>
      </p:sp>
      <p:sp>
        <p:nvSpPr>
          <p:cNvPr id="7" name="Text 5"/>
          <p:cNvSpPr/>
          <p:nvPr/>
        </p:nvSpPr>
        <p:spPr>
          <a:xfrm>
            <a:off x="731520" y="3273552"/>
            <a:ext cx="1764792" cy="1280160"/>
          </a:xfrm>
          <a:prstGeom prst="rect">
            <a:avLst/>
          </a:prstGeom>
          <a:noFill/>
          <a:ln/>
        </p:spPr>
        <p:txBody>
          <a:bodyPr wrap="square" lIns="0" tIns="0" rIns="0" bIns="0" rtlCol="0" anchor="t"/>
          <a:lstStyle/>
          <a:p>
            <a:pPr marL="0" indent="0">
              <a:lnSpc>
                <a:spcPct val="105000"/>
              </a:lnSpc>
              <a:buNone/>
            </a:pPr>
            <a:r>
              <a:rPr lang="en-US" sz="1100" dirty="0">
                <a:solidFill>
                  <a:srgbClr val="D9DCDE"/>
                </a:solidFill>
                <a:latin typeface="Calibri" pitchFamily="34" charset="0"/>
                <a:ea typeface="Calibri" pitchFamily="34" charset="-122"/>
                <a:cs typeface="Calibri" pitchFamily="34" charset="-120"/>
              </a:rPr>
              <a:t>O volume por si só não gera valor; ciência de dados é um conjunto de métodos para apoiar decisões, não uma ferramenta.</a:t>
            </a:r>
            <a:endParaRPr lang="en-US" sz="1100" dirty="0"/>
          </a:p>
        </p:txBody>
      </p:sp>
      <p:sp>
        <p:nvSpPr>
          <p:cNvPr id="8" name="Shape 6"/>
          <p:cNvSpPr/>
          <p:nvPr/>
        </p:nvSpPr>
        <p:spPr>
          <a:xfrm>
            <a:off x="2862072" y="2651760"/>
            <a:ext cx="2093976" cy="2011680"/>
          </a:xfrm>
          <a:prstGeom prst="roundRect">
            <a:avLst>
              <a:gd name="adj" fmla="val 2727"/>
            </a:avLst>
          </a:prstGeom>
          <a:solidFill>
            <a:srgbClr val="2F3438"/>
          </a:solidFill>
          <a:ln w="12700">
            <a:solidFill>
              <a:srgbClr val="2F3438"/>
            </a:solidFill>
            <a:prstDash val="solid"/>
          </a:ln>
        </p:spPr>
        <p:txBody>
          <a:bodyPr/>
          <a:lstStyle/>
          <a:p>
            <a:endParaRPr lang="pt-BR"/>
          </a:p>
        </p:txBody>
      </p:sp>
      <p:sp>
        <p:nvSpPr>
          <p:cNvPr id="9" name="Text 7"/>
          <p:cNvSpPr/>
          <p:nvPr/>
        </p:nvSpPr>
        <p:spPr>
          <a:xfrm>
            <a:off x="3026664" y="2798064"/>
            <a:ext cx="1764792" cy="457200"/>
          </a:xfrm>
          <a:prstGeom prst="rect">
            <a:avLst/>
          </a:prstGeom>
          <a:noFill/>
          <a:ln/>
        </p:spPr>
        <p:txBody>
          <a:bodyPr wrap="square" lIns="0" tIns="0" rIns="0" bIns="0" rtlCol="0" anchor="ctr"/>
          <a:lstStyle/>
          <a:p>
            <a:pPr marL="0" indent="0">
              <a:buNone/>
            </a:pPr>
            <a:r>
              <a:rPr lang="en-US" sz="1250" b="1" dirty="0">
                <a:solidFill>
                  <a:srgbClr val="8A7B66"/>
                </a:solidFill>
                <a:latin typeface="Calibri" pitchFamily="34" charset="0"/>
                <a:ea typeface="Calibri" pitchFamily="34" charset="-122"/>
                <a:cs typeface="Calibri" pitchFamily="34" charset="-120"/>
              </a:rPr>
              <a:t>KDD</a:t>
            </a:r>
            <a:endParaRPr lang="en-US" sz="1250" dirty="0"/>
          </a:p>
        </p:txBody>
      </p:sp>
      <p:sp>
        <p:nvSpPr>
          <p:cNvPr id="10" name="Text 8"/>
          <p:cNvSpPr/>
          <p:nvPr/>
        </p:nvSpPr>
        <p:spPr>
          <a:xfrm>
            <a:off x="3026664" y="3273552"/>
            <a:ext cx="1764792" cy="1280160"/>
          </a:xfrm>
          <a:prstGeom prst="rect">
            <a:avLst/>
          </a:prstGeom>
          <a:noFill/>
          <a:ln/>
        </p:spPr>
        <p:txBody>
          <a:bodyPr wrap="square" lIns="0" tIns="0" rIns="0" bIns="0" rtlCol="0" anchor="t"/>
          <a:lstStyle/>
          <a:p>
            <a:pPr marL="0" indent="0">
              <a:lnSpc>
                <a:spcPct val="105000"/>
              </a:lnSpc>
              <a:buNone/>
            </a:pPr>
            <a:r>
              <a:rPr lang="en-US" sz="1100" dirty="0">
                <a:solidFill>
                  <a:srgbClr val="D9DCDE"/>
                </a:solidFill>
                <a:latin typeface="Calibri" pitchFamily="34" charset="0"/>
                <a:ea typeface="Calibri" pitchFamily="34" charset="-122"/>
                <a:cs typeface="Calibri" pitchFamily="34" charset="-120"/>
              </a:rPr>
              <a:t>Processo não trivial, interativo e iterativo que converte dados brutos em conhecimento válido, novo e útil.</a:t>
            </a:r>
            <a:endParaRPr lang="en-US" sz="1100" dirty="0"/>
          </a:p>
        </p:txBody>
      </p:sp>
      <p:sp>
        <p:nvSpPr>
          <p:cNvPr id="11" name="Shape 9"/>
          <p:cNvSpPr/>
          <p:nvPr/>
        </p:nvSpPr>
        <p:spPr>
          <a:xfrm>
            <a:off x="5157216" y="2651760"/>
            <a:ext cx="2093976" cy="2011680"/>
          </a:xfrm>
          <a:prstGeom prst="roundRect">
            <a:avLst>
              <a:gd name="adj" fmla="val 2727"/>
            </a:avLst>
          </a:prstGeom>
          <a:solidFill>
            <a:srgbClr val="2F3438"/>
          </a:solidFill>
          <a:ln w="12700">
            <a:solidFill>
              <a:srgbClr val="2F3438"/>
            </a:solidFill>
            <a:prstDash val="solid"/>
          </a:ln>
        </p:spPr>
        <p:txBody>
          <a:bodyPr/>
          <a:lstStyle/>
          <a:p>
            <a:endParaRPr lang="pt-BR"/>
          </a:p>
        </p:txBody>
      </p:sp>
      <p:sp>
        <p:nvSpPr>
          <p:cNvPr id="12" name="Text 10"/>
          <p:cNvSpPr/>
          <p:nvPr/>
        </p:nvSpPr>
        <p:spPr>
          <a:xfrm>
            <a:off x="5321808" y="2798064"/>
            <a:ext cx="1764792" cy="457200"/>
          </a:xfrm>
          <a:prstGeom prst="rect">
            <a:avLst/>
          </a:prstGeom>
          <a:noFill/>
          <a:ln/>
        </p:spPr>
        <p:txBody>
          <a:bodyPr wrap="square" lIns="0" tIns="0" rIns="0" bIns="0" rtlCol="0" anchor="ctr"/>
          <a:lstStyle/>
          <a:p>
            <a:pPr marL="0" indent="0">
              <a:buNone/>
            </a:pPr>
            <a:r>
              <a:rPr lang="en-US" sz="1250" b="1" dirty="0">
                <a:solidFill>
                  <a:srgbClr val="8A7B66"/>
                </a:solidFill>
                <a:latin typeface="Calibri" pitchFamily="34" charset="0"/>
                <a:ea typeface="Calibri" pitchFamily="34" charset="-122"/>
                <a:cs typeface="Calibri" pitchFamily="34" charset="-120"/>
              </a:rPr>
              <a:t>Dados e repositórios</a:t>
            </a:r>
            <a:endParaRPr lang="en-US" sz="1250" dirty="0"/>
          </a:p>
        </p:txBody>
      </p:sp>
      <p:sp>
        <p:nvSpPr>
          <p:cNvPr id="13" name="Text 11"/>
          <p:cNvSpPr/>
          <p:nvPr/>
        </p:nvSpPr>
        <p:spPr>
          <a:xfrm>
            <a:off x="5321808" y="3273552"/>
            <a:ext cx="1764792" cy="1280160"/>
          </a:xfrm>
          <a:prstGeom prst="rect">
            <a:avLst/>
          </a:prstGeom>
          <a:noFill/>
          <a:ln/>
        </p:spPr>
        <p:txBody>
          <a:bodyPr wrap="square" lIns="0" tIns="0" rIns="0" bIns="0" rtlCol="0" anchor="t"/>
          <a:lstStyle/>
          <a:p>
            <a:pPr marL="0" indent="0">
              <a:lnSpc>
                <a:spcPct val="105000"/>
              </a:lnSpc>
              <a:buNone/>
            </a:pPr>
            <a:r>
              <a:rPr lang="en-US" sz="1100" dirty="0">
                <a:solidFill>
                  <a:srgbClr val="D9DCDE"/>
                </a:solidFill>
                <a:latin typeface="Calibri" pitchFamily="34" charset="0"/>
                <a:ea typeface="Calibri" pitchFamily="34" charset="-122"/>
                <a:cs typeface="Calibri" pitchFamily="34" charset="-120"/>
              </a:rPr>
              <a:t>Grau de estruturação define esforço e técnica; Data Warehouse e Data Lake diferem no momento em que o esquema é imposto.</a:t>
            </a:r>
            <a:endParaRPr lang="en-US" sz="1100" dirty="0"/>
          </a:p>
        </p:txBody>
      </p:sp>
      <p:sp>
        <p:nvSpPr>
          <p:cNvPr id="14" name="Shape 12"/>
          <p:cNvSpPr/>
          <p:nvPr/>
        </p:nvSpPr>
        <p:spPr>
          <a:xfrm>
            <a:off x="7452360" y="2651760"/>
            <a:ext cx="2093976" cy="2011680"/>
          </a:xfrm>
          <a:prstGeom prst="roundRect">
            <a:avLst>
              <a:gd name="adj" fmla="val 2727"/>
            </a:avLst>
          </a:prstGeom>
          <a:solidFill>
            <a:srgbClr val="2F3438"/>
          </a:solidFill>
          <a:ln w="12700">
            <a:solidFill>
              <a:srgbClr val="2F3438"/>
            </a:solidFill>
            <a:prstDash val="solid"/>
          </a:ln>
        </p:spPr>
        <p:txBody>
          <a:bodyPr/>
          <a:lstStyle/>
          <a:p>
            <a:endParaRPr lang="pt-BR"/>
          </a:p>
        </p:txBody>
      </p:sp>
      <p:sp>
        <p:nvSpPr>
          <p:cNvPr id="15" name="Text 13"/>
          <p:cNvSpPr/>
          <p:nvPr/>
        </p:nvSpPr>
        <p:spPr>
          <a:xfrm>
            <a:off x="7616952" y="2798064"/>
            <a:ext cx="1764792" cy="457200"/>
          </a:xfrm>
          <a:prstGeom prst="rect">
            <a:avLst/>
          </a:prstGeom>
          <a:noFill/>
          <a:ln/>
        </p:spPr>
        <p:txBody>
          <a:bodyPr wrap="square" lIns="0" tIns="0" rIns="0" bIns="0" rtlCol="0" anchor="ctr"/>
          <a:lstStyle/>
          <a:p>
            <a:pPr marL="0" indent="0">
              <a:buNone/>
            </a:pPr>
            <a:r>
              <a:rPr lang="en-US" sz="1250" b="1" dirty="0">
                <a:solidFill>
                  <a:srgbClr val="8A7B66"/>
                </a:solidFill>
                <a:latin typeface="Calibri" pitchFamily="34" charset="0"/>
                <a:ea typeface="Calibri" pitchFamily="34" charset="-122"/>
                <a:cs typeface="Calibri" pitchFamily="34" charset="-120"/>
              </a:rPr>
              <a:t>Tipos de problema</a:t>
            </a:r>
            <a:endParaRPr lang="en-US" sz="1250" dirty="0"/>
          </a:p>
        </p:txBody>
      </p:sp>
      <p:sp>
        <p:nvSpPr>
          <p:cNvPr id="16" name="Text 14"/>
          <p:cNvSpPr/>
          <p:nvPr/>
        </p:nvSpPr>
        <p:spPr>
          <a:xfrm>
            <a:off x="7616952" y="3273552"/>
            <a:ext cx="1764792" cy="1280160"/>
          </a:xfrm>
          <a:prstGeom prst="rect">
            <a:avLst/>
          </a:prstGeom>
          <a:noFill/>
          <a:ln/>
        </p:spPr>
        <p:txBody>
          <a:bodyPr wrap="square" lIns="0" tIns="0" rIns="0" bIns="0" rtlCol="0" anchor="t"/>
          <a:lstStyle/>
          <a:p>
            <a:pPr marL="0" indent="0">
              <a:lnSpc>
                <a:spcPct val="105000"/>
              </a:lnSpc>
              <a:buNone/>
            </a:pPr>
            <a:r>
              <a:rPr lang="en-US" sz="1100" dirty="0">
                <a:solidFill>
                  <a:srgbClr val="D9DCDE"/>
                </a:solidFill>
                <a:latin typeface="Calibri" pitchFamily="34" charset="0"/>
                <a:ea typeface="Calibri" pitchFamily="34" charset="-122"/>
                <a:cs typeface="Calibri" pitchFamily="34" charset="-120"/>
              </a:rPr>
              <a:t>Classificação e regressão no supervisionado; clusterização e associação no não supervisionado.</a:t>
            </a:r>
            <a:endParaRPr lang="en-US" sz="1100" dirty="0"/>
          </a:p>
        </p:txBody>
      </p:sp>
      <p:sp>
        <p:nvSpPr>
          <p:cNvPr id="17" name="Shape 15"/>
          <p:cNvSpPr/>
          <p:nvPr/>
        </p:nvSpPr>
        <p:spPr>
          <a:xfrm>
            <a:off x="9747504" y="2651760"/>
            <a:ext cx="2093976" cy="2011680"/>
          </a:xfrm>
          <a:prstGeom prst="roundRect">
            <a:avLst>
              <a:gd name="adj" fmla="val 2727"/>
            </a:avLst>
          </a:prstGeom>
          <a:solidFill>
            <a:srgbClr val="2F3438"/>
          </a:solidFill>
          <a:ln w="12700">
            <a:solidFill>
              <a:srgbClr val="2F3438"/>
            </a:solidFill>
            <a:prstDash val="solid"/>
          </a:ln>
        </p:spPr>
        <p:txBody>
          <a:bodyPr/>
          <a:lstStyle/>
          <a:p>
            <a:endParaRPr lang="pt-BR"/>
          </a:p>
        </p:txBody>
      </p:sp>
      <p:sp>
        <p:nvSpPr>
          <p:cNvPr id="18" name="Text 16"/>
          <p:cNvSpPr/>
          <p:nvPr/>
        </p:nvSpPr>
        <p:spPr>
          <a:xfrm>
            <a:off x="9912096" y="2798064"/>
            <a:ext cx="1764792" cy="457200"/>
          </a:xfrm>
          <a:prstGeom prst="rect">
            <a:avLst/>
          </a:prstGeom>
          <a:noFill/>
          <a:ln/>
        </p:spPr>
        <p:txBody>
          <a:bodyPr wrap="square" lIns="0" tIns="0" rIns="0" bIns="0" rtlCol="0" anchor="ctr"/>
          <a:lstStyle/>
          <a:p>
            <a:pPr marL="0" indent="0">
              <a:buNone/>
            </a:pPr>
            <a:r>
              <a:rPr lang="en-US" sz="1250" b="1" dirty="0">
                <a:solidFill>
                  <a:srgbClr val="8A7B66"/>
                </a:solidFill>
                <a:latin typeface="Calibri" pitchFamily="34" charset="0"/>
                <a:ea typeface="Calibri" pitchFamily="34" charset="-122"/>
                <a:cs typeface="Calibri" pitchFamily="34" charset="-120"/>
              </a:rPr>
              <a:t>Ciclo de projeto</a:t>
            </a:r>
            <a:endParaRPr lang="en-US" sz="1250" dirty="0"/>
          </a:p>
        </p:txBody>
      </p:sp>
      <p:sp>
        <p:nvSpPr>
          <p:cNvPr id="19" name="Text 17"/>
          <p:cNvSpPr/>
          <p:nvPr/>
        </p:nvSpPr>
        <p:spPr>
          <a:xfrm>
            <a:off x="9912096" y="3273552"/>
            <a:ext cx="1764792" cy="1280160"/>
          </a:xfrm>
          <a:prstGeom prst="rect">
            <a:avLst/>
          </a:prstGeom>
          <a:noFill/>
          <a:ln/>
        </p:spPr>
        <p:txBody>
          <a:bodyPr wrap="square" lIns="0" tIns="0" rIns="0" bIns="0" rtlCol="0" anchor="t"/>
          <a:lstStyle/>
          <a:p>
            <a:pPr marL="0" indent="0">
              <a:lnSpc>
                <a:spcPct val="105000"/>
              </a:lnSpc>
              <a:buNone/>
            </a:pPr>
            <a:r>
              <a:rPr lang="en-US" sz="1100" dirty="0">
                <a:solidFill>
                  <a:srgbClr val="D9DCDE"/>
                </a:solidFill>
                <a:latin typeface="Calibri" pitchFamily="34" charset="0"/>
                <a:ea typeface="Calibri" pitchFamily="34" charset="-122"/>
                <a:cs typeface="Calibri" pitchFamily="34" charset="-120"/>
              </a:rPr>
              <a:t>Sete etapas com retornos, encerrando não na entrega do modelo, mas no seu monitoramento em produção.</a:t>
            </a:r>
            <a:endParaRPr lang="en-US" sz="1100" dirty="0"/>
          </a:p>
        </p:txBody>
      </p:sp>
      <p:sp>
        <p:nvSpPr>
          <p:cNvPr id="20" name="Text 18"/>
          <p:cNvSpPr/>
          <p:nvPr/>
        </p:nvSpPr>
        <p:spPr>
          <a:xfrm>
            <a:off x="566928" y="4846320"/>
            <a:ext cx="11055096" cy="548640"/>
          </a:xfrm>
          <a:prstGeom prst="rect">
            <a:avLst/>
          </a:prstGeom>
          <a:noFill/>
          <a:ln/>
        </p:spPr>
        <p:txBody>
          <a:bodyPr wrap="square" lIns="0" tIns="0" rIns="0" bIns="0" rtlCol="0" anchor="t"/>
          <a:lstStyle/>
          <a:p>
            <a:pPr marL="0" indent="0">
              <a:lnSpc>
                <a:spcPct val="108000"/>
              </a:lnSpc>
              <a:buNone/>
            </a:pPr>
            <a:r>
              <a:rPr lang="en-US" sz="1250" dirty="0">
                <a:solidFill>
                  <a:srgbClr val="C6CACD"/>
                </a:solidFill>
                <a:latin typeface="Calibri" pitchFamily="34" charset="0"/>
                <a:ea typeface="Calibri" pitchFamily="34" charset="-122"/>
                <a:cs typeface="Calibri" pitchFamily="34" charset="-120"/>
              </a:rPr>
              <a:t>O fio que atravessa todos os pontos é o mesmo: dados só se convertem em valor quando um método disciplinado e um julgamento humano informado atuam sobre eles.</a:t>
            </a:r>
            <a:endParaRPr lang="en-US" sz="1250" dirty="0"/>
          </a:p>
        </p:txBody>
      </p:sp>
      <p:sp>
        <p:nvSpPr>
          <p:cNvPr id="21" name="Text 19"/>
          <p:cNvSpPr/>
          <p:nvPr/>
        </p:nvSpPr>
        <p:spPr>
          <a:xfrm>
            <a:off x="566928" y="5669280"/>
            <a:ext cx="11055096" cy="274320"/>
          </a:xfrm>
          <a:prstGeom prst="rect">
            <a:avLst/>
          </a:prstGeom>
          <a:noFill/>
          <a:ln/>
        </p:spPr>
        <p:txBody>
          <a:bodyPr wrap="square" lIns="0" tIns="0" rIns="0" bIns="0" rtlCol="0" anchor="ctr"/>
          <a:lstStyle/>
          <a:p>
            <a:pPr marL="0" indent="0">
              <a:buNone/>
            </a:pPr>
            <a:r>
              <a:rPr lang="en-US" sz="1200" b="1" dirty="0">
                <a:solidFill>
                  <a:srgbClr val="8A7B66"/>
                </a:solidFill>
                <a:latin typeface="Calibri" pitchFamily="34" charset="0"/>
                <a:ea typeface="Calibri" pitchFamily="34" charset="-122"/>
                <a:cs typeface="Calibri" pitchFamily="34" charset="-120"/>
              </a:rPr>
              <a:t>Próxima aula: fundamentos estatísticos para ciência de dados — descrição, variabilidade e leitura de distribuições.</a:t>
            </a:r>
            <a:endParaRPr lang="en-US" sz="1200" dirty="0"/>
          </a:p>
        </p:txBody>
      </p:sp>
      <p:sp>
        <p:nvSpPr>
          <p:cNvPr id="22" name="Text 20"/>
          <p:cNvSpPr/>
          <p:nvPr/>
        </p:nvSpPr>
        <p:spPr>
          <a:xfrm>
            <a:off x="566928" y="6053328"/>
            <a:ext cx="11055096" cy="274320"/>
          </a:xfrm>
          <a:prstGeom prst="rect">
            <a:avLst/>
          </a:prstGeom>
          <a:noFill/>
          <a:ln/>
        </p:spPr>
        <p:txBody>
          <a:bodyPr wrap="square" lIns="0" tIns="0" rIns="0" bIns="0" rtlCol="0" anchor="ctr"/>
          <a:lstStyle/>
          <a:p>
            <a:pPr marL="0" indent="0">
              <a:buNone/>
            </a:pPr>
            <a:r>
              <a:rPr lang="en-US" sz="1050" dirty="0">
                <a:solidFill>
                  <a:srgbClr val="8B9297"/>
                </a:solidFill>
                <a:latin typeface="Calibri" pitchFamily="34" charset="0"/>
                <a:ea typeface="Calibri" pitchFamily="34" charset="-122"/>
                <a:cs typeface="Calibri" pitchFamily="34" charset="-120"/>
              </a:rPr>
              <a:t>Prof. Dr. André Serrano · Departamento de Engenharia de Produção — Faculdade de Tecnologia · Universidade de Brasília (UnB)</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329184"/>
            <a:ext cx="11055096" cy="237744"/>
          </a:xfrm>
          <a:prstGeom prst="rect">
            <a:avLst/>
          </a:prstGeom>
          <a:noFill/>
          <a:ln/>
        </p:spPr>
        <p:txBody>
          <a:bodyPr wrap="square" lIns="0" tIns="0" rIns="0" bIns="0" rtlCol="0" anchor="ctr"/>
          <a:lstStyle/>
          <a:p>
            <a:pPr marL="0" indent="0">
              <a:buNone/>
            </a:pPr>
            <a:r>
              <a:rPr lang="en-US" sz="1050" b="1" kern="0" spc="200" dirty="0">
                <a:solidFill>
                  <a:srgbClr val="8A7B66"/>
                </a:solidFill>
                <a:latin typeface="Calibri" pitchFamily="34" charset="0"/>
                <a:ea typeface="Calibri" pitchFamily="34" charset="-122"/>
                <a:cs typeface="Calibri" pitchFamily="34" charset="-120"/>
              </a:rPr>
              <a:t>CRÉDITOS E FONTES</a:t>
            </a:r>
            <a:endParaRPr lang="en-US" sz="1050" dirty="0"/>
          </a:p>
        </p:txBody>
      </p:sp>
      <p:sp>
        <p:nvSpPr>
          <p:cNvPr id="3" name="Text 1"/>
          <p:cNvSpPr/>
          <p:nvPr/>
        </p:nvSpPr>
        <p:spPr>
          <a:xfrm>
            <a:off x="566928" y="585216"/>
            <a:ext cx="11055096" cy="603504"/>
          </a:xfrm>
          <a:prstGeom prst="rect">
            <a:avLst/>
          </a:prstGeom>
          <a:noFill/>
          <a:ln/>
        </p:spPr>
        <p:txBody>
          <a:bodyPr wrap="square" lIns="0" tIns="0" rIns="0" bIns="0" rtlCol="0" anchor="ctr"/>
          <a:lstStyle/>
          <a:p>
            <a:pPr marL="0" indent="0">
              <a:buNone/>
            </a:pPr>
            <a:r>
              <a:rPr lang="en-US" sz="2800" b="1" dirty="0">
                <a:solidFill>
                  <a:srgbClr val="23272A"/>
                </a:solidFill>
                <a:latin typeface="Cambria" pitchFamily="34" charset="0"/>
                <a:ea typeface="Cambria" pitchFamily="34" charset="-122"/>
                <a:cs typeface="Cambria" pitchFamily="34" charset="-120"/>
              </a:rPr>
              <a:t>Créditos do conteúdo e leituras de apoio</a:t>
            </a:r>
            <a:endParaRPr lang="en-US" sz="2800" dirty="0"/>
          </a:p>
        </p:txBody>
      </p:sp>
      <p:sp>
        <p:nvSpPr>
          <p:cNvPr id="4" name="Text 2"/>
          <p:cNvSpPr/>
          <p:nvPr/>
        </p:nvSpPr>
        <p:spPr>
          <a:xfrm>
            <a:off x="566928" y="6364224"/>
            <a:ext cx="9509760" cy="274320"/>
          </a:xfrm>
          <a:prstGeom prst="rect">
            <a:avLst/>
          </a:prstGeom>
          <a:noFill/>
          <a:ln/>
        </p:spPr>
        <p:txBody>
          <a:bodyPr wrap="square" lIns="0" tIns="0" rIns="0" bIns="0" rtlCol="0" anchor="ctr"/>
          <a:lstStyle/>
          <a:p>
            <a:pPr marL="0" indent="0">
              <a:buNone/>
            </a:pPr>
            <a:r>
              <a:rPr lang="en-US" sz="900" dirty="0">
                <a:solidFill>
                  <a:srgbClr val="6F7880"/>
                </a:solidFill>
                <a:latin typeface="Calibri" pitchFamily="34" charset="0"/>
                <a:ea typeface="Calibri" pitchFamily="34" charset="-122"/>
                <a:cs typeface="Calibri" pitchFamily="34" charset="-120"/>
              </a:rPr>
              <a:t>Ciência de Dados — Módulo 1  ·  Aula de PSP8  ·  Prof. Dr. André Serrano — EPR/FT/UnB</a:t>
            </a:r>
            <a:endParaRPr lang="en-US" sz="900" dirty="0"/>
          </a:p>
        </p:txBody>
      </p:sp>
      <p:sp>
        <p:nvSpPr>
          <p:cNvPr id="5" name="Text 3"/>
          <p:cNvSpPr/>
          <p:nvPr/>
        </p:nvSpPr>
        <p:spPr>
          <a:xfrm>
            <a:off x="10881360" y="6364224"/>
            <a:ext cx="740664" cy="274320"/>
          </a:xfrm>
          <a:prstGeom prst="rect">
            <a:avLst/>
          </a:prstGeom>
          <a:noFill/>
          <a:ln/>
        </p:spPr>
        <p:txBody>
          <a:bodyPr wrap="square" lIns="0" tIns="0" rIns="0" bIns="0" rtlCol="0" anchor="ctr"/>
          <a:lstStyle/>
          <a:p>
            <a:pPr marL="0" indent="0" algn="r">
              <a:buNone/>
            </a:pPr>
            <a:r>
              <a:rPr lang="en-US" sz="900" dirty="0">
                <a:solidFill>
                  <a:srgbClr val="6F7880"/>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481328"/>
            <a:ext cx="7589520" cy="1325880"/>
          </a:xfrm>
          <a:prstGeom prst="roundRect">
            <a:avLst>
              <a:gd name="adj" fmla="val 4138"/>
            </a:avLst>
          </a:prstGeom>
          <a:solidFill>
            <a:srgbClr val="F0F1F2"/>
          </a:solidFill>
          <a:ln w="12700">
            <a:solidFill>
              <a:srgbClr val="F0F1F2"/>
            </a:solidFill>
            <a:prstDash val="solid"/>
          </a:ln>
        </p:spPr>
        <p:txBody>
          <a:bodyPr/>
          <a:lstStyle/>
          <a:p>
            <a:endParaRPr lang="pt-BR"/>
          </a:p>
        </p:txBody>
      </p:sp>
      <p:sp>
        <p:nvSpPr>
          <p:cNvPr id="7" name="Text 5"/>
          <p:cNvSpPr/>
          <p:nvPr/>
        </p:nvSpPr>
        <p:spPr>
          <a:xfrm>
            <a:off x="768096" y="1627632"/>
            <a:ext cx="7187184" cy="292608"/>
          </a:xfrm>
          <a:prstGeom prst="rect">
            <a:avLst/>
          </a:prstGeom>
          <a:noFill/>
          <a:ln/>
        </p:spPr>
        <p:txBody>
          <a:bodyPr wrap="square" lIns="0" tIns="0" rIns="0" bIns="0" rtlCol="0" anchor="ctr"/>
          <a:lstStyle/>
          <a:p>
            <a:pPr marL="0" indent="0">
              <a:buNone/>
            </a:pPr>
            <a:r>
              <a:rPr lang="en-US" sz="1350" b="1" dirty="0">
                <a:solidFill>
                  <a:srgbClr val="23272A"/>
                </a:solidFill>
                <a:latin typeface="Calibri" pitchFamily="34" charset="0"/>
                <a:ea typeface="Calibri" pitchFamily="34" charset="-122"/>
                <a:cs typeface="Calibri" pitchFamily="34" charset="-120"/>
              </a:rPr>
              <a:t>Conteúdo de referência desta aula</a:t>
            </a:r>
            <a:endParaRPr lang="en-US" sz="1350" dirty="0"/>
          </a:p>
        </p:txBody>
      </p:sp>
      <p:sp>
        <p:nvSpPr>
          <p:cNvPr id="8" name="Text 6"/>
          <p:cNvSpPr/>
          <p:nvPr/>
        </p:nvSpPr>
        <p:spPr>
          <a:xfrm>
            <a:off x="768096" y="1975104"/>
            <a:ext cx="7187184" cy="685800"/>
          </a:xfrm>
          <a:prstGeom prst="rect">
            <a:avLst/>
          </a:prstGeom>
          <a:noFill/>
          <a:ln/>
        </p:spPr>
        <p:txBody>
          <a:bodyPr wrap="square" lIns="0" tIns="0" rIns="0" bIns="0" rtlCol="0" anchor="t"/>
          <a:lstStyle/>
          <a:p>
            <a:pPr marL="0" indent="0">
              <a:lnSpc>
                <a:spcPct val="108000"/>
              </a:lnSpc>
              <a:buNone/>
            </a:pPr>
            <a:r>
              <a:rPr lang="en-US" sz="1200" dirty="0">
                <a:solidFill>
                  <a:srgbClr val="4C555C"/>
                </a:solidFill>
                <a:latin typeface="Calibri" pitchFamily="34" charset="0"/>
                <a:ea typeface="Calibri" pitchFamily="34" charset="-122"/>
                <a:cs typeface="Calibri" pitchFamily="34" charset="-120"/>
              </a:rPr>
              <a:t>Aula</a:t>
            </a:r>
            <a:endParaRPr lang="en-US" sz="1200" dirty="0"/>
          </a:p>
        </p:txBody>
      </p:sp>
      <p:sp>
        <p:nvSpPr>
          <p:cNvPr id="9" name="Text 7"/>
          <p:cNvSpPr/>
          <p:nvPr/>
        </p:nvSpPr>
        <p:spPr>
          <a:xfrm>
            <a:off x="566928" y="2926080"/>
            <a:ext cx="7589520" cy="274320"/>
          </a:xfrm>
          <a:prstGeom prst="rect">
            <a:avLst/>
          </a:prstGeom>
          <a:noFill/>
          <a:ln/>
        </p:spPr>
        <p:txBody>
          <a:bodyPr wrap="square" lIns="0" tIns="0" rIns="0" bIns="0" rtlCol="0" anchor="ctr"/>
          <a:lstStyle/>
          <a:p>
            <a:pPr marL="0" indent="0">
              <a:buNone/>
            </a:pPr>
            <a:r>
              <a:rPr lang="en-US" sz="1300" b="1" dirty="0">
                <a:solidFill>
                  <a:srgbClr val="8A7B66"/>
                </a:solidFill>
                <a:latin typeface="Calibri" pitchFamily="34" charset="0"/>
                <a:ea typeface="Calibri" pitchFamily="34" charset="-122"/>
                <a:cs typeface="Calibri" pitchFamily="34" charset="-120"/>
              </a:rPr>
              <a:t>Leituras de apoio</a:t>
            </a:r>
            <a:endParaRPr lang="en-US" sz="1300" dirty="0"/>
          </a:p>
        </p:txBody>
      </p:sp>
      <p:sp>
        <p:nvSpPr>
          <p:cNvPr id="10" name="Text 8"/>
          <p:cNvSpPr/>
          <p:nvPr/>
        </p:nvSpPr>
        <p:spPr>
          <a:xfrm>
            <a:off x="566928" y="3200400"/>
            <a:ext cx="7589520" cy="402336"/>
          </a:xfrm>
          <a:prstGeom prst="rect">
            <a:avLst/>
          </a:prstGeom>
          <a:noFill/>
          <a:ln/>
        </p:spPr>
        <p:txBody>
          <a:bodyPr wrap="square" lIns="0" tIns="0" rIns="0" bIns="0" rtlCol="0" anchor="t"/>
          <a:lstStyle/>
          <a:p>
            <a:pPr marL="0" indent="0">
              <a:lnSpc>
                <a:spcPct val="106000"/>
              </a:lnSpc>
              <a:buNone/>
            </a:pPr>
            <a:r>
              <a:rPr lang="en-US" sz="1050" dirty="0">
                <a:solidFill>
                  <a:srgbClr val="4C555C"/>
                </a:solidFill>
                <a:latin typeface="Calibri" pitchFamily="34" charset="0"/>
                <a:ea typeface="Calibri" pitchFamily="34" charset="-122"/>
                <a:cs typeface="Calibri" pitchFamily="34" charset="-120"/>
              </a:rPr>
              <a:t>ESCOVEDO, T.; KOSHIYAMA, A. Introdução a Data Science: algoritmos de Machine Learning e métodos de análise. Casa do Código.</a:t>
            </a:r>
            <a:endParaRPr lang="en-US" sz="1050" dirty="0"/>
          </a:p>
        </p:txBody>
      </p:sp>
      <p:sp>
        <p:nvSpPr>
          <p:cNvPr id="11" name="Text 9"/>
          <p:cNvSpPr/>
          <p:nvPr/>
        </p:nvSpPr>
        <p:spPr>
          <a:xfrm>
            <a:off x="566928" y="3621024"/>
            <a:ext cx="7589520" cy="402336"/>
          </a:xfrm>
          <a:prstGeom prst="rect">
            <a:avLst/>
          </a:prstGeom>
          <a:noFill/>
          <a:ln/>
        </p:spPr>
        <p:txBody>
          <a:bodyPr wrap="square" lIns="0" tIns="0" rIns="0" bIns="0" rtlCol="0" anchor="t"/>
          <a:lstStyle/>
          <a:p>
            <a:pPr marL="0" indent="0">
              <a:lnSpc>
                <a:spcPct val="106000"/>
              </a:lnSpc>
              <a:buNone/>
            </a:pPr>
            <a:r>
              <a:rPr lang="en-US" sz="1050" dirty="0">
                <a:solidFill>
                  <a:srgbClr val="4C555C"/>
                </a:solidFill>
                <a:latin typeface="Calibri" pitchFamily="34" charset="0"/>
                <a:ea typeface="Calibri" pitchFamily="34" charset="-122"/>
                <a:cs typeface="Calibri" pitchFamily="34" charset="-120"/>
              </a:rPr>
              <a:t>ESCOVEDO, T. Engenharia de Software para Ciência de Dados: um guia de boas práticas com ênfase na construção de sistemas de Machine Learning em Python. Casa do Código.</a:t>
            </a:r>
            <a:endParaRPr lang="en-US" sz="1050" dirty="0"/>
          </a:p>
        </p:txBody>
      </p:sp>
      <p:sp>
        <p:nvSpPr>
          <p:cNvPr id="12" name="Text 10"/>
          <p:cNvSpPr/>
          <p:nvPr/>
        </p:nvSpPr>
        <p:spPr>
          <a:xfrm>
            <a:off x="566928" y="4041648"/>
            <a:ext cx="7589520" cy="402336"/>
          </a:xfrm>
          <a:prstGeom prst="rect">
            <a:avLst/>
          </a:prstGeom>
          <a:noFill/>
          <a:ln/>
        </p:spPr>
        <p:txBody>
          <a:bodyPr wrap="square" lIns="0" tIns="0" rIns="0" bIns="0" rtlCol="0" anchor="t"/>
          <a:lstStyle/>
          <a:p>
            <a:pPr marL="0" indent="0">
              <a:lnSpc>
                <a:spcPct val="106000"/>
              </a:lnSpc>
              <a:buNone/>
            </a:pPr>
            <a:r>
              <a:rPr lang="en-US" sz="1050" dirty="0">
                <a:solidFill>
                  <a:srgbClr val="4C555C"/>
                </a:solidFill>
                <a:latin typeface="Calibri" pitchFamily="34" charset="0"/>
                <a:ea typeface="Calibri" pitchFamily="34" charset="-122"/>
                <a:cs typeface="Calibri" pitchFamily="34" charset="-120"/>
              </a:rPr>
              <a:t>GARTNER GROUP. Definição de Data Mining e glossário de tecnologia da informação. Disponível no site oficial da consultoria.</a:t>
            </a:r>
            <a:endParaRPr lang="en-US" sz="1050" dirty="0"/>
          </a:p>
        </p:txBody>
      </p:sp>
      <p:sp>
        <p:nvSpPr>
          <p:cNvPr id="13" name="Text 11"/>
          <p:cNvSpPr/>
          <p:nvPr/>
        </p:nvSpPr>
        <p:spPr>
          <a:xfrm>
            <a:off x="566928" y="4462272"/>
            <a:ext cx="7589520" cy="402336"/>
          </a:xfrm>
          <a:prstGeom prst="rect">
            <a:avLst/>
          </a:prstGeom>
          <a:noFill/>
          <a:ln/>
        </p:spPr>
        <p:txBody>
          <a:bodyPr wrap="square" lIns="0" tIns="0" rIns="0" bIns="0" rtlCol="0" anchor="t"/>
          <a:lstStyle/>
          <a:p>
            <a:pPr marL="0" indent="0">
              <a:lnSpc>
                <a:spcPct val="106000"/>
              </a:lnSpc>
              <a:buNone/>
            </a:pPr>
            <a:r>
              <a:rPr lang="en-US" sz="1050" dirty="0">
                <a:solidFill>
                  <a:srgbClr val="4C555C"/>
                </a:solidFill>
                <a:latin typeface="Calibri" pitchFamily="34" charset="0"/>
                <a:ea typeface="Calibri" pitchFamily="34" charset="-122"/>
                <a:cs typeface="Calibri" pitchFamily="34" charset="-120"/>
              </a:rPr>
              <a:t>HAN, J.; KAMBER, M.; PEI, J. Data Mining: Concepts and Techniques. Elsevier, 2011.</a:t>
            </a:r>
            <a:endParaRPr lang="en-US" sz="1050" dirty="0"/>
          </a:p>
        </p:txBody>
      </p:sp>
      <p:sp>
        <p:nvSpPr>
          <p:cNvPr id="14" name="Text 12"/>
          <p:cNvSpPr/>
          <p:nvPr/>
        </p:nvSpPr>
        <p:spPr>
          <a:xfrm>
            <a:off x="566928" y="4882896"/>
            <a:ext cx="7589520" cy="402336"/>
          </a:xfrm>
          <a:prstGeom prst="rect">
            <a:avLst/>
          </a:prstGeom>
          <a:noFill/>
          <a:ln/>
        </p:spPr>
        <p:txBody>
          <a:bodyPr wrap="square" lIns="0" tIns="0" rIns="0" bIns="0" rtlCol="0" anchor="t"/>
          <a:lstStyle/>
          <a:p>
            <a:pPr marL="0" indent="0">
              <a:lnSpc>
                <a:spcPct val="106000"/>
              </a:lnSpc>
              <a:buNone/>
            </a:pPr>
            <a:r>
              <a:rPr lang="en-US" sz="1050" dirty="0">
                <a:solidFill>
                  <a:srgbClr val="4C555C"/>
                </a:solidFill>
                <a:latin typeface="Calibri" pitchFamily="34" charset="0"/>
                <a:ea typeface="Calibri" pitchFamily="34" charset="-122"/>
                <a:cs typeface="Calibri" pitchFamily="34" charset="-120"/>
              </a:rPr>
              <a:t>LANEY, D. 3D Data Management: Controlling Data Volume, Velocity, and Variety. META Group Research, 2001.</a:t>
            </a:r>
            <a:endParaRPr lang="en-US" sz="1050" dirty="0"/>
          </a:p>
        </p:txBody>
      </p:sp>
      <p:sp>
        <p:nvSpPr>
          <p:cNvPr id="15" name="Text 13"/>
          <p:cNvSpPr/>
          <p:nvPr/>
        </p:nvSpPr>
        <p:spPr>
          <a:xfrm>
            <a:off x="566928" y="5303520"/>
            <a:ext cx="7589520" cy="402336"/>
          </a:xfrm>
          <a:prstGeom prst="rect">
            <a:avLst/>
          </a:prstGeom>
          <a:noFill/>
          <a:ln/>
        </p:spPr>
        <p:txBody>
          <a:bodyPr wrap="square" lIns="0" tIns="0" rIns="0" bIns="0" rtlCol="0" anchor="t"/>
          <a:lstStyle/>
          <a:p>
            <a:pPr marL="0" indent="0">
              <a:lnSpc>
                <a:spcPct val="106000"/>
              </a:lnSpc>
              <a:buNone/>
            </a:pPr>
            <a:r>
              <a:rPr lang="en-US" sz="1050" dirty="0">
                <a:solidFill>
                  <a:srgbClr val="4C555C"/>
                </a:solidFill>
                <a:latin typeface="Calibri" pitchFamily="34" charset="0"/>
                <a:ea typeface="Calibri" pitchFamily="34" charset="-122"/>
                <a:cs typeface="Calibri" pitchFamily="34" charset="-120"/>
              </a:rPr>
              <a:t>PROVOST, F.; FAWCETT, T. Data Science for Business: What You Need to Know about Data Mining and Data-Analytic Thinking. O'Reilly Media, 2013.</a:t>
            </a:r>
            <a:endParaRPr lang="en-US" sz="1050" dirty="0"/>
          </a:p>
        </p:txBody>
      </p:sp>
      <p:sp>
        <p:nvSpPr>
          <p:cNvPr id="16" name="Text 14"/>
          <p:cNvSpPr/>
          <p:nvPr/>
        </p:nvSpPr>
        <p:spPr>
          <a:xfrm>
            <a:off x="566928" y="5760720"/>
            <a:ext cx="7589520" cy="512064"/>
          </a:xfrm>
          <a:prstGeom prst="rect">
            <a:avLst/>
          </a:prstGeom>
          <a:noFill/>
          <a:ln/>
        </p:spPr>
        <p:txBody>
          <a:bodyPr wrap="square" lIns="0" tIns="0" rIns="0" bIns="0" rtlCol="0" anchor="t"/>
          <a:lstStyle/>
          <a:p>
            <a:pPr marL="0" indent="0">
              <a:lnSpc>
                <a:spcPct val="105000"/>
              </a:lnSpc>
              <a:buNone/>
            </a:pPr>
            <a:r>
              <a:rPr lang="en-US" sz="1000" i="1" dirty="0">
                <a:solidFill>
                  <a:srgbClr val="6F7880"/>
                </a:solidFill>
                <a:latin typeface="Calibri" pitchFamily="34" charset="0"/>
                <a:ea typeface="Calibri" pitchFamily="34" charset="-122"/>
                <a:cs typeface="Calibri" pitchFamily="34" charset="-120"/>
              </a:rPr>
              <a:t>Levantamentos citados na aula: Forbes (2017), sobre a proporção de dados gerados nos dois anos anteriores, e DOMO (2021), sobre alcance da internet e volume global de dados. Esta apresentação reorganiza e amplia o conteúdo da aula de referência para uso didático em PSP8; quadros-síntese, tabelas comparativas e observações metodológicas foram elaborados pelo professor.</a:t>
            </a:r>
            <a:endParaRPr lang="en-US" sz="1000" dirty="0"/>
          </a:p>
        </p:txBody>
      </p:sp>
      <p:sp>
        <p:nvSpPr>
          <p:cNvPr id="17" name="Shape 15"/>
          <p:cNvSpPr/>
          <p:nvPr/>
        </p:nvSpPr>
        <p:spPr>
          <a:xfrm>
            <a:off x="8595360" y="1481328"/>
            <a:ext cx="3026664" cy="3383280"/>
          </a:xfrm>
          <a:prstGeom prst="roundRect">
            <a:avLst>
              <a:gd name="adj" fmla="val 1813"/>
            </a:avLst>
          </a:prstGeom>
          <a:solidFill>
            <a:srgbClr val="23272A"/>
          </a:solidFill>
          <a:ln w="12700">
            <a:solidFill>
              <a:srgbClr val="23272A"/>
            </a:solidFill>
            <a:prstDash val="solid"/>
          </a:ln>
        </p:spPr>
        <p:txBody>
          <a:bodyPr/>
          <a:lstStyle/>
          <a:p>
            <a:endParaRPr lang="pt-BR"/>
          </a:p>
        </p:txBody>
      </p:sp>
      <p:sp>
        <p:nvSpPr>
          <p:cNvPr id="18" name="Text 16"/>
          <p:cNvSpPr/>
          <p:nvPr/>
        </p:nvSpPr>
        <p:spPr>
          <a:xfrm>
            <a:off x="8796528" y="1664208"/>
            <a:ext cx="2624328" cy="274320"/>
          </a:xfrm>
          <a:prstGeom prst="rect">
            <a:avLst/>
          </a:prstGeom>
          <a:noFill/>
          <a:ln/>
        </p:spPr>
        <p:txBody>
          <a:bodyPr wrap="square" lIns="0" tIns="0" rIns="0" bIns="0" rtlCol="0" anchor="ctr"/>
          <a:lstStyle/>
          <a:p>
            <a:pPr marL="0" indent="0">
              <a:buNone/>
            </a:pPr>
            <a:r>
              <a:rPr lang="en-US" sz="1000" b="1" kern="0" spc="150" dirty="0">
                <a:solidFill>
                  <a:srgbClr val="8A7B66"/>
                </a:solidFill>
                <a:latin typeface="Calibri" pitchFamily="34" charset="0"/>
                <a:ea typeface="Calibri" pitchFamily="34" charset="-122"/>
                <a:cs typeface="Calibri" pitchFamily="34" charset="-120"/>
              </a:rPr>
              <a:t>Elaboração e revisão técnica</a:t>
            </a:r>
            <a:endParaRPr lang="en-US" sz="1000" dirty="0"/>
          </a:p>
        </p:txBody>
      </p:sp>
      <p:sp>
        <p:nvSpPr>
          <p:cNvPr id="19" name="Text 17"/>
          <p:cNvSpPr/>
          <p:nvPr/>
        </p:nvSpPr>
        <p:spPr>
          <a:xfrm>
            <a:off x="8796528" y="1975104"/>
            <a:ext cx="2624328" cy="822960"/>
          </a:xfrm>
          <a:prstGeom prst="rect">
            <a:avLst/>
          </a:prstGeom>
          <a:noFill/>
          <a:ln/>
        </p:spPr>
        <p:txBody>
          <a:bodyPr wrap="square" lIns="0" tIns="0" rIns="0" bIns="0" rtlCol="0" anchor="t"/>
          <a:lstStyle/>
          <a:p>
            <a:pPr marL="0" indent="0">
              <a:lnSpc>
                <a:spcPct val="105000"/>
              </a:lnSpc>
              <a:buNone/>
            </a:pPr>
            <a:r>
              <a:rPr lang="en-US" sz="2000" b="1" dirty="0">
                <a:solidFill>
                  <a:srgbClr val="FFFFFF"/>
                </a:solidFill>
                <a:latin typeface="Cambria" pitchFamily="34" charset="0"/>
                <a:ea typeface="Cambria" pitchFamily="34" charset="-122"/>
                <a:cs typeface="Cambria" pitchFamily="34" charset="-120"/>
              </a:rPr>
              <a:t>Prof. Dr.</a:t>
            </a:r>
            <a:endParaRPr lang="en-US" sz="2000" dirty="0"/>
          </a:p>
          <a:p>
            <a:pPr marL="0" indent="0">
              <a:lnSpc>
                <a:spcPct val="105000"/>
              </a:lnSpc>
              <a:buNone/>
            </a:pPr>
            <a:r>
              <a:rPr lang="en-US" sz="2000" b="1" dirty="0">
                <a:solidFill>
                  <a:srgbClr val="FFFFFF"/>
                </a:solidFill>
                <a:latin typeface="Cambria" pitchFamily="34" charset="0"/>
                <a:ea typeface="Cambria" pitchFamily="34" charset="-122"/>
                <a:cs typeface="Cambria" pitchFamily="34" charset="-120"/>
              </a:rPr>
              <a:t>André Serrano</a:t>
            </a:r>
            <a:endParaRPr lang="en-US" sz="2000" dirty="0"/>
          </a:p>
        </p:txBody>
      </p:sp>
      <p:sp>
        <p:nvSpPr>
          <p:cNvPr id="20" name="Text 18"/>
          <p:cNvSpPr/>
          <p:nvPr/>
        </p:nvSpPr>
        <p:spPr>
          <a:xfrm>
            <a:off x="8796528" y="2889504"/>
            <a:ext cx="2624328" cy="914400"/>
          </a:xfrm>
          <a:prstGeom prst="rect">
            <a:avLst/>
          </a:prstGeom>
          <a:noFill/>
          <a:ln/>
        </p:spPr>
        <p:txBody>
          <a:bodyPr wrap="square" lIns="0" tIns="0" rIns="0" bIns="0" rtlCol="0" anchor="t"/>
          <a:lstStyle/>
          <a:p>
            <a:pPr marL="0" indent="0">
              <a:lnSpc>
                <a:spcPct val="108000"/>
              </a:lnSpc>
              <a:buNone/>
            </a:pPr>
            <a:r>
              <a:rPr lang="en-US" sz="1150" dirty="0">
                <a:solidFill>
                  <a:srgbClr val="B4B9BD"/>
                </a:solidFill>
                <a:latin typeface="Calibri" pitchFamily="34" charset="0"/>
                <a:ea typeface="Calibri" pitchFamily="34" charset="-122"/>
                <a:cs typeface="Calibri" pitchFamily="34" charset="-120"/>
              </a:rPr>
              <a:t>Departamento de Engenharia de Produção</a:t>
            </a:r>
            <a:endParaRPr lang="en-US" sz="1150" dirty="0"/>
          </a:p>
          <a:p>
            <a:pPr marL="0" indent="0">
              <a:lnSpc>
                <a:spcPct val="108000"/>
              </a:lnSpc>
              <a:buNone/>
            </a:pPr>
            <a:r>
              <a:rPr lang="en-US" sz="1150" dirty="0">
                <a:solidFill>
                  <a:srgbClr val="B4B9BD"/>
                </a:solidFill>
                <a:latin typeface="Calibri" pitchFamily="34" charset="0"/>
                <a:ea typeface="Calibri" pitchFamily="34" charset="-122"/>
                <a:cs typeface="Calibri" pitchFamily="34" charset="-120"/>
              </a:rPr>
              <a:t>Faculdade de Tecnologia</a:t>
            </a:r>
            <a:endParaRPr lang="en-US" sz="1150" dirty="0"/>
          </a:p>
          <a:p>
            <a:pPr marL="0" indent="0">
              <a:lnSpc>
                <a:spcPct val="108000"/>
              </a:lnSpc>
              <a:buNone/>
            </a:pPr>
            <a:r>
              <a:rPr lang="en-US" sz="1150" dirty="0">
                <a:solidFill>
                  <a:srgbClr val="B4B9BD"/>
                </a:solidFill>
                <a:latin typeface="Calibri" pitchFamily="34" charset="0"/>
                <a:ea typeface="Calibri" pitchFamily="34" charset="-122"/>
                <a:cs typeface="Calibri" pitchFamily="34" charset="-120"/>
              </a:rPr>
              <a:t>Universidade de Brasília (UnB)</a:t>
            </a:r>
            <a:endParaRPr lang="en-US" sz="1150" dirty="0"/>
          </a:p>
        </p:txBody>
      </p:sp>
      <p:sp>
        <p:nvSpPr>
          <p:cNvPr id="21" name="Text 19"/>
          <p:cNvSpPr/>
          <p:nvPr/>
        </p:nvSpPr>
        <p:spPr>
          <a:xfrm>
            <a:off x="8796528" y="3895344"/>
            <a:ext cx="2624328" cy="822960"/>
          </a:xfrm>
          <a:prstGeom prst="rect">
            <a:avLst/>
          </a:prstGeom>
          <a:noFill/>
          <a:ln/>
        </p:spPr>
        <p:txBody>
          <a:bodyPr wrap="square" lIns="0" tIns="0" rIns="0" bIns="0" rtlCol="0" anchor="t"/>
          <a:lstStyle/>
          <a:p>
            <a:pPr marL="0" indent="0">
              <a:lnSpc>
                <a:spcPct val="106000"/>
              </a:lnSpc>
              <a:buNone/>
            </a:pPr>
            <a:r>
              <a:rPr lang="en-US" sz="1000" dirty="0">
                <a:solidFill>
                  <a:srgbClr val="8B9297"/>
                </a:solidFill>
                <a:latin typeface="Calibri" pitchFamily="34" charset="0"/>
                <a:ea typeface="Calibri" pitchFamily="34" charset="-122"/>
                <a:cs typeface="Calibri" pitchFamily="34" charset="-120"/>
              </a:rPr>
              <a:t>Aula de PSP8 · Módulo 1 da trilha de Ciência de Dados · Material didático preparado a partir da aula de referência, com acréscimo de quadros-síntese, tabelas comparativas e notas de aula.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8654</TotalTime>
  <Words>9215</Words>
  <Application>Microsoft Office PowerPoint</Application>
  <PresentationFormat>Widescreen</PresentationFormat>
  <Paragraphs>667</Paragraphs>
  <Slides>35</Slides>
  <Notes>35</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35</vt:i4>
      </vt:variant>
    </vt:vector>
  </HeadingPairs>
  <TitlesOfParts>
    <vt:vector size="39" baseType="lpstr">
      <vt:lpstr>Arial</vt:lpstr>
      <vt:lpstr>Calibri</vt:lpstr>
      <vt:lpstr>Cambria</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Ciência de Dados — PSP8 — Módulo 1: Introdução e aplicações de ciência de dados</dc:title>
  <dc:subject>PptxGenJS Presentation</dc:subject>
  <dc:creator>Prof. Dr. André Serrano</dc:creator>
  <cp:lastModifiedBy>andre serrano</cp:lastModifiedBy>
  <cp:revision>12</cp:revision>
  <dcterms:created xsi:type="dcterms:W3CDTF">2026-08-21T13:27:49Z</dcterms:created>
  <dcterms:modified xsi:type="dcterms:W3CDTF">2026-09-08T21:10:59Z</dcterms:modified>
</cp:coreProperties>
</file>